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44"/>
  </p:notesMasterIdLst>
  <p:handoutMasterIdLst>
    <p:handoutMasterId r:id="rId45"/>
  </p:handoutMasterIdLst>
  <p:sldIdLst>
    <p:sldId id="256" r:id="rId2"/>
    <p:sldId id="272" r:id="rId3"/>
    <p:sldId id="360" r:id="rId4"/>
    <p:sldId id="259" r:id="rId5"/>
    <p:sldId id="332" r:id="rId6"/>
    <p:sldId id="335" r:id="rId7"/>
    <p:sldId id="354" r:id="rId8"/>
    <p:sldId id="353" r:id="rId9"/>
    <p:sldId id="380" r:id="rId10"/>
    <p:sldId id="348" r:id="rId11"/>
    <p:sldId id="378" r:id="rId12"/>
    <p:sldId id="260" r:id="rId13"/>
    <p:sldId id="261" r:id="rId14"/>
    <p:sldId id="381" r:id="rId15"/>
    <p:sldId id="262" r:id="rId16"/>
    <p:sldId id="257" r:id="rId17"/>
    <p:sldId id="379" r:id="rId18"/>
    <p:sldId id="337" r:id="rId19"/>
    <p:sldId id="339" r:id="rId20"/>
    <p:sldId id="362" r:id="rId21"/>
    <p:sldId id="338" r:id="rId22"/>
    <p:sldId id="357" r:id="rId23"/>
    <p:sldId id="363" r:id="rId24"/>
    <p:sldId id="361" r:id="rId25"/>
    <p:sldId id="358" r:id="rId26"/>
    <p:sldId id="364" r:id="rId27"/>
    <p:sldId id="370" r:id="rId28"/>
    <p:sldId id="343" r:id="rId29"/>
    <p:sldId id="372" r:id="rId30"/>
    <p:sldId id="341" r:id="rId31"/>
    <p:sldId id="344" r:id="rId32"/>
    <p:sldId id="365" r:id="rId33"/>
    <p:sldId id="369" r:id="rId34"/>
    <p:sldId id="366" r:id="rId35"/>
    <p:sldId id="340" r:id="rId36"/>
    <p:sldId id="345" r:id="rId37"/>
    <p:sldId id="367" r:id="rId38"/>
    <p:sldId id="373" r:id="rId39"/>
    <p:sldId id="375" r:id="rId40"/>
    <p:sldId id="376" r:id="rId41"/>
    <p:sldId id="377" r:id="rId42"/>
    <p:sldId id="258" r:id="rId4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FF"/>
    <a:srgbClr val="DD756D"/>
    <a:srgbClr val="F7A528"/>
    <a:srgbClr val="474C55"/>
    <a:srgbClr val="669A91"/>
    <a:srgbClr val="9171A7"/>
    <a:srgbClr val="CCCC00"/>
    <a:srgbClr val="B07750"/>
    <a:srgbClr val="AC545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65" autoAdjust="0"/>
    <p:restoredTop sz="86389" autoAdjust="0"/>
  </p:normalViewPr>
  <p:slideViewPr>
    <p:cSldViewPr snapToGrid="0">
      <p:cViewPr varScale="1">
        <p:scale>
          <a:sx n="111" d="100"/>
          <a:sy n="111" d="100"/>
        </p:scale>
        <p:origin x="1626" y="96"/>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548"/>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1956" y="1242"/>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2/13/2026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2/13/2026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6" name="Google Shape;216;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38</a:t>
            </a:fld>
            <a:endParaRPr lang="en-US" dirty="0"/>
          </a:p>
        </p:txBody>
      </p:sp>
    </p:spTree>
    <p:extLst>
      <p:ext uri="{BB962C8B-B14F-4D97-AF65-F5344CB8AC3E}">
        <p14:creationId xmlns:p14="http://schemas.microsoft.com/office/powerpoint/2010/main" val="12273271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www.hackerrank.com/"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hyperlink" Target="https://codesignal.com/" TargetMode="External"/><Relationship Id="rId5" Type="http://schemas.openxmlformats.org/officeDocument/2006/relationships/hyperlink" Target="https://leetcode.com/" TargetMode="External"/><Relationship Id="rId4" Type="http://schemas.openxmlformats.org/officeDocument/2006/relationships/hyperlink" Target="https://www.codingame.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6177" y="320634"/>
            <a:ext cx="6807148" cy="2543545"/>
          </a:xfrm>
        </p:spPr>
        <p:txBody>
          <a:bodyPr anchor="b">
            <a:normAutofit/>
          </a:bodyPr>
          <a:lstStyle/>
          <a:p>
            <a:r>
              <a:rPr lang="en-US" dirty="0"/>
              <a:t>Algorithms</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30844B-022F-4A6C-98D3-B1ADB4EB4720}"/>
              </a:ext>
            </a:extLst>
          </p:cNvPr>
          <p:cNvSpPr>
            <a:spLocks noGrp="1"/>
          </p:cNvSpPr>
          <p:nvPr>
            <p:ph type="sldNum" sz="quarter" idx="12"/>
          </p:nvPr>
        </p:nvSpPr>
        <p:spPr/>
        <p:txBody>
          <a:bodyPr/>
          <a:lstStyle/>
          <a:p>
            <a:fld id="{F6728BC2-ACA3-447C-A909-F3F49211C066}" type="slidenum">
              <a:rPr lang="en-US" smtClean="0"/>
              <a:pPr/>
              <a:t>1</a:t>
            </a:fld>
            <a:endParaRPr lang="en-US" dirty="0"/>
          </a:p>
        </p:txBody>
      </p:sp>
      <p:sp>
        <p:nvSpPr>
          <p:cNvPr id="2" name="Title 1">
            <a:extLst>
              <a:ext uri="{FF2B5EF4-FFF2-40B4-BE49-F238E27FC236}">
                <a16:creationId xmlns:a16="http://schemas.microsoft.com/office/drawing/2014/main" id="{66F89E73-F57F-4A64-A80A-ABFA871628BB}"/>
              </a:ext>
            </a:extLst>
          </p:cNvPr>
          <p:cNvSpPr>
            <a:spLocks noGrp="1"/>
          </p:cNvSpPr>
          <p:nvPr>
            <p:ph type="title"/>
          </p:nvPr>
        </p:nvSpPr>
        <p:spPr/>
        <p:txBody>
          <a:bodyPr/>
          <a:lstStyle/>
          <a:p>
            <a:r>
              <a:rPr lang="en-US" dirty="0"/>
              <a:t>Key Topics</a:t>
            </a:r>
          </a:p>
        </p:txBody>
      </p:sp>
      <p:sp>
        <p:nvSpPr>
          <p:cNvPr id="3" name="Content Placeholder 2">
            <a:extLst>
              <a:ext uri="{FF2B5EF4-FFF2-40B4-BE49-F238E27FC236}">
                <a16:creationId xmlns:a16="http://schemas.microsoft.com/office/drawing/2014/main" id="{B1111439-1650-4608-A6FB-4D8060B860C4}"/>
              </a:ext>
            </a:extLst>
          </p:cNvPr>
          <p:cNvSpPr>
            <a:spLocks noGrp="1"/>
          </p:cNvSpPr>
          <p:nvPr>
            <p:ph idx="1"/>
          </p:nvPr>
        </p:nvSpPr>
        <p:spPr/>
        <p:txBody>
          <a:bodyPr>
            <a:normAutofit/>
          </a:bodyPr>
          <a:lstStyle/>
          <a:p>
            <a:pPr marL="0" indent="0">
              <a:buNone/>
            </a:pPr>
            <a:r>
              <a:rPr lang="en-US" sz="4000" dirty="0"/>
              <a:t>Common Algorithms</a:t>
            </a:r>
          </a:p>
          <a:p>
            <a:pPr marL="914400" lvl="1" indent="-514350">
              <a:buFont typeface="+mj-lt"/>
              <a:buAutoNum type="arabicPeriod"/>
            </a:pPr>
            <a:r>
              <a:rPr lang="en-US" sz="3600" dirty="0"/>
              <a:t>Intro to Algorithms</a:t>
            </a:r>
          </a:p>
          <a:p>
            <a:pPr marL="914400" lvl="1" indent="-514350">
              <a:buFont typeface="+mj-lt"/>
              <a:buAutoNum type="arabicPeriod"/>
            </a:pPr>
            <a:r>
              <a:rPr lang="en-US" sz="3600" dirty="0"/>
              <a:t>Big-O notation</a:t>
            </a:r>
          </a:p>
          <a:p>
            <a:pPr marL="914400" lvl="1" indent="-514350">
              <a:buFont typeface="+mj-lt"/>
              <a:buAutoNum type="arabicPeriod"/>
            </a:pPr>
            <a:r>
              <a:rPr lang="en-US" sz="3600" dirty="0"/>
              <a:t>Searching</a:t>
            </a:r>
          </a:p>
          <a:p>
            <a:pPr marL="914400" lvl="1" indent="-514350">
              <a:buFont typeface="+mj-lt"/>
              <a:buAutoNum type="arabicPeriod"/>
            </a:pPr>
            <a:r>
              <a:rPr lang="en-US" sz="3600" dirty="0"/>
              <a:t>Iterative Sorting</a:t>
            </a:r>
          </a:p>
          <a:p>
            <a:pPr marL="914400" lvl="1" indent="-514350">
              <a:buFont typeface="+mj-lt"/>
              <a:buAutoNum type="arabicPeriod"/>
            </a:pPr>
            <a:r>
              <a:rPr lang="en-US" sz="3600" dirty="0"/>
              <a:t>Recursive Sorting</a:t>
            </a:r>
          </a:p>
          <a:p>
            <a:pPr marL="914400" lvl="1" indent="-514350">
              <a:buFont typeface="+mj-lt"/>
              <a:buAutoNum type="arabicPeriod"/>
            </a:pPr>
            <a:r>
              <a:rPr lang="en-US" sz="3600" dirty="0"/>
              <a:t>Other</a:t>
            </a:r>
          </a:p>
        </p:txBody>
      </p:sp>
    </p:spTree>
    <p:extLst>
      <p:ext uri="{BB962C8B-B14F-4D97-AF65-F5344CB8AC3E}">
        <p14:creationId xmlns:p14="http://schemas.microsoft.com/office/powerpoint/2010/main" val="2819891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024A2A-F7B6-4638-BF65-EA4E49002D3D}"/>
              </a:ext>
            </a:extLst>
          </p:cNvPr>
          <p:cNvSpPr>
            <a:spLocks noGrp="1"/>
          </p:cNvSpPr>
          <p:nvPr>
            <p:ph type="sldNum" sz="quarter" idx="12"/>
          </p:nvPr>
        </p:nvSpPr>
        <p:spPr/>
        <p:txBody>
          <a:bodyPr/>
          <a:lstStyle/>
          <a:p>
            <a:fld id="{F6728BC2-ACA3-447C-A909-F3F49211C066}" type="slidenum">
              <a:rPr lang="en-US" smtClean="0"/>
              <a:pPr/>
              <a:t>2</a:t>
            </a:fld>
            <a:endParaRPr lang="en-US" dirty="0"/>
          </a:p>
        </p:txBody>
      </p:sp>
      <p:sp>
        <p:nvSpPr>
          <p:cNvPr id="8" name="Content Placeholder 7">
            <a:extLst>
              <a:ext uri="{FF2B5EF4-FFF2-40B4-BE49-F238E27FC236}">
                <a16:creationId xmlns:a16="http://schemas.microsoft.com/office/drawing/2014/main" id="{17F952FD-B524-449D-BCA9-02674D0411D5}"/>
              </a:ext>
            </a:extLst>
          </p:cNvPr>
          <p:cNvSpPr>
            <a:spLocks noGrp="1"/>
          </p:cNvSpPr>
          <p:nvPr>
            <p:ph sz="quarter" idx="13"/>
          </p:nvPr>
        </p:nvSpPr>
        <p:spPr>
          <a:xfrm>
            <a:off x="157928" y="1795244"/>
            <a:ext cx="8826500" cy="3925564"/>
          </a:xfrm>
        </p:spPr>
        <p:txBody>
          <a:bodyPr>
            <a:normAutofit/>
          </a:bodyPr>
          <a:lstStyle/>
          <a:p>
            <a:pPr algn="ctr"/>
            <a:r>
              <a:rPr lang="en-US" sz="8800" dirty="0"/>
              <a:t>Intro to Algorithms</a:t>
            </a:r>
          </a:p>
        </p:txBody>
      </p:sp>
    </p:spTree>
    <p:extLst>
      <p:ext uri="{BB962C8B-B14F-4D97-AF65-F5344CB8AC3E}">
        <p14:creationId xmlns:p14="http://schemas.microsoft.com/office/powerpoint/2010/main" val="36648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1E2548-0A26-4CD3-8393-ECBD329C9378}"/>
              </a:ext>
            </a:extLst>
          </p:cNvPr>
          <p:cNvSpPr>
            <a:spLocks noGrp="1"/>
          </p:cNvSpPr>
          <p:nvPr>
            <p:ph type="title"/>
          </p:nvPr>
        </p:nvSpPr>
        <p:spPr/>
        <p:txBody>
          <a:bodyPr/>
          <a:lstStyle/>
          <a:p>
            <a:r>
              <a:rPr lang="en-US" dirty="0"/>
              <a:t>What are Algorithms?</a:t>
            </a:r>
          </a:p>
        </p:txBody>
      </p:sp>
      <p:sp>
        <p:nvSpPr>
          <p:cNvPr id="5" name="Content Placeholder 4">
            <a:extLst>
              <a:ext uri="{FF2B5EF4-FFF2-40B4-BE49-F238E27FC236}">
                <a16:creationId xmlns:a16="http://schemas.microsoft.com/office/drawing/2014/main" id="{C8CF448C-CF17-4061-BD7E-1884528D63F5}"/>
              </a:ext>
            </a:extLst>
          </p:cNvPr>
          <p:cNvSpPr>
            <a:spLocks noGrp="1"/>
          </p:cNvSpPr>
          <p:nvPr>
            <p:ph idx="1"/>
          </p:nvPr>
        </p:nvSpPr>
        <p:spPr>
          <a:xfrm>
            <a:off x="380010" y="1506613"/>
            <a:ext cx="8383980" cy="4525963"/>
          </a:xfrm>
        </p:spPr>
        <p:txBody>
          <a:bodyPr>
            <a:normAutofit fontScale="92500" lnSpcReduction="20000"/>
          </a:bodyPr>
          <a:lstStyle/>
          <a:p>
            <a:r>
              <a:rPr lang="en-US" dirty="0"/>
              <a:t>Any series of steps taken to solve a problem is an algorithm.</a:t>
            </a:r>
          </a:p>
          <a:p>
            <a:r>
              <a:rPr lang="en-US" dirty="0"/>
              <a:t>Some problems occur a </a:t>
            </a:r>
            <a:r>
              <a:rPr lang="en-US" i="1" dirty="0"/>
              <a:t>lot</a:t>
            </a:r>
            <a:r>
              <a:rPr lang="en-US" dirty="0"/>
              <a:t> in programming: sorting sets of data, searching datasets for specific values, finding relationships between data, etc.</a:t>
            </a:r>
          </a:p>
          <a:p>
            <a:r>
              <a:rPr lang="en-US" dirty="0"/>
              <a:t>Solving a problem requires balancing resources available</a:t>
            </a:r>
          </a:p>
          <a:p>
            <a:pPr lvl="1"/>
            <a:r>
              <a:rPr lang="en-US" dirty="0"/>
              <a:t>Memory space</a:t>
            </a:r>
          </a:p>
          <a:p>
            <a:pPr lvl="1"/>
            <a:r>
              <a:rPr lang="en-US" dirty="0"/>
              <a:t>Execution time</a:t>
            </a:r>
          </a:p>
          <a:p>
            <a:r>
              <a:rPr lang="en-US" dirty="0"/>
              <a:t>Algorithms are typically generic steps independent of the data provided. Sort(x), it doesn’t matter if x is numbers or people.</a:t>
            </a:r>
          </a:p>
        </p:txBody>
      </p:sp>
    </p:spTree>
    <p:extLst>
      <p:ext uri="{BB962C8B-B14F-4D97-AF65-F5344CB8AC3E}">
        <p14:creationId xmlns:p14="http://schemas.microsoft.com/office/powerpoint/2010/main" val="3011034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Creating Algorithm</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a:xfrm>
            <a:off x="380010" y="1481446"/>
            <a:ext cx="8383980" cy="4882266"/>
          </a:xfrm>
        </p:spPr>
        <p:txBody>
          <a:bodyPr>
            <a:normAutofit fontScale="92500"/>
          </a:bodyPr>
          <a:lstStyle/>
          <a:p>
            <a:r>
              <a:rPr lang="en-US" dirty="0"/>
              <a:t>‘Algorithm’ is often a buzzword, but its just a step-by-step approach to solving a problem.</a:t>
            </a:r>
          </a:p>
          <a:p>
            <a:pPr lvl="1"/>
            <a:r>
              <a:rPr lang="en-US" dirty="0"/>
              <a:t>Following directions to bake a cake</a:t>
            </a:r>
          </a:p>
          <a:p>
            <a:pPr lvl="1"/>
            <a:r>
              <a:rPr lang="en-US" dirty="0"/>
              <a:t>Giving directions to get to your house</a:t>
            </a:r>
          </a:p>
          <a:p>
            <a:r>
              <a:rPr lang="en-US" dirty="0"/>
              <a:t>If you have an array of numbers, and you want to sort them from lowest to highest. How do you do it?</a:t>
            </a:r>
          </a:p>
          <a:p>
            <a:r>
              <a:rPr lang="en-US" dirty="0"/>
              <a:t>There is no programming tricks here:</a:t>
            </a:r>
          </a:p>
          <a:p>
            <a:pPr lvl="1"/>
            <a:r>
              <a:rPr lang="en-US" dirty="0"/>
              <a:t>Break the problem down</a:t>
            </a:r>
          </a:p>
          <a:p>
            <a:pPr lvl="2"/>
            <a:r>
              <a:rPr lang="en-US" dirty="0"/>
              <a:t>Talk it out, like you're explaining it to a child.</a:t>
            </a:r>
          </a:p>
          <a:p>
            <a:pPr lvl="1"/>
            <a:r>
              <a:rPr lang="en-US" dirty="0"/>
              <a:t>Use </a:t>
            </a:r>
            <a:r>
              <a:rPr lang="en-US" dirty="0" err="1"/>
              <a:t>Psuedocode</a:t>
            </a:r>
            <a:endParaRPr lang="en-US" dirty="0"/>
          </a:p>
          <a:p>
            <a:pPr lvl="1"/>
            <a:r>
              <a:rPr lang="en-US" dirty="0"/>
              <a:t>Practice!</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4</a:t>
            </a:fld>
            <a:endParaRPr lang="en-US" dirty="0"/>
          </a:p>
        </p:txBody>
      </p:sp>
    </p:spTree>
    <p:extLst>
      <p:ext uri="{BB962C8B-B14F-4D97-AF65-F5344CB8AC3E}">
        <p14:creationId xmlns:p14="http://schemas.microsoft.com/office/powerpoint/2010/main" val="3016596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Pseudocode</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fontScale="92500" lnSpcReduction="10000"/>
          </a:bodyPr>
          <a:lstStyle/>
          <a:p>
            <a:r>
              <a:rPr lang="en-US" dirty="0"/>
              <a:t>Planning and organization are key to creating efficient algorithms. To plan the logic for an algorithm, </a:t>
            </a:r>
            <a:r>
              <a:rPr lang="en-US" b="1" i="1" u="sng" dirty="0">
                <a:latin typeface="Courier New" panose="02070309020205020404" pitchFamily="49" charset="0"/>
                <a:cs typeface="Courier New" panose="02070309020205020404" pitchFamily="49" charset="0"/>
              </a:rPr>
              <a:t>pseudocode</a:t>
            </a:r>
            <a:r>
              <a:rPr lang="en-US" dirty="0"/>
              <a:t> is often used.</a:t>
            </a:r>
          </a:p>
          <a:p>
            <a:r>
              <a:rPr lang="en-US" dirty="0"/>
              <a:t>Pseudocode is an informal, artificial, text-based, and self-descriptive language that is used to describe the steps of an algorithm prior to the actual implementation. </a:t>
            </a:r>
          </a:p>
          <a:p>
            <a:r>
              <a:rPr lang="en-US" dirty="0"/>
              <a:t>In other words, pseudocode is used to explain the steps of an algorithm without worrying about the specific programmatic syntax/grammar (pseudocode cannot be compiled or executed).</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5</a:t>
            </a:fld>
            <a:endParaRPr lang="en-US" dirty="0"/>
          </a:p>
        </p:txBody>
      </p:sp>
    </p:spTree>
    <p:extLst>
      <p:ext uri="{BB962C8B-B14F-4D97-AF65-F5344CB8AC3E}">
        <p14:creationId xmlns:p14="http://schemas.microsoft.com/office/powerpoint/2010/main" val="1406281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Pseudocode – How to…</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fontScale="92500"/>
          </a:bodyPr>
          <a:lstStyle/>
          <a:p>
            <a:r>
              <a:rPr lang="en-US" dirty="0"/>
              <a:t>Limit one statement per line</a:t>
            </a:r>
          </a:p>
          <a:p>
            <a:r>
              <a:rPr lang="en-US" dirty="0"/>
              <a:t>All statements showing “dependencies”/”hierarchies” are indented (i.e. flow control statements and their associated blocks of code).</a:t>
            </a:r>
          </a:p>
          <a:p>
            <a:r>
              <a:rPr lang="en-US" dirty="0"/>
              <a:t>Statements are language agnostic (refrain from using keywords specific to a particular programming language)</a:t>
            </a:r>
          </a:p>
          <a:p>
            <a:r>
              <a:rPr lang="en-US" dirty="0"/>
              <a:t>Describe with words rather than programmatic symbols</a:t>
            </a:r>
          </a:p>
          <a:p>
            <a:r>
              <a:rPr lang="en-US" dirty="0"/>
              <a:t>Keep it simple, concise and readable.</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Tree>
    <p:extLst>
      <p:ext uri="{BB962C8B-B14F-4D97-AF65-F5344CB8AC3E}">
        <p14:creationId xmlns:p14="http://schemas.microsoft.com/office/powerpoint/2010/main" val="825424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Pseudocode - Examples</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a:xfrm>
            <a:off x="380010" y="1358772"/>
            <a:ext cx="2472247" cy="4525963"/>
          </a:xfrm>
        </p:spPr>
        <p:txBody>
          <a:bodyPr>
            <a:normAutofit/>
          </a:bodyPr>
          <a:lstStyle/>
          <a:p>
            <a:r>
              <a:rPr lang="en-US" dirty="0"/>
              <a:t>Not Bad:</a:t>
            </a:r>
          </a:p>
          <a:p>
            <a:pPr marL="0" indent="0">
              <a:buNone/>
            </a:pPr>
            <a:r>
              <a:rPr lang="en-US" sz="1600" dirty="0"/>
              <a:t>(could be better)</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7</a:t>
            </a:fld>
            <a:endParaRPr lang="en-US" dirty="0"/>
          </a:p>
        </p:txBody>
      </p:sp>
      <p:sp>
        <p:nvSpPr>
          <p:cNvPr id="5" name="Content Placeholder 2">
            <a:extLst>
              <a:ext uri="{FF2B5EF4-FFF2-40B4-BE49-F238E27FC236}">
                <a16:creationId xmlns:a16="http://schemas.microsoft.com/office/drawing/2014/main" id="{16ACE619-4757-4C76-89ED-E3985D1952A4}"/>
              </a:ext>
            </a:extLst>
          </p:cNvPr>
          <p:cNvSpPr txBox="1">
            <a:spLocks/>
          </p:cNvSpPr>
          <p:nvPr/>
        </p:nvSpPr>
        <p:spPr>
          <a:xfrm>
            <a:off x="4389187" y="1358772"/>
            <a:ext cx="4164405"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solidFill>
                  <a:schemeClr val="tx1"/>
                </a:solidFill>
              </a:rPr>
              <a:t>Better:</a:t>
            </a:r>
          </a:p>
          <a:p>
            <a:pPr marL="0" indent="0">
              <a:buNone/>
            </a:pPr>
            <a:r>
              <a:rPr lang="en-US" sz="1600" dirty="0">
                <a:solidFill>
                  <a:schemeClr val="tx1"/>
                </a:solidFill>
              </a:rPr>
              <a:t>(even now could still be improved)</a:t>
            </a:r>
          </a:p>
        </p:txBody>
      </p:sp>
      <p:sp>
        <p:nvSpPr>
          <p:cNvPr id="6" name="Google Shape;219;p16">
            <a:extLst>
              <a:ext uri="{FF2B5EF4-FFF2-40B4-BE49-F238E27FC236}">
                <a16:creationId xmlns:a16="http://schemas.microsoft.com/office/drawing/2014/main" id="{E507B521-794A-4DDC-B621-EA3315DF8A23}"/>
              </a:ext>
            </a:extLst>
          </p:cNvPr>
          <p:cNvSpPr txBox="1">
            <a:spLocks/>
          </p:cNvSpPr>
          <p:nvPr/>
        </p:nvSpPr>
        <p:spPr>
          <a:xfrm>
            <a:off x="130031" y="2281338"/>
            <a:ext cx="3993159" cy="1463089"/>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if </a:t>
            </a:r>
            <a:r>
              <a:rPr lang="en-US" sz="1400" b="1" dirty="0" err="1">
                <a:latin typeface="Courier New" panose="02070309020205020404" pitchFamily="49" charset="0"/>
                <a:cs typeface="Courier New" panose="02070309020205020404" pitchFamily="49" charset="0"/>
              </a:rPr>
              <a:t>arrayNotNull</a:t>
            </a:r>
            <a:r>
              <a:rPr lang="en-US" sz="1400" b="1" dirty="0">
                <a:latin typeface="Courier New" panose="02070309020205020404" pitchFamily="49" charset="0"/>
                <a:cs typeface="Courier New" panose="02070309020205020404" pitchFamily="49" charset="0"/>
              </a:rPr>
              <a:t> = true</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for y = 0 to arrayLength-1</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if (array[index] = odd)</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print </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array[index]</a:t>
            </a:r>
            <a:endParaRPr lang="en-US" sz="1400" dirty="0">
              <a:latin typeface="Courier New" panose="02070309020205020404" pitchFamily="49" charset="0"/>
              <a:cs typeface="Courier New" panose="02070309020205020404" pitchFamily="49" charset="0"/>
            </a:endParaRPr>
          </a:p>
        </p:txBody>
      </p:sp>
      <p:sp>
        <p:nvSpPr>
          <p:cNvPr id="7" name="Google Shape;219;p16">
            <a:extLst>
              <a:ext uri="{FF2B5EF4-FFF2-40B4-BE49-F238E27FC236}">
                <a16:creationId xmlns:a16="http://schemas.microsoft.com/office/drawing/2014/main" id="{DF974887-6FDF-4124-8AA8-BB48DD43FEB1}"/>
              </a:ext>
            </a:extLst>
          </p:cNvPr>
          <p:cNvSpPr txBox="1">
            <a:spLocks/>
          </p:cNvSpPr>
          <p:nvPr/>
        </p:nvSpPr>
        <p:spPr>
          <a:xfrm>
            <a:off x="4383247" y="2281338"/>
            <a:ext cx="4630722" cy="1463089"/>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if array is not null</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for each element of array</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if array index value is odd	</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print</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value of array index</a:t>
            </a:r>
            <a:endParaRPr lang="en-US" sz="1400" dirty="0">
              <a:latin typeface="Courier New" panose="02070309020205020404" pitchFamily="49" charset="0"/>
              <a:cs typeface="Courier New" panose="02070309020205020404" pitchFamily="49" charset="0"/>
            </a:endParaRPr>
          </a:p>
        </p:txBody>
      </p:sp>
      <p:sp>
        <p:nvSpPr>
          <p:cNvPr id="8" name="Google Shape;219;p16">
            <a:extLst>
              <a:ext uri="{FF2B5EF4-FFF2-40B4-BE49-F238E27FC236}">
                <a16:creationId xmlns:a16="http://schemas.microsoft.com/office/drawing/2014/main" id="{781AEE7E-7E82-4502-8E80-592063B67F78}"/>
              </a:ext>
            </a:extLst>
          </p:cNvPr>
          <p:cNvSpPr txBox="1">
            <a:spLocks/>
          </p:cNvSpPr>
          <p:nvPr/>
        </p:nvSpPr>
        <p:spPr>
          <a:xfrm>
            <a:off x="130031" y="4072990"/>
            <a:ext cx="3993159" cy="2460004"/>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None/>
            </a:pPr>
            <a:r>
              <a:rPr lang="en-US" sz="1400" b="1" dirty="0">
                <a:latin typeface="Courier New" panose="02070309020205020404" pitchFamily="49" charset="0"/>
                <a:cs typeface="Courier New" panose="02070309020205020404" pitchFamily="49" charset="0"/>
              </a:rPr>
              <a:t>input double[] scores</a:t>
            </a: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output double average</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int total = 0</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int count = 0</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if </a:t>
            </a:r>
            <a:r>
              <a:rPr lang="en-US" sz="1400" b="1" dirty="0" err="1">
                <a:latin typeface="Courier New" panose="02070309020205020404" pitchFamily="49" charset="0"/>
                <a:cs typeface="Courier New" panose="02070309020205020404" pitchFamily="49" charset="0"/>
              </a:rPr>
              <a:t>scores.length</a:t>
            </a:r>
            <a:r>
              <a:rPr lang="en-US" sz="1400" b="1" dirty="0">
                <a:latin typeface="Courier New" panose="02070309020205020404" pitchFamily="49" charset="0"/>
                <a:cs typeface="Courier New" panose="02070309020205020404" pitchFamily="49" charset="0"/>
              </a:rPr>
              <a:t> &gt; 1</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while count &lt; scores.length-1</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total += scores[index]</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count++;</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return total/count;</a:t>
            </a:r>
          </a:p>
        </p:txBody>
      </p:sp>
      <p:sp>
        <p:nvSpPr>
          <p:cNvPr id="9" name="Google Shape;219;p16">
            <a:extLst>
              <a:ext uri="{FF2B5EF4-FFF2-40B4-BE49-F238E27FC236}">
                <a16:creationId xmlns:a16="http://schemas.microsoft.com/office/drawing/2014/main" id="{4D5F6811-2F5F-456F-B718-CDDB7B4E2A81}"/>
              </a:ext>
            </a:extLst>
          </p:cNvPr>
          <p:cNvSpPr txBox="1">
            <a:spLocks/>
          </p:cNvSpPr>
          <p:nvPr/>
        </p:nvSpPr>
        <p:spPr>
          <a:xfrm>
            <a:off x="4383247" y="4075020"/>
            <a:ext cx="4630723" cy="2460004"/>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None/>
            </a:pPr>
            <a:r>
              <a:rPr lang="en-US" sz="1400" b="1" dirty="0">
                <a:latin typeface="Courier New" panose="02070309020205020404" pitchFamily="49" charset="0"/>
                <a:cs typeface="Courier New" panose="02070309020205020404" pitchFamily="49" charset="0"/>
              </a:rPr>
              <a:t>input: array of scores as doubles</a:t>
            </a: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output: average as double</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initialize total to zero</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initialize count to zero</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if array length greater than 1</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while count is less than array length</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add array index to total</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increment count</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return total divided by count</a:t>
            </a:r>
          </a:p>
        </p:txBody>
      </p:sp>
    </p:spTree>
    <p:extLst>
      <p:ext uri="{BB962C8B-B14F-4D97-AF65-F5344CB8AC3E}">
        <p14:creationId xmlns:p14="http://schemas.microsoft.com/office/powerpoint/2010/main" val="142517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xEl>
                                              <p:pRg st="1" end="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xEl>
                                              <p:pRg st="2" end="2"/>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
                                            <p:txEl>
                                              <p:pRg st="4" end="4"/>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xEl>
                                              <p:pRg st="6" end="6"/>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txEl>
                                              <p:pRg st="7" end="7"/>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uiExpand="1" build="p"/>
      <p:bldP spid="8" grpId="0" uiExpand="1" build="p"/>
      <p:bldP spid="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57F24-6D51-4B39-B11A-16BB4756A104}"/>
              </a:ext>
            </a:extLst>
          </p:cNvPr>
          <p:cNvSpPr>
            <a:spLocks noGrp="1"/>
          </p:cNvSpPr>
          <p:nvPr>
            <p:ph type="title"/>
          </p:nvPr>
        </p:nvSpPr>
        <p:spPr/>
        <p:txBody>
          <a:bodyPr/>
          <a:lstStyle/>
          <a:p>
            <a:r>
              <a:rPr lang="en-US" dirty="0" err="1"/>
              <a:t>Psuedo</a:t>
            </a:r>
            <a:r>
              <a:rPr lang="en-US" dirty="0"/>
              <a:t> Code – Palindrome Algorithm</a:t>
            </a:r>
          </a:p>
        </p:txBody>
      </p:sp>
      <p:sp>
        <p:nvSpPr>
          <p:cNvPr id="3" name="Content Placeholder 2">
            <a:extLst>
              <a:ext uri="{FF2B5EF4-FFF2-40B4-BE49-F238E27FC236}">
                <a16:creationId xmlns:a16="http://schemas.microsoft.com/office/drawing/2014/main" id="{28F31316-2AA0-4B4F-9FAE-DA8F3937647B}"/>
              </a:ext>
            </a:extLst>
          </p:cNvPr>
          <p:cNvSpPr>
            <a:spLocks noGrp="1"/>
          </p:cNvSpPr>
          <p:nvPr>
            <p:ph idx="1"/>
          </p:nvPr>
        </p:nvSpPr>
        <p:spPr>
          <a:xfrm>
            <a:off x="132522" y="1481446"/>
            <a:ext cx="8851906" cy="4525963"/>
          </a:xfrm>
        </p:spPr>
        <p:txBody>
          <a:bodyPr>
            <a:normAutofit lnSpcReduction="10000"/>
          </a:bodyPr>
          <a:lstStyle/>
          <a:p>
            <a:pPr marL="0" indent="0" algn="l">
              <a:buNone/>
            </a:pPr>
            <a:r>
              <a:rPr lang="en-US" b="0" i="0" dirty="0">
                <a:solidFill>
                  <a:srgbClr val="212121"/>
                </a:solidFill>
                <a:effectLst/>
                <a:latin typeface="futura-pt"/>
              </a:rPr>
              <a:t>algorithm palindrome is</a:t>
            </a:r>
            <a:br>
              <a:rPr lang="en-US" b="0" i="0" dirty="0">
                <a:solidFill>
                  <a:srgbClr val="212121"/>
                </a:solidFill>
                <a:effectLst/>
                <a:latin typeface="futura-pt"/>
              </a:rPr>
            </a:br>
            <a:r>
              <a:rPr lang="en-US" b="0" i="0" dirty="0">
                <a:solidFill>
                  <a:srgbClr val="212121"/>
                </a:solidFill>
                <a:effectLst/>
                <a:latin typeface="futura-pt"/>
              </a:rPr>
              <a:t>    input: string phrase</a:t>
            </a:r>
            <a:br>
              <a:rPr lang="en-US" b="0" i="0" dirty="0">
                <a:solidFill>
                  <a:srgbClr val="212121"/>
                </a:solidFill>
                <a:effectLst/>
                <a:latin typeface="futura-pt"/>
              </a:rPr>
            </a:br>
            <a:r>
              <a:rPr lang="en-US" b="0" i="0" dirty="0">
                <a:solidFill>
                  <a:srgbClr val="212121"/>
                </a:solidFill>
                <a:effectLst/>
                <a:latin typeface="futura-pt"/>
              </a:rPr>
              <a:t>    output: true/false result</a:t>
            </a:r>
          </a:p>
          <a:p>
            <a:pPr marL="0" indent="0" algn="l">
              <a:buNone/>
            </a:pPr>
            <a:r>
              <a:rPr lang="en-US" b="0" i="0" dirty="0">
                <a:solidFill>
                  <a:srgbClr val="212121"/>
                </a:solidFill>
                <a:effectLst/>
                <a:latin typeface="futura-pt"/>
              </a:rPr>
              <a:t>    initialize length to length of phrase</a:t>
            </a:r>
            <a:br>
              <a:rPr lang="en-US" b="0" i="0" dirty="0">
                <a:solidFill>
                  <a:srgbClr val="212121"/>
                </a:solidFill>
                <a:effectLst/>
                <a:latin typeface="futura-pt"/>
              </a:rPr>
            </a:br>
            <a:r>
              <a:rPr lang="en-US" b="0" i="0" dirty="0">
                <a:solidFill>
                  <a:srgbClr val="212121"/>
                </a:solidFill>
                <a:effectLst/>
                <a:latin typeface="futura-pt"/>
              </a:rPr>
              <a:t>    initialize c to zero</a:t>
            </a:r>
          </a:p>
          <a:p>
            <a:pPr marL="0" indent="0" algn="l">
              <a:buNone/>
            </a:pPr>
            <a:r>
              <a:rPr lang="en-US" b="0" i="0" dirty="0">
                <a:solidFill>
                  <a:srgbClr val="212121"/>
                </a:solidFill>
                <a:effectLst/>
                <a:latin typeface="futura-pt"/>
              </a:rPr>
              <a:t>    while c </a:t>
            </a:r>
            <a:r>
              <a:rPr lang="en-US" b="0" i="0" dirty="0" err="1">
                <a:solidFill>
                  <a:srgbClr val="212121"/>
                </a:solidFill>
                <a:effectLst/>
                <a:latin typeface="futura-pt"/>
              </a:rPr>
              <a:t>LEqual</a:t>
            </a:r>
            <a:r>
              <a:rPr lang="en-US" b="0" i="0" dirty="0">
                <a:solidFill>
                  <a:srgbClr val="212121"/>
                </a:solidFill>
                <a:effectLst/>
                <a:latin typeface="futura-pt"/>
              </a:rPr>
              <a:t> to length/2</a:t>
            </a:r>
            <a:br>
              <a:rPr lang="en-US" b="0" i="0" dirty="0">
                <a:solidFill>
                  <a:srgbClr val="212121"/>
                </a:solidFill>
                <a:effectLst/>
                <a:latin typeface="futura-pt"/>
              </a:rPr>
            </a:br>
            <a:r>
              <a:rPr lang="en-US" b="0" i="0" dirty="0">
                <a:solidFill>
                  <a:srgbClr val="212121"/>
                </a:solidFill>
                <a:effectLst/>
                <a:latin typeface="futura-pt"/>
              </a:rPr>
              <a:t>	if phrase[c] </a:t>
            </a:r>
            <a:r>
              <a:rPr lang="en-US" b="0" i="0" dirty="0" err="1">
                <a:solidFill>
                  <a:srgbClr val="212121"/>
                </a:solidFill>
                <a:effectLst/>
                <a:latin typeface="futura-pt"/>
              </a:rPr>
              <a:t>Nequal</a:t>
            </a:r>
            <a:r>
              <a:rPr lang="en-US" dirty="0">
                <a:solidFill>
                  <a:srgbClr val="212121"/>
                </a:solidFill>
                <a:latin typeface="futura-pt"/>
              </a:rPr>
              <a:t> phrase[</a:t>
            </a:r>
            <a:r>
              <a:rPr lang="en-US" b="0" i="0" dirty="0">
                <a:solidFill>
                  <a:srgbClr val="212121"/>
                </a:solidFill>
                <a:effectLst/>
                <a:latin typeface="futura-pt"/>
              </a:rPr>
              <a:t>length - 1 – c]</a:t>
            </a:r>
            <a:br>
              <a:rPr lang="en-US" b="0" i="0" dirty="0">
                <a:solidFill>
                  <a:srgbClr val="212121"/>
                </a:solidFill>
                <a:effectLst/>
                <a:latin typeface="futura-pt"/>
              </a:rPr>
            </a:br>
            <a:r>
              <a:rPr lang="en-US" b="0" i="0" dirty="0">
                <a:solidFill>
                  <a:srgbClr val="212121"/>
                </a:solidFill>
                <a:effectLst/>
                <a:latin typeface="futura-pt"/>
              </a:rPr>
              <a:t>		return false</a:t>
            </a:r>
            <a:br>
              <a:rPr lang="en-US" b="0" i="0" dirty="0">
                <a:solidFill>
                  <a:srgbClr val="212121"/>
                </a:solidFill>
                <a:effectLst/>
                <a:latin typeface="futura-pt"/>
              </a:rPr>
            </a:br>
            <a:r>
              <a:rPr lang="en-US" b="0" i="0" dirty="0">
                <a:solidFill>
                  <a:srgbClr val="212121"/>
                </a:solidFill>
                <a:effectLst/>
                <a:latin typeface="futura-pt"/>
              </a:rPr>
              <a:t>	</a:t>
            </a:r>
            <a:r>
              <a:rPr lang="en-US" dirty="0">
                <a:solidFill>
                  <a:srgbClr val="212121"/>
                </a:solidFill>
                <a:latin typeface="futura-pt"/>
              </a:rPr>
              <a:t>increment c</a:t>
            </a:r>
            <a:endParaRPr lang="en-US" b="0" i="0" dirty="0">
              <a:solidFill>
                <a:srgbClr val="212121"/>
              </a:solidFill>
              <a:effectLst/>
              <a:latin typeface="futura-pt"/>
            </a:endParaRPr>
          </a:p>
          <a:p>
            <a:pPr marL="0" indent="0" algn="l">
              <a:buNone/>
            </a:pPr>
            <a:r>
              <a:rPr lang="en-US" b="0" i="0" dirty="0">
                <a:solidFill>
                  <a:srgbClr val="212121"/>
                </a:solidFill>
                <a:effectLst/>
                <a:latin typeface="futura-pt"/>
              </a:rPr>
              <a:t>    return true</a:t>
            </a:r>
          </a:p>
          <a:p>
            <a:pPr marL="0" indent="0">
              <a:buNone/>
            </a:pPr>
            <a:endParaRPr lang="en-US" dirty="0"/>
          </a:p>
        </p:txBody>
      </p:sp>
      <p:sp>
        <p:nvSpPr>
          <p:cNvPr id="4" name="Slide Number Placeholder 3">
            <a:extLst>
              <a:ext uri="{FF2B5EF4-FFF2-40B4-BE49-F238E27FC236}">
                <a16:creationId xmlns:a16="http://schemas.microsoft.com/office/drawing/2014/main" id="{E610486C-B962-4396-8BC6-38EF607FA354}"/>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Tree>
    <p:extLst>
      <p:ext uri="{BB962C8B-B14F-4D97-AF65-F5344CB8AC3E}">
        <p14:creationId xmlns:p14="http://schemas.microsoft.com/office/powerpoint/2010/main" val="1911901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Practice Makes Perfect</a:t>
            </a:r>
            <a:endParaRPr dirty="0"/>
          </a:p>
        </p:txBody>
      </p:sp>
      <p:sp>
        <p:nvSpPr>
          <p:cNvPr id="226" name="Google Shape;226;p17"/>
          <p:cNvSpPr txBox="1">
            <a:spLocks noGrp="1"/>
          </p:cNvSpPr>
          <p:nvPr>
            <p:ph type="body" idx="1"/>
          </p:nvPr>
        </p:nvSpPr>
        <p:spPr>
          <a:xfrm>
            <a:off x="380010" y="1481446"/>
            <a:ext cx="8383980" cy="5053578"/>
          </a:xfrm>
          <a:prstGeom prst="rect">
            <a:avLst/>
          </a:prstGeom>
          <a:noFill/>
          <a:ln>
            <a:noFill/>
          </a:ln>
        </p:spPr>
        <p:txBody>
          <a:bodyPr spcFirstLastPara="1" wrap="square" lIns="91425" tIns="45700" rIns="91425" bIns="45700" anchor="t" anchorCtr="0">
            <a:noAutofit/>
          </a:bodyPr>
          <a:lstStyle/>
          <a:p>
            <a:r>
              <a:rPr lang="en-US" dirty="0"/>
              <a:t>The only real way to get more proficient creating algorithms is to practice and work through different problems.</a:t>
            </a:r>
          </a:p>
          <a:p>
            <a:r>
              <a:rPr lang="en-US" dirty="0"/>
              <a:t>The links below are some popular resources that provide algorithm practice problems.</a:t>
            </a:r>
          </a:p>
          <a:p>
            <a:pPr marL="0" indent="0">
              <a:buNone/>
            </a:pPr>
            <a:endParaRPr lang="en-US" dirty="0"/>
          </a:p>
          <a:p>
            <a:r>
              <a:rPr lang="en-US" dirty="0">
                <a:hlinkClick r:id="rId3"/>
              </a:rPr>
              <a:t>https://www.hackerrank.com/</a:t>
            </a:r>
            <a:endParaRPr lang="en-US" dirty="0"/>
          </a:p>
          <a:p>
            <a:r>
              <a:rPr lang="en-US" dirty="0">
                <a:hlinkClick r:id="rId4"/>
              </a:rPr>
              <a:t>https://www.codingame.com/</a:t>
            </a:r>
            <a:endParaRPr lang="en-US" dirty="0"/>
          </a:p>
          <a:p>
            <a:r>
              <a:rPr lang="en-US" dirty="0">
                <a:hlinkClick r:id="rId5"/>
              </a:rPr>
              <a:t>https://leetcode.com/</a:t>
            </a:r>
            <a:endParaRPr lang="en-US" dirty="0"/>
          </a:p>
          <a:p>
            <a:r>
              <a:rPr lang="en-US" dirty="0">
                <a:hlinkClick r:id="rId6"/>
              </a:rPr>
              <a:t>https://codesignal.com/</a:t>
            </a:r>
            <a:endParaRPr lang="en-US" dirty="0"/>
          </a:p>
          <a:p>
            <a:endParaRPr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E2115-3493-D9D1-0201-82B595B37A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6A93A1-E283-E327-12C7-F44D2C2A2B0C}"/>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
        <p:nvSpPr>
          <p:cNvPr id="8" name="Content Placeholder 7">
            <a:extLst>
              <a:ext uri="{FF2B5EF4-FFF2-40B4-BE49-F238E27FC236}">
                <a16:creationId xmlns:a16="http://schemas.microsoft.com/office/drawing/2014/main" id="{EB56E81E-A80C-502E-18F0-539BEF4B0E27}"/>
              </a:ext>
            </a:extLst>
          </p:cNvPr>
          <p:cNvSpPr>
            <a:spLocks noGrp="1"/>
          </p:cNvSpPr>
          <p:nvPr>
            <p:ph sz="quarter" idx="13"/>
          </p:nvPr>
        </p:nvSpPr>
        <p:spPr>
          <a:xfrm>
            <a:off x="157928" y="1795244"/>
            <a:ext cx="8826500" cy="3925564"/>
          </a:xfrm>
        </p:spPr>
        <p:txBody>
          <a:bodyPr>
            <a:normAutofit/>
          </a:bodyPr>
          <a:lstStyle/>
          <a:p>
            <a:pPr algn="ctr"/>
            <a:r>
              <a:rPr lang="en-US" sz="8800" dirty="0"/>
              <a:t>Big-O Notation</a:t>
            </a:r>
          </a:p>
        </p:txBody>
      </p:sp>
    </p:spTree>
    <p:extLst>
      <p:ext uri="{BB962C8B-B14F-4D97-AF65-F5344CB8AC3E}">
        <p14:creationId xmlns:p14="http://schemas.microsoft.com/office/powerpoint/2010/main" val="89678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F3A10-6D96-43CE-9911-C70556DADC8E}"/>
              </a:ext>
            </a:extLst>
          </p:cNvPr>
          <p:cNvSpPr>
            <a:spLocks noGrp="1"/>
          </p:cNvSpPr>
          <p:nvPr>
            <p:ph type="title"/>
          </p:nvPr>
        </p:nvSpPr>
        <p:spPr/>
        <p:txBody>
          <a:bodyPr/>
          <a:lstStyle/>
          <a:p>
            <a:r>
              <a:rPr lang="en-US" dirty="0"/>
              <a:t>Measuring Algorithms</a:t>
            </a:r>
          </a:p>
        </p:txBody>
      </p:sp>
      <p:sp>
        <p:nvSpPr>
          <p:cNvPr id="3" name="Content Placeholder 2">
            <a:extLst>
              <a:ext uri="{FF2B5EF4-FFF2-40B4-BE49-F238E27FC236}">
                <a16:creationId xmlns:a16="http://schemas.microsoft.com/office/drawing/2014/main" id="{EE916EB1-9BC8-4AB4-B03E-D8538333E05A}"/>
              </a:ext>
            </a:extLst>
          </p:cNvPr>
          <p:cNvSpPr>
            <a:spLocks noGrp="1"/>
          </p:cNvSpPr>
          <p:nvPr>
            <p:ph idx="1"/>
          </p:nvPr>
        </p:nvSpPr>
        <p:spPr>
          <a:xfrm>
            <a:off x="380010" y="1481446"/>
            <a:ext cx="8383980" cy="4882266"/>
          </a:xfrm>
        </p:spPr>
        <p:txBody>
          <a:bodyPr>
            <a:normAutofit fontScale="92500" lnSpcReduction="20000"/>
          </a:bodyPr>
          <a:lstStyle/>
          <a:p>
            <a:r>
              <a:rPr lang="en-US" dirty="0"/>
              <a:t>Algorithms are designed to be independent of the number/type of inputs they are given. </a:t>
            </a:r>
          </a:p>
          <a:p>
            <a:pPr lvl="1"/>
            <a:r>
              <a:rPr lang="en-US" dirty="0"/>
              <a:t>i.e. An algorithm shouldn’t be designed differently to sort 5 objects vs 500.</a:t>
            </a:r>
          </a:p>
          <a:p>
            <a:r>
              <a:rPr lang="en-US" dirty="0"/>
              <a:t>…but we must respect resources used. The same algorithm will likely take longer to sort 500 elements than it would to sort 5.</a:t>
            </a:r>
          </a:p>
          <a:p>
            <a:pPr lvl="1"/>
            <a:r>
              <a:rPr lang="en-US" dirty="0"/>
              <a:t>Note: when we say “take longer” we refer to the number of operations performed, not necessarily the amount of ‘seconds’.</a:t>
            </a:r>
          </a:p>
          <a:p>
            <a:r>
              <a:rPr lang="en-US" dirty="0"/>
              <a:t>Algorithms are measured by the </a:t>
            </a:r>
            <a:r>
              <a:rPr lang="en-US" b="1" u="sng" dirty="0"/>
              <a:t>rate of growth for operations performed and/or memory required as inputs increase</a:t>
            </a:r>
            <a:r>
              <a:rPr lang="en-US" dirty="0"/>
              <a:t>. We refer to this as the </a:t>
            </a:r>
            <a:r>
              <a:rPr lang="en-US" i="1" dirty="0"/>
              <a:t>efficiency </a:t>
            </a:r>
            <a:r>
              <a:rPr lang="en-US" dirty="0"/>
              <a:t>or </a:t>
            </a:r>
            <a:r>
              <a:rPr lang="en-US" i="1" dirty="0"/>
              <a:t>complexity </a:t>
            </a:r>
            <a:r>
              <a:rPr lang="en-US" dirty="0"/>
              <a:t>of an algorithm.</a:t>
            </a:r>
          </a:p>
        </p:txBody>
      </p:sp>
      <p:sp>
        <p:nvSpPr>
          <p:cNvPr id="4" name="Slide Number Placeholder 3">
            <a:extLst>
              <a:ext uri="{FF2B5EF4-FFF2-40B4-BE49-F238E27FC236}">
                <a16:creationId xmlns:a16="http://schemas.microsoft.com/office/drawing/2014/main" id="{F66D5DD2-44AB-4EC0-AC75-89E36FA8D4AC}"/>
              </a:ext>
            </a:extLst>
          </p:cNvPr>
          <p:cNvSpPr>
            <a:spLocks noGrp="1"/>
          </p:cNvSpPr>
          <p:nvPr>
            <p:ph type="sldNum" sz="quarter" idx="12"/>
          </p:nvPr>
        </p:nvSpPr>
        <p:spPr/>
        <p:txBody>
          <a:bodyPr/>
          <a:lstStyle/>
          <a:p>
            <a:fld id="{F6728BC2-ACA3-447C-A909-F3F49211C066}" type="slidenum">
              <a:rPr lang="en-US" smtClean="0"/>
              <a:pPr/>
              <a:t>11</a:t>
            </a:fld>
            <a:endParaRPr lang="en-US" dirty="0"/>
          </a:p>
        </p:txBody>
      </p:sp>
    </p:spTree>
    <p:extLst>
      <p:ext uri="{BB962C8B-B14F-4D97-AF65-F5344CB8AC3E}">
        <p14:creationId xmlns:p14="http://schemas.microsoft.com/office/powerpoint/2010/main" val="353117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6147-6FB0-436A-8911-26905E58654A}"/>
              </a:ext>
            </a:extLst>
          </p:cNvPr>
          <p:cNvSpPr>
            <a:spLocks noGrp="1"/>
          </p:cNvSpPr>
          <p:nvPr>
            <p:ph type="title"/>
          </p:nvPr>
        </p:nvSpPr>
        <p:spPr/>
        <p:txBody>
          <a:bodyPr/>
          <a:lstStyle/>
          <a:p>
            <a:r>
              <a:rPr lang="en-US" dirty="0"/>
              <a:t>Big-O Notation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D154E0A-FD03-4EBB-A8C8-D28DF794A983}"/>
                  </a:ext>
                </a:extLst>
              </p:cNvPr>
              <p:cNvSpPr>
                <a:spLocks noGrp="1"/>
              </p:cNvSpPr>
              <p:nvPr>
                <p:ph idx="1"/>
              </p:nvPr>
            </p:nvSpPr>
            <p:spPr>
              <a:xfrm>
                <a:off x="380010" y="1481446"/>
                <a:ext cx="8383980" cy="4882266"/>
              </a:xfrm>
            </p:spPr>
            <p:txBody>
              <a:bodyPr>
                <a:normAutofit fontScale="92500" lnSpcReduction="10000"/>
              </a:bodyPr>
              <a:lstStyle/>
              <a:p>
                <a:r>
                  <a:rPr lang="en-US" dirty="0"/>
                  <a:t>Big O notation is used to describe the increased resource cost of an algorithm, as inputs approach infinity. This is sometimes called “worst-case” growth.</a:t>
                </a:r>
              </a:p>
              <a:p>
                <a:pPr lvl="1"/>
                <a:r>
                  <a:rPr lang="en-US" dirty="0"/>
                  <a:t>For example, O(n) function grows linearly with n. As n increases, the number of steps required increases a proportionate amount.</a:t>
                </a:r>
              </a:p>
              <a:p>
                <a:pPr lvl="1"/>
                <a:r>
                  <a:rPr lang="en-US" dirty="0"/>
                  <a:t>Alternatively, O</a:t>
                </a:r>
                <a14:m>
                  <m:oMath xmlns:m="http://schemas.openxmlformats.org/officeDocument/2006/math">
                    <m:d>
                      <m:dPr>
                        <m:ctrlPr>
                          <a:rPr lang="en-US" b="0"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b="0" dirty="0"/>
                  <a:t> grows exponentially</a:t>
                </a:r>
                <a:endParaRPr lang="en-US" dirty="0"/>
              </a:p>
              <a:p>
                <a:pPr marL="50800" indent="0">
                  <a:buNone/>
                </a:pPr>
                <a:endParaRPr lang="en-US" dirty="0"/>
              </a:p>
              <a:p>
                <a:r>
                  <a:rPr lang="en-US" dirty="0"/>
                  <a:t>Algorithms are expressed as a function describing how quickly they grow as ‘n’ (inputs) increases.</a:t>
                </a:r>
              </a:p>
              <a:p>
                <a:pPr lvl="1"/>
                <a:r>
                  <a:rPr lang="en-US" dirty="0"/>
                  <a:t>Note: The Big-O of an algorithm doesn’t represent every operation, but rather, the operations that are most impacted by the growing number of inputs.</a:t>
                </a:r>
              </a:p>
            </p:txBody>
          </p:sp>
        </mc:Choice>
        <mc:Fallback>
          <p:sp>
            <p:nvSpPr>
              <p:cNvPr id="3" name="Content Placeholder 2">
                <a:extLst>
                  <a:ext uri="{FF2B5EF4-FFF2-40B4-BE49-F238E27FC236}">
                    <a16:creationId xmlns:a16="http://schemas.microsoft.com/office/drawing/2014/main" id="{6D154E0A-FD03-4EBB-A8C8-D28DF794A983}"/>
                  </a:ext>
                </a:extLst>
              </p:cNvPr>
              <p:cNvSpPr>
                <a:spLocks noGrp="1" noRot="1" noChangeAspect="1" noMove="1" noResize="1" noEditPoints="1" noAdjustHandles="1" noChangeArrowheads="1" noChangeShapeType="1" noTextEdit="1"/>
              </p:cNvSpPr>
              <p:nvPr>
                <p:ph idx="1"/>
              </p:nvPr>
            </p:nvSpPr>
            <p:spPr>
              <a:xfrm>
                <a:off x="380010" y="1481446"/>
                <a:ext cx="8383980" cy="4882266"/>
              </a:xfrm>
              <a:blipFill>
                <a:blip r:embed="rId2"/>
                <a:stretch>
                  <a:fillRect l="-1090" t="-1998" r="-65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2007662-05DE-417E-B2A2-3E132959BD05}"/>
              </a:ext>
            </a:extLst>
          </p:cNvPr>
          <p:cNvSpPr>
            <a:spLocks noGrp="1"/>
          </p:cNvSpPr>
          <p:nvPr>
            <p:ph type="sldNum" sz="quarter" idx="12"/>
          </p:nvPr>
        </p:nvSpPr>
        <p:spPr/>
        <p:txBody>
          <a:bodyPr/>
          <a:lstStyle/>
          <a:p>
            <a:fld id="{F6728BC2-ACA3-447C-A909-F3F49211C066}" type="slidenum">
              <a:rPr lang="en-US" smtClean="0"/>
              <a:pPr/>
              <a:t>12</a:t>
            </a:fld>
            <a:endParaRPr lang="en-US" dirty="0"/>
          </a:p>
        </p:txBody>
      </p:sp>
    </p:spTree>
    <p:extLst>
      <p:ext uri="{BB962C8B-B14F-4D97-AF65-F5344CB8AC3E}">
        <p14:creationId xmlns:p14="http://schemas.microsoft.com/office/powerpoint/2010/main" val="63487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229E4-5B7B-F75F-5B61-AE7AA2D2C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51DEB-3256-1B0E-37BF-DFE7E6C77336}"/>
              </a:ext>
            </a:extLst>
          </p:cNvPr>
          <p:cNvSpPr>
            <a:spLocks noGrp="1"/>
          </p:cNvSpPr>
          <p:nvPr>
            <p:ph type="title"/>
          </p:nvPr>
        </p:nvSpPr>
        <p:spPr/>
        <p:txBody>
          <a:bodyPr/>
          <a:lstStyle/>
          <a:p>
            <a:r>
              <a:rPr lang="en-US" dirty="0"/>
              <a:t>Big-O Notation - Visualized</a:t>
            </a:r>
          </a:p>
        </p:txBody>
      </p:sp>
      <p:sp>
        <p:nvSpPr>
          <p:cNvPr id="4" name="Slide Number Placeholder 3">
            <a:extLst>
              <a:ext uri="{FF2B5EF4-FFF2-40B4-BE49-F238E27FC236}">
                <a16:creationId xmlns:a16="http://schemas.microsoft.com/office/drawing/2014/main" id="{F9694617-69C8-D7D6-CA0C-C86EF56A1FD7}"/>
              </a:ext>
            </a:extLst>
          </p:cNvPr>
          <p:cNvSpPr>
            <a:spLocks noGrp="1"/>
          </p:cNvSpPr>
          <p:nvPr>
            <p:ph type="sldNum" sz="quarter" idx="12"/>
          </p:nvPr>
        </p:nvSpPr>
        <p:spPr/>
        <p:txBody>
          <a:bodyPr/>
          <a:lstStyle/>
          <a:p>
            <a:fld id="{F6728BC2-ACA3-447C-A909-F3F49211C066}" type="slidenum">
              <a:rPr lang="en-US" smtClean="0"/>
              <a:pPr/>
              <a:t>13</a:t>
            </a:fld>
            <a:endParaRPr lang="en-US" dirty="0"/>
          </a:p>
        </p:txBody>
      </p:sp>
      <p:pic>
        <p:nvPicPr>
          <p:cNvPr id="8" name="Content Placeholder 7">
            <a:extLst>
              <a:ext uri="{FF2B5EF4-FFF2-40B4-BE49-F238E27FC236}">
                <a16:creationId xmlns:a16="http://schemas.microsoft.com/office/drawing/2014/main" id="{1D0F052C-87A6-FFF2-79AA-D028BB6AB2A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51230" y="1627787"/>
            <a:ext cx="7241539" cy="4525962"/>
          </a:xfrm>
        </p:spPr>
      </p:pic>
    </p:spTree>
    <p:extLst>
      <p:ext uri="{BB962C8B-B14F-4D97-AF65-F5344CB8AC3E}">
        <p14:creationId xmlns:p14="http://schemas.microsoft.com/office/powerpoint/2010/main" val="1850760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B262-1929-4584-BDE5-5783E51B0D51}"/>
              </a:ext>
            </a:extLst>
          </p:cNvPr>
          <p:cNvSpPr>
            <a:spLocks noGrp="1"/>
          </p:cNvSpPr>
          <p:nvPr>
            <p:ph type="title"/>
          </p:nvPr>
        </p:nvSpPr>
        <p:spPr/>
        <p:txBody>
          <a:bodyPr/>
          <a:lstStyle/>
          <a:p>
            <a:r>
              <a:rPr lang="en-US" dirty="0"/>
              <a:t>Big-O and Math</a:t>
            </a:r>
          </a:p>
        </p:txBody>
      </p:sp>
      <p:sp>
        <p:nvSpPr>
          <p:cNvPr id="3" name="Content Placeholder 2">
            <a:extLst>
              <a:ext uri="{FF2B5EF4-FFF2-40B4-BE49-F238E27FC236}">
                <a16:creationId xmlns:a16="http://schemas.microsoft.com/office/drawing/2014/main" id="{21815E29-947F-4BF0-AA90-1B0CAA939063}"/>
              </a:ext>
            </a:extLst>
          </p:cNvPr>
          <p:cNvSpPr>
            <a:spLocks noGrp="1"/>
          </p:cNvSpPr>
          <p:nvPr>
            <p:ph idx="1"/>
          </p:nvPr>
        </p:nvSpPr>
        <p:spPr/>
        <p:txBody>
          <a:bodyPr>
            <a:normAutofit/>
          </a:bodyPr>
          <a:lstStyle/>
          <a:p>
            <a:r>
              <a:rPr lang="en-US" dirty="0"/>
              <a:t>Big-O can involve a bit of limit calculus and algebra. This is one the </a:t>
            </a:r>
            <a:r>
              <a:rPr lang="en-US" i="1" dirty="0"/>
              <a:t>science</a:t>
            </a:r>
            <a:r>
              <a:rPr lang="en-US" dirty="0"/>
              <a:t> aspects of computer science.</a:t>
            </a:r>
          </a:p>
          <a:p>
            <a:r>
              <a:rPr lang="en-US" dirty="0"/>
              <a:t>In most circumstances, you can avoid the crunchy mathematical details if you understand the rules involved. </a:t>
            </a:r>
          </a:p>
          <a:p>
            <a:r>
              <a:rPr lang="en-US" dirty="0"/>
              <a:t>Deducing the complexity of an algorithm can be done through pattern recognition most of the time.</a:t>
            </a:r>
          </a:p>
        </p:txBody>
      </p:sp>
      <p:sp>
        <p:nvSpPr>
          <p:cNvPr id="4" name="Slide Number Placeholder 3">
            <a:extLst>
              <a:ext uri="{FF2B5EF4-FFF2-40B4-BE49-F238E27FC236}">
                <a16:creationId xmlns:a16="http://schemas.microsoft.com/office/drawing/2014/main" id="{7AF04425-1C2B-4C20-962F-387CE20DF93D}"/>
              </a:ext>
            </a:extLst>
          </p:cNvPr>
          <p:cNvSpPr>
            <a:spLocks noGrp="1"/>
          </p:cNvSpPr>
          <p:nvPr>
            <p:ph type="sldNum" sz="quarter" idx="12"/>
          </p:nvPr>
        </p:nvSpPr>
        <p:spPr/>
        <p:txBody>
          <a:bodyPr/>
          <a:lstStyle/>
          <a:p>
            <a:fld id="{F6728BC2-ACA3-447C-A909-F3F49211C066}" type="slidenum">
              <a:rPr lang="en-US" smtClean="0"/>
              <a:pPr/>
              <a:t>14</a:t>
            </a:fld>
            <a:endParaRPr lang="en-US" dirty="0"/>
          </a:p>
        </p:txBody>
      </p:sp>
    </p:spTree>
    <p:extLst>
      <p:ext uri="{BB962C8B-B14F-4D97-AF65-F5344CB8AC3E}">
        <p14:creationId xmlns:p14="http://schemas.microsoft.com/office/powerpoint/2010/main" val="4112500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FA10-9A0E-4048-B6E6-64F738AF830A}"/>
              </a:ext>
            </a:extLst>
          </p:cNvPr>
          <p:cNvSpPr>
            <a:spLocks noGrp="1"/>
          </p:cNvSpPr>
          <p:nvPr>
            <p:ph type="title"/>
          </p:nvPr>
        </p:nvSpPr>
        <p:spPr/>
        <p:txBody>
          <a:bodyPr/>
          <a:lstStyle/>
          <a:p>
            <a:r>
              <a:rPr lang="en-US" dirty="0"/>
              <a:t>Big-O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299C914-EF41-45C7-AF52-D66AE0E6A46E}"/>
                  </a:ext>
                </a:extLst>
              </p:cNvPr>
              <p:cNvSpPr>
                <a:spLocks noGrp="1"/>
              </p:cNvSpPr>
              <p:nvPr>
                <p:ph idx="1"/>
              </p:nvPr>
            </p:nvSpPr>
            <p:spPr>
              <a:xfrm>
                <a:off x="380010" y="1481446"/>
                <a:ext cx="8383980" cy="4882266"/>
              </a:xfrm>
            </p:spPr>
            <p:txBody>
              <a:bodyPr>
                <a:normAutofit fontScale="62500" lnSpcReduction="20000"/>
              </a:bodyPr>
              <a:lstStyle/>
              <a:p>
                <a:r>
                  <a:rPr lang="en-US" dirty="0"/>
                  <a:t>O(1)</a:t>
                </a:r>
              </a:p>
              <a:p>
                <a:pPr lvl="1"/>
                <a:r>
                  <a:rPr lang="en-US" dirty="0"/>
                  <a:t>Constant time</a:t>
                </a:r>
              </a:p>
              <a:p>
                <a:pPr lvl="1"/>
                <a:r>
                  <a:rPr lang="en-US" dirty="0"/>
                  <a:t>The algorithm always takes the same amount of steps</a:t>
                </a:r>
              </a:p>
              <a:p>
                <a:pPr lvl="1"/>
                <a:r>
                  <a:rPr lang="en-US" dirty="0"/>
                  <a:t>i.e. – Get item at index 0 in an array</a:t>
                </a:r>
              </a:p>
              <a:p>
                <a:r>
                  <a:rPr lang="en-US" dirty="0"/>
                  <a:t>O(log n)</a:t>
                </a:r>
              </a:p>
              <a:p>
                <a:pPr lvl="1"/>
                <a:r>
                  <a:rPr lang="en-US" dirty="0"/>
                  <a:t>The algorithm gets more efficient the more inputs</a:t>
                </a:r>
              </a:p>
              <a:p>
                <a:pPr lvl="1"/>
                <a:r>
                  <a:rPr lang="en-US" dirty="0"/>
                  <a:t>i.e. – Binary Search</a:t>
                </a:r>
              </a:p>
              <a:p>
                <a:r>
                  <a:rPr lang="en-US" dirty="0"/>
                  <a:t>O(n)</a:t>
                </a:r>
              </a:p>
              <a:p>
                <a:pPr lvl="1"/>
                <a:r>
                  <a:rPr lang="en-US" dirty="0"/>
                  <a:t>Linear time</a:t>
                </a:r>
              </a:p>
              <a:p>
                <a:pPr lvl="1"/>
                <a:r>
                  <a:rPr lang="en-US" dirty="0"/>
                  <a:t>The algorithm increases at an equal rate for each input</a:t>
                </a:r>
              </a:p>
              <a:p>
                <a:pPr lvl="1"/>
                <a:r>
                  <a:rPr lang="en-US" dirty="0"/>
                  <a:t>i.e. – Linear Search</a:t>
                </a:r>
              </a:p>
              <a:p>
                <a:r>
                  <a:rPr lang="en-US" dirty="0"/>
                  <a:t>O(n log n)</a:t>
                </a:r>
              </a:p>
              <a:p>
                <a:pPr lvl="1"/>
                <a:r>
                  <a:rPr lang="en-US" dirty="0"/>
                  <a:t>The algorithm gets more efficient the more inputs, but has a base level of complexity which scales with inputs</a:t>
                </a:r>
              </a:p>
              <a:p>
                <a:pPr lvl="1"/>
                <a:r>
                  <a:rPr lang="en-US" dirty="0"/>
                  <a:t>i.e. - Merge sort</a:t>
                </a:r>
              </a:p>
              <a:p>
                <a:r>
                  <a:rPr lang="en-US" dirty="0"/>
                  <a:t>O</a:t>
                </a:r>
                <a14:m>
                  <m:oMath xmlns:m="http://schemas.openxmlformats.org/officeDocument/2006/math">
                    <m:d>
                      <m:dPr>
                        <m:ctrlPr>
                          <a:rPr lang="en-US" b="0"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b="0" dirty="0"/>
              </a:p>
              <a:p>
                <a:pPr lvl="1"/>
                <a:r>
                  <a:rPr lang="en-US" dirty="0"/>
                  <a:t>For each item in an array multiply that item by every other item in the array</a:t>
                </a:r>
              </a:p>
              <a:p>
                <a:pPr lvl="1"/>
                <a:r>
                  <a:rPr lang="en-US" dirty="0"/>
                  <a:t>For each input, we perform another set of processes</a:t>
                </a:r>
              </a:p>
              <a:p>
                <a:pPr lvl="1"/>
                <a:r>
                  <a:rPr lang="en-US" dirty="0"/>
                  <a:t>i.e. - </a:t>
                </a:r>
                <a:r>
                  <a:rPr lang="en-US" b="0" dirty="0"/>
                  <a:t>Nested Loops</a:t>
                </a:r>
              </a:p>
            </p:txBody>
          </p:sp>
        </mc:Choice>
        <mc:Fallback>
          <p:sp>
            <p:nvSpPr>
              <p:cNvPr id="3" name="Content Placeholder 2">
                <a:extLst>
                  <a:ext uri="{FF2B5EF4-FFF2-40B4-BE49-F238E27FC236}">
                    <a16:creationId xmlns:a16="http://schemas.microsoft.com/office/drawing/2014/main" id="{F299C914-EF41-45C7-AF52-D66AE0E6A46E}"/>
                  </a:ext>
                </a:extLst>
              </p:cNvPr>
              <p:cNvSpPr>
                <a:spLocks noGrp="1" noRot="1" noChangeAspect="1" noMove="1" noResize="1" noEditPoints="1" noAdjustHandles="1" noChangeArrowheads="1" noChangeShapeType="1" noTextEdit="1"/>
              </p:cNvSpPr>
              <p:nvPr>
                <p:ph idx="1"/>
              </p:nvPr>
            </p:nvSpPr>
            <p:spPr>
              <a:xfrm>
                <a:off x="380010" y="1481446"/>
                <a:ext cx="8383980" cy="4882266"/>
              </a:xfrm>
              <a:blipFill>
                <a:blip r:embed="rId2"/>
                <a:stretch>
                  <a:fillRect l="-436" t="-17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067CE73-4EE8-4F69-BE3C-23BE29B15109}"/>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Tree>
    <p:extLst>
      <p:ext uri="{BB962C8B-B14F-4D97-AF65-F5344CB8AC3E}">
        <p14:creationId xmlns:p14="http://schemas.microsoft.com/office/powerpoint/2010/main" val="2114388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932C2-632E-C979-7DFC-E61E15C192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279DFB-0015-1EC4-880D-5BECFD00023E}"/>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
        <p:nvSpPr>
          <p:cNvPr id="8" name="Content Placeholder 7">
            <a:extLst>
              <a:ext uri="{FF2B5EF4-FFF2-40B4-BE49-F238E27FC236}">
                <a16:creationId xmlns:a16="http://schemas.microsoft.com/office/drawing/2014/main" id="{1C5809F1-E01C-2E1E-A7A1-50CF3C27DACE}"/>
              </a:ext>
            </a:extLst>
          </p:cNvPr>
          <p:cNvSpPr>
            <a:spLocks noGrp="1"/>
          </p:cNvSpPr>
          <p:nvPr>
            <p:ph sz="quarter" idx="13"/>
          </p:nvPr>
        </p:nvSpPr>
        <p:spPr>
          <a:xfrm>
            <a:off x="157928" y="1795244"/>
            <a:ext cx="8826500" cy="3925564"/>
          </a:xfrm>
        </p:spPr>
        <p:txBody>
          <a:bodyPr>
            <a:normAutofit/>
          </a:bodyPr>
          <a:lstStyle/>
          <a:p>
            <a:pPr algn="ctr"/>
            <a:r>
              <a:rPr lang="en-US" sz="8800" dirty="0"/>
              <a:t>Searching</a:t>
            </a:r>
          </a:p>
        </p:txBody>
      </p:sp>
    </p:spTree>
    <p:extLst>
      <p:ext uri="{BB962C8B-B14F-4D97-AF65-F5344CB8AC3E}">
        <p14:creationId xmlns:p14="http://schemas.microsoft.com/office/powerpoint/2010/main" val="325276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Linear Search</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a:bodyPr>
          <a:lstStyle/>
          <a:p>
            <a:r>
              <a:rPr lang="en-US" dirty="0"/>
              <a:t>Searching algorithms are methods used to find an element within some collection or list. </a:t>
            </a:r>
          </a:p>
          <a:p>
            <a:r>
              <a:rPr lang="en-US" dirty="0"/>
              <a:t>Linear search is the most basic searching algorithm, which functions by checking each element of a collection in sequence until a match is found or until the whole list has been searched.</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17</a:t>
            </a:fld>
            <a:endParaRPr lang="en-US" dirty="0"/>
          </a:p>
        </p:txBody>
      </p:sp>
    </p:spTree>
    <p:extLst>
      <p:ext uri="{BB962C8B-B14F-4D97-AF65-F5344CB8AC3E}">
        <p14:creationId xmlns:p14="http://schemas.microsoft.com/office/powerpoint/2010/main" val="1123113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Linear Search</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18</a:t>
            </a:fld>
            <a:endParaRPr lang="en-US" dirty="0"/>
          </a:p>
        </p:txBody>
      </p:sp>
      <p:sp>
        <p:nvSpPr>
          <p:cNvPr id="5" name="Google Shape;219;p16">
            <a:extLst>
              <a:ext uri="{FF2B5EF4-FFF2-40B4-BE49-F238E27FC236}">
                <a16:creationId xmlns:a16="http://schemas.microsoft.com/office/drawing/2014/main" id="{9F294DD1-DBAE-4993-99EA-D7AF4FB210AB}"/>
              </a:ext>
            </a:extLst>
          </p:cNvPr>
          <p:cNvSpPr txBox="1">
            <a:spLocks/>
          </p:cNvSpPr>
          <p:nvPr/>
        </p:nvSpPr>
        <p:spPr>
          <a:xfrm>
            <a:off x="977317" y="2145484"/>
            <a:ext cx="7189365" cy="2567031"/>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public int</a:t>
            </a:r>
            <a:r>
              <a:rPr lang="en-US" sz="1400" b="1"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linearSearch</a:t>
            </a:r>
            <a:r>
              <a:rPr lang="en-US" sz="1400" dirty="0">
                <a:latin typeface="Courier New" panose="02070309020205020404" pitchFamily="49" charset="0"/>
                <a:cs typeface="Courier New" panose="02070309020205020404" pitchFamily="49" charset="0"/>
              </a:rPr>
              <a:t>(</a:t>
            </a:r>
            <a:r>
              <a:rPr lang="en-US" sz="1400" dirty="0">
                <a:solidFill>
                  <a:schemeClr val="tx1"/>
                </a:solidFill>
                <a:latin typeface="Courier New" panose="02070309020205020404" pitchFamily="49" charset="0"/>
                <a:cs typeface="Courier New" panose="02070309020205020404" pitchFamily="49" charset="0"/>
              </a:rPr>
              <a:t>Integer</a:t>
            </a:r>
            <a:r>
              <a:rPr lang="en-US" sz="1400" dirty="0">
                <a:latin typeface="Courier New" panose="02070309020205020404" pitchFamily="49" charset="0"/>
                <a:cs typeface="Courier New" panose="02070309020205020404" pitchFamily="49" charset="0"/>
              </a:rPr>
              <a:t> target, </a:t>
            </a:r>
            <a:r>
              <a:rPr lang="en-US" sz="1400" dirty="0">
                <a:solidFill>
                  <a:schemeClr val="tx1"/>
                </a:solidFill>
                <a:latin typeface="Courier New" panose="02070309020205020404" pitchFamily="49" charset="0"/>
                <a:cs typeface="Courier New" panose="02070309020205020404" pitchFamily="49" charset="0"/>
              </a:rPr>
              <a:t>Integer</a:t>
            </a:r>
            <a:r>
              <a:rPr lang="en-US" sz="1400" dirty="0">
                <a:latin typeface="Courier New" panose="02070309020205020404" pitchFamily="49" charset="0"/>
                <a:cs typeface="Courier New" panose="02070309020205020404" pitchFamily="49" charset="0"/>
              </a:rPr>
              <a:t>[] collection)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index = -1;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for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0;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a:t>
            </a:r>
            <a:r>
              <a:rPr lang="en-US" sz="1400" dirty="0" err="1">
                <a:latin typeface="Courier New" panose="02070309020205020404" pitchFamily="49" charset="0"/>
                <a:cs typeface="Courier New" panose="02070309020205020404" pitchFamily="49" charset="0"/>
              </a:rPr>
              <a:t>collection.length</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(collection[</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target)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index =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return</a:t>
            </a:r>
            <a:r>
              <a:rPr lang="en-US" sz="1400" dirty="0">
                <a:latin typeface="Courier New" panose="02070309020205020404" pitchFamily="49" charset="0"/>
                <a:cs typeface="Courier New" panose="02070309020205020404" pitchFamily="49" charset="0"/>
              </a:rPr>
              <a:t> index;</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641353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Linear Search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19</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380010" y="3204593"/>
            <a:ext cx="8372212" cy="1325461"/>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71976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10</a:t>
            </a:r>
          </a:p>
        </p:txBody>
      </p:sp>
      <p:sp>
        <p:nvSpPr>
          <p:cNvPr id="8" name="Rectangle: Rounded Corners 7">
            <a:extLst>
              <a:ext uri="{FF2B5EF4-FFF2-40B4-BE49-F238E27FC236}">
                <a16:creationId xmlns:a16="http://schemas.microsoft.com/office/drawing/2014/main" id="{4062C34C-7660-DD0D-1AD8-827AC9608DBF}"/>
              </a:ext>
            </a:extLst>
          </p:cNvPr>
          <p:cNvSpPr/>
          <p:nvPr/>
        </p:nvSpPr>
        <p:spPr>
          <a:xfrm>
            <a:off x="159221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15</a:t>
            </a:r>
          </a:p>
        </p:txBody>
      </p:sp>
      <p:sp>
        <p:nvSpPr>
          <p:cNvPr id="9" name="Rectangle: Rounded Corners 8">
            <a:extLst>
              <a:ext uri="{FF2B5EF4-FFF2-40B4-BE49-F238E27FC236}">
                <a16:creationId xmlns:a16="http://schemas.microsoft.com/office/drawing/2014/main" id="{4E49746E-ADB4-4361-119F-199F4AC1EF89}"/>
              </a:ext>
            </a:extLst>
          </p:cNvPr>
          <p:cNvSpPr/>
          <p:nvPr/>
        </p:nvSpPr>
        <p:spPr>
          <a:xfrm>
            <a:off x="246467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19</a:t>
            </a:r>
          </a:p>
        </p:txBody>
      </p:sp>
      <p:sp>
        <p:nvSpPr>
          <p:cNvPr id="10" name="Rectangle: Rounded Corners 9">
            <a:extLst>
              <a:ext uri="{FF2B5EF4-FFF2-40B4-BE49-F238E27FC236}">
                <a16:creationId xmlns:a16="http://schemas.microsoft.com/office/drawing/2014/main" id="{680D5B45-9F4A-2780-3893-A51B9AE0247B}"/>
              </a:ext>
            </a:extLst>
          </p:cNvPr>
          <p:cNvSpPr/>
          <p:nvPr/>
        </p:nvSpPr>
        <p:spPr>
          <a:xfrm>
            <a:off x="333712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23</a:t>
            </a:r>
          </a:p>
        </p:txBody>
      </p:sp>
      <p:sp>
        <p:nvSpPr>
          <p:cNvPr id="11" name="Rectangle: Rounded Corners 10">
            <a:extLst>
              <a:ext uri="{FF2B5EF4-FFF2-40B4-BE49-F238E27FC236}">
                <a16:creationId xmlns:a16="http://schemas.microsoft.com/office/drawing/2014/main" id="{2F370C9A-344E-3386-3EAB-7D0B1C28F4C9}"/>
              </a:ext>
            </a:extLst>
          </p:cNvPr>
          <p:cNvSpPr/>
          <p:nvPr/>
        </p:nvSpPr>
        <p:spPr>
          <a:xfrm>
            <a:off x="420958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28</a:t>
            </a:r>
          </a:p>
        </p:txBody>
      </p:sp>
      <p:sp>
        <p:nvSpPr>
          <p:cNvPr id="12" name="Rectangle: Rounded Corners 11">
            <a:extLst>
              <a:ext uri="{FF2B5EF4-FFF2-40B4-BE49-F238E27FC236}">
                <a16:creationId xmlns:a16="http://schemas.microsoft.com/office/drawing/2014/main" id="{6805E105-159C-261A-B820-3DB75A5DFA44}"/>
              </a:ext>
            </a:extLst>
          </p:cNvPr>
          <p:cNvSpPr/>
          <p:nvPr/>
        </p:nvSpPr>
        <p:spPr>
          <a:xfrm>
            <a:off x="508203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35</a:t>
            </a:r>
          </a:p>
        </p:txBody>
      </p:sp>
      <p:sp>
        <p:nvSpPr>
          <p:cNvPr id="13" name="Rectangle: Rounded Corners 12">
            <a:extLst>
              <a:ext uri="{FF2B5EF4-FFF2-40B4-BE49-F238E27FC236}">
                <a16:creationId xmlns:a16="http://schemas.microsoft.com/office/drawing/2014/main" id="{086013E1-1923-4D13-8147-584142FDC66F}"/>
              </a:ext>
            </a:extLst>
          </p:cNvPr>
          <p:cNvSpPr/>
          <p:nvPr/>
        </p:nvSpPr>
        <p:spPr>
          <a:xfrm>
            <a:off x="595449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41</a:t>
            </a:r>
          </a:p>
        </p:txBody>
      </p:sp>
      <p:sp>
        <p:nvSpPr>
          <p:cNvPr id="14" name="Rectangle: Rounded Corners 13">
            <a:extLst>
              <a:ext uri="{FF2B5EF4-FFF2-40B4-BE49-F238E27FC236}">
                <a16:creationId xmlns:a16="http://schemas.microsoft.com/office/drawing/2014/main" id="{9E5A1E3E-E07C-AAB4-9EAC-EF6323034B56}"/>
              </a:ext>
            </a:extLst>
          </p:cNvPr>
          <p:cNvSpPr/>
          <p:nvPr/>
        </p:nvSpPr>
        <p:spPr>
          <a:xfrm>
            <a:off x="682694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49</a:t>
            </a:r>
          </a:p>
        </p:txBody>
      </p:sp>
      <p:sp>
        <p:nvSpPr>
          <p:cNvPr id="15" name="Rectangle: Rounded Corners 14">
            <a:extLst>
              <a:ext uri="{FF2B5EF4-FFF2-40B4-BE49-F238E27FC236}">
                <a16:creationId xmlns:a16="http://schemas.microsoft.com/office/drawing/2014/main" id="{8DE14A9F-A316-A963-AA86-1AE91FE001FC}"/>
              </a:ext>
            </a:extLst>
          </p:cNvPr>
          <p:cNvSpPr/>
          <p:nvPr/>
        </p:nvSpPr>
        <p:spPr>
          <a:xfrm>
            <a:off x="769940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62</a:t>
            </a:r>
          </a:p>
        </p:txBody>
      </p:sp>
      <p:grpSp>
        <p:nvGrpSpPr>
          <p:cNvPr id="27" name="Group 26">
            <a:extLst>
              <a:ext uri="{FF2B5EF4-FFF2-40B4-BE49-F238E27FC236}">
                <a16:creationId xmlns:a16="http://schemas.microsoft.com/office/drawing/2014/main" id="{CF221BE1-0351-3AD8-7343-00C4C3F2EBEB}"/>
              </a:ext>
            </a:extLst>
          </p:cNvPr>
          <p:cNvGrpSpPr/>
          <p:nvPr/>
        </p:nvGrpSpPr>
        <p:grpSpPr>
          <a:xfrm>
            <a:off x="751872" y="2017117"/>
            <a:ext cx="680956" cy="1078421"/>
            <a:chOff x="751872" y="2017117"/>
            <a:chExt cx="680956" cy="1078421"/>
          </a:xfrm>
        </p:grpSpPr>
        <p:sp>
          <p:nvSpPr>
            <p:cNvPr id="18" name="TextBox 17">
              <a:extLst>
                <a:ext uri="{FF2B5EF4-FFF2-40B4-BE49-F238E27FC236}">
                  <a16:creationId xmlns:a16="http://schemas.microsoft.com/office/drawing/2014/main" id="{FD8BE93B-E500-88AB-F7F6-CEB53CDA4677}"/>
                </a:ext>
              </a:extLst>
            </p:cNvPr>
            <p:cNvSpPr txBox="1"/>
            <p:nvPr/>
          </p:nvSpPr>
          <p:spPr>
            <a:xfrm>
              <a:off x="751872" y="2017117"/>
              <a:ext cx="680956" cy="738664"/>
            </a:xfrm>
            <a:prstGeom prst="rect">
              <a:avLst/>
            </a:prstGeom>
            <a:noFill/>
          </p:spPr>
          <p:txBody>
            <a:bodyPr wrap="none" rtlCol="0">
              <a:spAutoFit/>
            </a:bodyPr>
            <a:lstStyle/>
            <a:p>
              <a:r>
                <a:rPr lang="en-US" sz="1400" dirty="0"/>
                <a:t>Target</a:t>
              </a:r>
            </a:p>
            <a:p>
              <a:endParaRPr lang="en-US" sz="1400" dirty="0"/>
            </a:p>
            <a:p>
              <a:pPr algn="ctr"/>
              <a:r>
                <a:rPr lang="en-US" sz="1400" dirty="0"/>
                <a:t>35</a:t>
              </a:r>
            </a:p>
          </p:txBody>
        </p:sp>
        <p:cxnSp>
          <p:nvCxnSpPr>
            <p:cNvPr id="20" name="Straight Arrow Connector 19">
              <a:extLst>
                <a:ext uri="{FF2B5EF4-FFF2-40B4-BE49-F238E27FC236}">
                  <a16:creationId xmlns:a16="http://schemas.microsoft.com/office/drawing/2014/main" id="{95738061-BC2E-42AC-638E-D607B18C4E9B}"/>
                </a:ext>
              </a:extLst>
            </p:cNvPr>
            <p:cNvCxnSpPr>
              <a:cxnSpLocks/>
              <a:stCxn id="18" idx="2"/>
            </p:cNvCxnSpPr>
            <p:nvPr/>
          </p:nvCxnSpPr>
          <p:spPr>
            <a:xfrm>
              <a:off x="1092350" y="2755781"/>
              <a:ext cx="0" cy="33975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724073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7"/>
                                        </p:tgtEl>
                                        <p:attrNameLst>
                                          <p:attrName>fillcolor</p:attrName>
                                        </p:attrNameLst>
                                      </p:cBhvr>
                                      <p:to>
                                        <a:srgbClr val="AC545C"/>
                                      </p:to>
                                    </p:animClr>
                                    <p:set>
                                      <p:cBhvr>
                                        <p:cTn id="7" dur="500" fill="hold"/>
                                        <p:tgtEl>
                                          <p:spTgt spid="7"/>
                                        </p:tgtEl>
                                        <p:attrNameLst>
                                          <p:attrName>fill.type</p:attrName>
                                        </p:attrNameLst>
                                      </p:cBhvr>
                                      <p:to>
                                        <p:strVal val="solid"/>
                                      </p:to>
                                    </p:set>
                                    <p:set>
                                      <p:cBhvr>
                                        <p:cTn id="8" dur="500" fill="hold"/>
                                        <p:tgtEl>
                                          <p:spTgt spid="7"/>
                                        </p:tgtEl>
                                        <p:attrNameLst>
                                          <p:attrName>fill.on</p:attrName>
                                        </p:attrNameLst>
                                      </p:cBhvr>
                                      <p:to>
                                        <p:strVal val="true"/>
                                      </p:to>
                                    </p:set>
                                  </p:childTnLst>
                                </p:cTn>
                              </p:par>
                            </p:childTnLst>
                          </p:cTn>
                        </p:par>
                        <p:par>
                          <p:cTn id="9" fill="hold">
                            <p:stCondLst>
                              <p:cond delay="500"/>
                            </p:stCondLst>
                            <p:childTnLst>
                              <p:par>
                                <p:cTn id="10" presetID="42" presetClass="path" presetSubtype="0" accel="50000" decel="50000" fill="hold" nodeType="afterEffect">
                                  <p:stCondLst>
                                    <p:cond delay="0"/>
                                  </p:stCondLst>
                                  <p:childTnLst>
                                    <p:animMotion origin="layout" path="M -4.44444E-6 4.81481E-6 L 0.09566 -0.0007 " pathEditMode="relative" rAng="0" ptsTypes="AA">
                                      <p:cBhvr>
                                        <p:cTn id="11" dur="1250" fill="hold"/>
                                        <p:tgtEl>
                                          <p:spTgt spid="27"/>
                                        </p:tgtEl>
                                        <p:attrNameLst>
                                          <p:attrName>ppt_x</p:attrName>
                                          <p:attrName>ppt_y</p:attrName>
                                        </p:attrNameLst>
                                      </p:cBhvr>
                                      <p:rCtr x="4826" y="-93"/>
                                    </p:animMotion>
                                  </p:childTnLst>
                                </p:cTn>
                              </p:par>
                            </p:childTnLst>
                          </p:cTn>
                        </p:par>
                        <p:par>
                          <p:cTn id="12" fill="hold">
                            <p:stCondLst>
                              <p:cond delay="1750"/>
                            </p:stCondLst>
                            <p:childTnLst>
                              <p:par>
                                <p:cTn id="13" presetID="1" presetClass="emph" presetSubtype="2" fill="hold" nodeType="afterEffect">
                                  <p:stCondLst>
                                    <p:cond delay="0"/>
                                  </p:stCondLst>
                                  <p:childTnLst>
                                    <p:animClr clrSpc="rgb" dir="cw">
                                      <p:cBhvr>
                                        <p:cTn id="14" dur="500" fill="hold"/>
                                        <p:tgtEl>
                                          <p:spTgt spid="8"/>
                                        </p:tgtEl>
                                        <p:attrNameLst>
                                          <p:attrName>fillcolor</p:attrName>
                                        </p:attrNameLst>
                                      </p:cBhvr>
                                      <p:to>
                                        <a:srgbClr val="AC545C"/>
                                      </p:to>
                                    </p:animClr>
                                    <p:set>
                                      <p:cBhvr>
                                        <p:cTn id="15" dur="500" fill="hold"/>
                                        <p:tgtEl>
                                          <p:spTgt spid="8"/>
                                        </p:tgtEl>
                                        <p:attrNameLst>
                                          <p:attrName>fill.type</p:attrName>
                                        </p:attrNameLst>
                                      </p:cBhvr>
                                      <p:to>
                                        <p:strVal val="solid"/>
                                      </p:to>
                                    </p:set>
                                    <p:set>
                                      <p:cBhvr>
                                        <p:cTn id="16" dur="500" fill="hold"/>
                                        <p:tgtEl>
                                          <p:spTgt spid="8"/>
                                        </p:tgtEl>
                                        <p:attrNameLst>
                                          <p:attrName>fill.on</p:attrName>
                                        </p:attrNameLst>
                                      </p:cBhvr>
                                      <p:to>
                                        <p:strVal val="true"/>
                                      </p:to>
                                    </p:set>
                                  </p:childTnLst>
                                </p:cTn>
                              </p:par>
                            </p:childTnLst>
                          </p:cTn>
                        </p:par>
                        <p:par>
                          <p:cTn id="17" fill="hold">
                            <p:stCondLst>
                              <p:cond delay="2250"/>
                            </p:stCondLst>
                            <p:childTnLst>
                              <p:par>
                                <p:cTn id="18" presetID="42" presetClass="path" presetSubtype="0" accel="50000" decel="50000" fill="hold" nodeType="afterEffect">
                                  <p:stCondLst>
                                    <p:cond delay="0"/>
                                  </p:stCondLst>
                                  <p:childTnLst>
                                    <p:animMotion origin="layout" path="M 0.09566 -0.0007 L 0.19063 -0.00232 " pathEditMode="relative" rAng="0" ptsTypes="AA">
                                      <p:cBhvr>
                                        <p:cTn id="19" dur="1250" fill="hold"/>
                                        <p:tgtEl>
                                          <p:spTgt spid="27"/>
                                        </p:tgtEl>
                                        <p:attrNameLst>
                                          <p:attrName>ppt_x</p:attrName>
                                          <p:attrName>ppt_y</p:attrName>
                                        </p:attrNameLst>
                                      </p:cBhvr>
                                      <p:rCtr x="4740" y="-93"/>
                                    </p:animMotion>
                                  </p:childTnLst>
                                </p:cTn>
                              </p:par>
                            </p:childTnLst>
                          </p:cTn>
                        </p:par>
                        <p:par>
                          <p:cTn id="20" fill="hold">
                            <p:stCondLst>
                              <p:cond delay="3500"/>
                            </p:stCondLst>
                            <p:childTnLst>
                              <p:par>
                                <p:cTn id="21" presetID="1" presetClass="emph" presetSubtype="2" fill="hold" nodeType="afterEffect">
                                  <p:stCondLst>
                                    <p:cond delay="0"/>
                                  </p:stCondLst>
                                  <p:childTnLst>
                                    <p:animClr clrSpc="rgb" dir="cw">
                                      <p:cBhvr>
                                        <p:cTn id="22" dur="500" fill="hold"/>
                                        <p:tgtEl>
                                          <p:spTgt spid="9"/>
                                        </p:tgtEl>
                                        <p:attrNameLst>
                                          <p:attrName>fillcolor</p:attrName>
                                        </p:attrNameLst>
                                      </p:cBhvr>
                                      <p:to>
                                        <a:srgbClr val="AC545C"/>
                                      </p:to>
                                    </p:animClr>
                                    <p:set>
                                      <p:cBhvr>
                                        <p:cTn id="23" dur="500" fill="hold"/>
                                        <p:tgtEl>
                                          <p:spTgt spid="9"/>
                                        </p:tgtEl>
                                        <p:attrNameLst>
                                          <p:attrName>fill.type</p:attrName>
                                        </p:attrNameLst>
                                      </p:cBhvr>
                                      <p:to>
                                        <p:strVal val="solid"/>
                                      </p:to>
                                    </p:set>
                                    <p:set>
                                      <p:cBhvr>
                                        <p:cTn id="24" dur="500" fill="hold"/>
                                        <p:tgtEl>
                                          <p:spTgt spid="9"/>
                                        </p:tgtEl>
                                        <p:attrNameLst>
                                          <p:attrName>fill.on</p:attrName>
                                        </p:attrNameLst>
                                      </p:cBhvr>
                                      <p:to>
                                        <p:strVal val="true"/>
                                      </p:to>
                                    </p:set>
                                  </p:childTnLst>
                                </p:cTn>
                              </p:par>
                            </p:childTnLst>
                          </p:cTn>
                        </p:par>
                        <p:par>
                          <p:cTn id="25" fill="hold">
                            <p:stCondLst>
                              <p:cond delay="4000"/>
                            </p:stCondLst>
                            <p:childTnLst>
                              <p:par>
                                <p:cTn id="26" presetID="42" presetClass="path" presetSubtype="0" accel="50000" decel="50000" fill="hold" nodeType="afterEffect">
                                  <p:stCondLst>
                                    <p:cond delay="0"/>
                                  </p:stCondLst>
                                  <p:childTnLst>
                                    <p:animMotion origin="layout" path="M 0.19063 -0.00232 L 0.28629 -0.00163 " pathEditMode="relative" rAng="0" ptsTypes="AA">
                                      <p:cBhvr>
                                        <p:cTn id="27" dur="1250" fill="hold"/>
                                        <p:tgtEl>
                                          <p:spTgt spid="27"/>
                                        </p:tgtEl>
                                        <p:attrNameLst>
                                          <p:attrName>ppt_x</p:attrName>
                                          <p:attrName>ppt_y</p:attrName>
                                        </p:attrNameLst>
                                      </p:cBhvr>
                                      <p:rCtr x="4774" y="23"/>
                                    </p:animMotion>
                                  </p:childTnLst>
                                </p:cTn>
                              </p:par>
                            </p:childTnLst>
                          </p:cTn>
                        </p:par>
                        <p:par>
                          <p:cTn id="28" fill="hold">
                            <p:stCondLst>
                              <p:cond delay="5250"/>
                            </p:stCondLst>
                            <p:childTnLst>
                              <p:par>
                                <p:cTn id="29" presetID="1" presetClass="emph" presetSubtype="2" fill="hold" nodeType="afterEffect">
                                  <p:stCondLst>
                                    <p:cond delay="0"/>
                                  </p:stCondLst>
                                  <p:childTnLst>
                                    <p:animClr clrSpc="rgb" dir="cw">
                                      <p:cBhvr>
                                        <p:cTn id="30" dur="500" fill="hold"/>
                                        <p:tgtEl>
                                          <p:spTgt spid="10"/>
                                        </p:tgtEl>
                                        <p:attrNameLst>
                                          <p:attrName>fillcolor</p:attrName>
                                        </p:attrNameLst>
                                      </p:cBhvr>
                                      <p:to>
                                        <a:srgbClr val="AC545C"/>
                                      </p:to>
                                    </p:animClr>
                                    <p:set>
                                      <p:cBhvr>
                                        <p:cTn id="31" dur="500" fill="hold"/>
                                        <p:tgtEl>
                                          <p:spTgt spid="10"/>
                                        </p:tgtEl>
                                        <p:attrNameLst>
                                          <p:attrName>fill.type</p:attrName>
                                        </p:attrNameLst>
                                      </p:cBhvr>
                                      <p:to>
                                        <p:strVal val="solid"/>
                                      </p:to>
                                    </p:set>
                                    <p:set>
                                      <p:cBhvr>
                                        <p:cTn id="32" dur="500" fill="hold"/>
                                        <p:tgtEl>
                                          <p:spTgt spid="10"/>
                                        </p:tgtEl>
                                        <p:attrNameLst>
                                          <p:attrName>fill.on</p:attrName>
                                        </p:attrNameLst>
                                      </p:cBhvr>
                                      <p:to>
                                        <p:strVal val="true"/>
                                      </p:to>
                                    </p:set>
                                  </p:childTnLst>
                                </p:cTn>
                              </p:par>
                            </p:childTnLst>
                          </p:cTn>
                        </p:par>
                        <p:par>
                          <p:cTn id="33" fill="hold">
                            <p:stCondLst>
                              <p:cond delay="5750"/>
                            </p:stCondLst>
                            <p:childTnLst>
                              <p:par>
                                <p:cTn id="34" presetID="42" presetClass="path" presetSubtype="0" accel="50000" decel="50000" fill="hold" nodeType="afterEffect">
                                  <p:stCondLst>
                                    <p:cond delay="0"/>
                                  </p:stCondLst>
                                  <p:childTnLst>
                                    <p:animMotion origin="layout" path="M 0.28629 -0.00163 L 0.38056 -0.00163 " pathEditMode="relative" rAng="0" ptsTypes="AA">
                                      <p:cBhvr>
                                        <p:cTn id="35" dur="1250" fill="hold"/>
                                        <p:tgtEl>
                                          <p:spTgt spid="27"/>
                                        </p:tgtEl>
                                        <p:attrNameLst>
                                          <p:attrName>ppt_x</p:attrName>
                                          <p:attrName>ppt_y</p:attrName>
                                        </p:attrNameLst>
                                      </p:cBhvr>
                                      <p:rCtr x="4705" y="0"/>
                                    </p:animMotion>
                                  </p:childTnLst>
                                </p:cTn>
                              </p:par>
                            </p:childTnLst>
                          </p:cTn>
                        </p:par>
                        <p:par>
                          <p:cTn id="36" fill="hold">
                            <p:stCondLst>
                              <p:cond delay="7000"/>
                            </p:stCondLst>
                            <p:childTnLst>
                              <p:par>
                                <p:cTn id="37" presetID="1" presetClass="emph" presetSubtype="2" fill="hold" nodeType="afterEffect">
                                  <p:stCondLst>
                                    <p:cond delay="0"/>
                                  </p:stCondLst>
                                  <p:childTnLst>
                                    <p:animClr clrSpc="rgb" dir="cw">
                                      <p:cBhvr>
                                        <p:cTn id="38" dur="500" fill="hold"/>
                                        <p:tgtEl>
                                          <p:spTgt spid="11"/>
                                        </p:tgtEl>
                                        <p:attrNameLst>
                                          <p:attrName>fillcolor</p:attrName>
                                        </p:attrNameLst>
                                      </p:cBhvr>
                                      <p:to>
                                        <a:srgbClr val="AC545C"/>
                                      </p:to>
                                    </p:animClr>
                                    <p:set>
                                      <p:cBhvr>
                                        <p:cTn id="39" dur="500" fill="hold"/>
                                        <p:tgtEl>
                                          <p:spTgt spid="11"/>
                                        </p:tgtEl>
                                        <p:attrNameLst>
                                          <p:attrName>fill.type</p:attrName>
                                        </p:attrNameLst>
                                      </p:cBhvr>
                                      <p:to>
                                        <p:strVal val="solid"/>
                                      </p:to>
                                    </p:set>
                                    <p:set>
                                      <p:cBhvr>
                                        <p:cTn id="40" dur="500" fill="hold"/>
                                        <p:tgtEl>
                                          <p:spTgt spid="11"/>
                                        </p:tgtEl>
                                        <p:attrNameLst>
                                          <p:attrName>fill.on</p:attrName>
                                        </p:attrNameLst>
                                      </p:cBhvr>
                                      <p:to>
                                        <p:strVal val="true"/>
                                      </p:to>
                                    </p:set>
                                  </p:childTnLst>
                                </p:cTn>
                              </p:par>
                            </p:childTnLst>
                          </p:cTn>
                        </p:par>
                        <p:par>
                          <p:cTn id="41" fill="hold">
                            <p:stCondLst>
                              <p:cond delay="7500"/>
                            </p:stCondLst>
                            <p:childTnLst>
                              <p:par>
                                <p:cTn id="42" presetID="42" presetClass="path" presetSubtype="0" accel="50000" decel="50000" fill="hold" nodeType="afterEffect">
                                  <p:stCondLst>
                                    <p:cond delay="0"/>
                                  </p:stCondLst>
                                  <p:childTnLst>
                                    <p:animMotion origin="layout" path="M 0.38056 -0.00163 L 0.47622 -0.00556 " pathEditMode="relative" rAng="0" ptsTypes="AA">
                                      <p:cBhvr>
                                        <p:cTn id="43" dur="1250" fill="hold"/>
                                        <p:tgtEl>
                                          <p:spTgt spid="27"/>
                                        </p:tgtEl>
                                        <p:attrNameLst>
                                          <p:attrName>ppt_x</p:attrName>
                                          <p:attrName>ppt_y</p:attrName>
                                        </p:attrNameLst>
                                      </p:cBhvr>
                                      <p:rCtr x="4774" y="-208"/>
                                    </p:animMotion>
                                  </p:childTnLst>
                                </p:cTn>
                              </p:par>
                            </p:childTnLst>
                          </p:cTn>
                        </p:par>
                        <p:par>
                          <p:cTn id="44" fill="hold">
                            <p:stCondLst>
                              <p:cond delay="8750"/>
                            </p:stCondLst>
                            <p:childTnLst>
                              <p:par>
                                <p:cTn id="45" presetID="1" presetClass="emph" presetSubtype="2" fill="hold" nodeType="afterEffect">
                                  <p:stCondLst>
                                    <p:cond delay="0"/>
                                  </p:stCondLst>
                                  <p:childTnLst>
                                    <p:animClr clrSpc="rgb" dir="cw">
                                      <p:cBhvr>
                                        <p:cTn id="46" dur="500" fill="hold"/>
                                        <p:tgtEl>
                                          <p:spTgt spid="12"/>
                                        </p:tgtEl>
                                        <p:attrNameLst>
                                          <p:attrName>fillcolor</p:attrName>
                                        </p:attrNameLst>
                                      </p:cBhvr>
                                      <p:to>
                                        <a:srgbClr val="92D050"/>
                                      </p:to>
                                    </p:animClr>
                                    <p:set>
                                      <p:cBhvr>
                                        <p:cTn id="47" dur="500" fill="hold"/>
                                        <p:tgtEl>
                                          <p:spTgt spid="12"/>
                                        </p:tgtEl>
                                        <p:attrNameLst>
                                          <p:attrName>fill.type</p:attrName>
                                        </p:attrNameLst>
                                      </p:cBhvr>
                                      <p:to>
                                        <p:strVal val="solid"/>
                                      </p:to>
                                    </p:set>
                                    <p:set>
                                      <p:cBhvr>
                                        <p:cTn id="48" dur="5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Binary Search</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lnSpcReduction="10000"/>
          </a:bodyPr>
          <a:lstStyle/>
          <a:p>
            <a:r>
              <a:rPr lang="en-US" dirty="0"/>
              <a:t>A Binary Search (a.k.a. half-interval search) is another common algorithm used to find elements within a </a:t>
            </a:r>
            <a:r>
              <a:rPr lang="en-US" b="1" u="sng" dirty="0"/>
              <a:t>sorted</a:t>
            </a:r>
            <a:r>
              <a:rPr lang="en-US" dirty="0"/>
              <a:t> collection.</a:t>
            </a:r>
          </a:p>
          <a:p>
            <a:r>
              <a:rPr lang="en-US" dirty="0"/>
              <a:t>Binary search finds the position of an element by looking at the element halfway between the recognized minimum and maximum value and eliminating half of the remaining elements if the target value is less than or greater than this halfway point.</a:t>
            </a:r>
          </a:p>
          <a:p>
            <a:r>
              <a:rPr lang="en-US" dirty="0"/>
              <a:t>The algorithm ends after finding the target value is found or all elements have been eliminated.</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20</a:t>
            </a:fld>
            <a:endParaRPr lang="en-US" dirty="0"/>
          </a:p>
        </p:txBody>
      </p:sp>
    </p:spTree>
    <p:extLst>
      <p:ext uri="{BB962C8B-B14F-4D97-AF65-F5344CB8AC3E}">
        <p14:creationId xmlns:p14="http://schemas.microsoft.com/office/powerpoint/2010/main" val="393511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Binary Search</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21</a:t>
            </a:fld>
            <a:endParaRPr lang="en-US" dirty="0"/>
          </a:p>
        </p:txBody>
      </p:sp>
      <p:sp>
        <p:nvSpPr>
          <p:cNvPr id="6" name="Google Shape;219;p16">
            <a:extLst>
              <a:ext uri="{FF2B5EF4-FFF2-40B4-BE49-F238E27FC236}">
                <a16:creationId xmlns:a16="http://schemas.microsoft.com/office/drawing/2014/main" id="{67FF274D-A4D6-4376-AD54-0F49C413B8FD}"/>
              </a:ext>
            </a:extLst>
          </p:cNvPr>
          <p:cNvSpPr txBox="1">
            <a:spLocks/>
          </p:cNvSpPr>
          <p:nvPr/>
        </p:nvSpPr>
        <p:spPr>
          <a:xfrm>
            <a:off x="977317" y="1635854"/>
            <a:ext cx="7189365" cy="4488110"/>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public int</a:t>
            </a:r>
            <a:r>
              <a:rPr lang="en-US" sz="1400" b="1"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binarySearch</a:t>
            </a:r>
            <a:r>
              <a:rPr lang="en-US" sz="1400" dirty="0">
                <a:latin typeface="Courier New" panose="02070309020205020404" pitchFamily="49" charset="0"/>
                <a:cs typeface="Courier New" panose="02070309020205020404" pitchFamily="49" charset="0"/>
              </a:rPr>
              <a:t>(</a:t>
            </a:r>
            <a:r>
              <a:rPr lang="en-US" sz="1400" dirty="0">
                <a:solidFill>
                  <a:schemeClr val="tx1"/>
                </a:solidFill>
                <a:latin typeface="Courier New" panose="02070309020205020404" pitchFamily="49" charset="0"/>
                <a:cs typeface="Courier New" panose="02070309020205020404" pitchFamily="49" charset="0"/>
              </a:rPr>
              <a:t>Integer</a:t>
            </a:r>
            <a:r>
              <a:rPr lang="en-US" sz="1400" dirty="0">
                <a:latin typeface="Courier New" panose="02070309020205020404" pitchFamily="49" charset="0"/>
                <a:cs typeface="Courier New" panose="02070309020205020404" pitchFamily="49" charset="0"/>
              </a:rPr>
              <a:t> target, </a:t>
            </a:r>
            <a:r>
              <a:rPr lang="en-US" sz="1400" dirty="0">
                <a:solidFill>
                  <a:schemeClr val="tx1"/>
                </a:solidFill>
                <a:latin typeface="Courier New" panose="02070309020205020404" pitchFamily="49" charset="0"/>
                <a:cs typeface="Courier New" panose="02070309020205020404" pitchFamily="49" charset="0"/>
              </a:rPr>
              <a:t>Integer</a:t>
            </a:r>
            <a:r>
              <a:rPr lang="en-US" sz="1400" dirty="0">
                <a:latin typeface="Courier New" panose="02070309020205020404" pitchFamily="49" charset="0"/>
                <a:cs typeface="Courier New" panose="02070309020205020404" pitchFamily="49" charset="0"/>
              </a:rPr>
              <a:t>[] collection)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left = 0;</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right = collection.length-1;</a:t>
            </a:r>
          </a:p>
          <a:p>
            <a:pPr marL="182880" lvl="1" indent="0" defTabSz="457200">
              <a:lnSpc>
                <a:spcPct val="90000"/>
              </a:lnSpc>
              <a:spcBef>
                <a:spcPts val="480"/>
              </a:spcBef>
              <a:buSzPts val="2400"/>
              <a:buFont typeface="Arial" panose="020B0604020202020204" pitchFamily="34" charset="0"/>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while</a:t>
            </a:r>
            <a:r>
              <a:rPr lang="en-US" sz="1400" dirty="0">
                <a:latin typeface="Courier New" panose="02070309020205020404" pitchFamily="49" charset="0"/>
                <a:cs typeface="Courier New" panose="02070309020205020404" pitchFamily="49" charset="0"/>
              </a:rPr>
              <a:t> (left &lt;= right)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mid = (</a:t>
            </a:r>
            <a:r>
              <a:rPr lang="en-US" sz="1400" dirty="0" err="1">
                <a:latin typeface="Courier New" panose="02070309020205020404" pitchFamily="49" charset="0"/>
                <a:cs typeface="Courier New" panose="02070309020205020404" pitchFamily="49" charset="0"/>
              </a:rPr>
              <a:t>right+left</a:t>
            </a:r>
            <a:r>
              <a:rPr lang="en-US" sz="1400" dirty="0">
                <a:latin typeface="Courier New" panose="02070309020205020404" pitchFamily="49" charset="0"/>
                <a:cs typeface="Courier New" panose="02070309020205020404" pitchFamily="49" charset="0"/>
              </a:rPr>
              <a:t>)/2</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(target &lt; collection[mid])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right = mid - 1;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a:t>
            </a:r>
            <a:r>
              <a:rPr lang="en-US" sz="1400" b="1" dirty="0">
                <a:solidFill>
                  <a:srgbClr val="9966FF"/>
                </a:solidFill>
                <a:latin typeface="Courier New" panose="02070309020205020404" pitchFamily="49" charset="0"/>
                <a:cs typeface="Courier New" panose="02070309020205020404" pitchFamily="49" charset="0"/>
              </a:rPr>
              <a:t>else</a:t>
            </a:r>
            <a:r>
              <a:rPr lang="en-US" sz="1400" dirty="0">
                <a:solidFill>
                  <a:srgbClr val="9966FF"/>
                </a:solidFill>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solidFill>
                  <a:srgbClr val="9966FF"/>
                </a:solidFill>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(target &gt; collection[mid])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left = mid + 1;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a:t>
            </a:r>
            <a:r>
              <a:rPr lang="en-US" sz="1400" b="1" dirty="0">
                <a:solidFill>
                  <a:srgbClr val="9966FF"/>
                </a:solidFill>
                <a:latin typeface="Courier New" panose="02070309020205020404" pitchFamily="49" charset="0"/>
                <a:cs typeface="Courier New" panose="02070309020205020404" pitchFamily="49" charset="0"/>
              </a:rPr>
              <a:t>else</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return</a:t>
            </a:r>
            <a:r>
              <a:rPr lang="en-US" sz="1400" dirty="0">
                <a:latin typeface="Courier New" panose="02070309020205020404" pitchFamily="49" charset="0"/>
                <a:cs typeface="Courier New" panose="02070309020205020404" pitchFamily="49" charset="0"/>
              </a:rPr>
              <a:t> mid;</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return</a:t>
            </a:r>
            <a:r>
              <a:rPr lang="en-US" sz="1400" dirty="0">
                <a:latin typeface="Courier New" panose="02070309020205020404" pitchFamily="49" charset="0"/>
                <a:cs typeface="Courier New" panose="02070309020205020404" pitchFamily="49" charset="0"/>
              </a:rPr>
              <a:t> -1; </a:t>
            </a:r>
            <a:r>
              <a:rPr lang="en-US" sz="1400" b="1" dirty="0">
                <a:solidFill>
                  <a:srgbClr val="00B050"/>
                </a:solidFill>
                <a:latin typeface="Courier New" panose="02070309020205020404" pitchFamily="49" charset="0"/>
                <a:cs typeface="Courier New" panose="02070309020205020404" pitchFamily="49" charset="0"/>
              </a:rPr>
              <a:t>// target number doesn’t exist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27476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Binary Search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380010" y="3204593"/>
            <a:ext cx="8372212" cy="1325461"/>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71976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10</a:t>
            </a:r>
          </a:p>
        </p:txBody>
      </p:sp>
      <p:sp>
        <p:nvSpPr>
          <p:cNvPr id="8" name="Rectangle: Rounded Corners 7">
            <a:extLst>
              <a:ext uri="{FF2B5EF4-FFF2-40B4-BE49-F238E27FC236}">
                <a16:creationId xmlns:a16="http://schemas.microsoft.com/office/drawing/2014/main" id="{4062C34C-7660-DD0D-1AD8-827AC9608DBF}"/>
              </a:ext>
            </a:extLst>
          </p:cNvPr>
          <p:cNvSpPr/>
          <p:nvPr/>
        </p:nvSpPr>
        <p:spPr>
          <a:xfrm>
            <a:off x="159221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15</a:t>
            </a:r>
          </a:p>
        </p:txBody>
      </p:sp>
      <p:sp>
        <p:nvSpPr>
          <p:cNvPr id="9" name="Rectangle: Rounded Corners 8">
            <a:extLst>
              <a:ext uri="{FF2B5EF4-FFF2-40B4-BE49-F238E27FC236}">
                <a16:creationId xmlns:a16="http://schemas.microsoft.com/office/drawing/2014/main" id="{4E49746E-ADB4-4361-119F-199F4AC1EF89}"/>
              </a:ext>
            </a:extLst>
          </p:cNvPr>
          <p:cNvSpPr/>
          <p:nvPr/>
        </p:nvSpPr>
        <p:spPr>
          <a:xfrm>
            <a:off x="246467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19</a:t>
            </a:r>
          </a:p>
        </p:txBody>
      </p:sp>
      <p:sp>
        <p:nvSpPr>
          <p:cNvPr id="10" name="Rectangle: Rounded Corners 9">
            <a:extLst>
              <a:ext uri="{FF2B5EF4-FFF2-40B4-BE49-F238E27FC236}">
                <a16:creationId xmlns:a16="http://schemas.microsoft.com/office/drawing/2014/main" id="{680D5B45-9F4A-2780-3893-A51B9AE0247B}"/>
              </a:ext>
            </a:extLst>
          </p:cNvPr>
          <p:cNvSpPr/>
          <p:nvPr/>
        </p:nvSpPr>
        <p:spPr>
          <a:xfrm>
            <a:off x="333712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23</a:t>
            </a:r>
          </a:p>
        </p:txBody>
      </p:sp>
      <p:sp>
        <p:nvSpPr>
          <p:cNvPr id="11" name="Rectangle: Rounded Corners 10">
            <a:extLst>
              <a:ext uri="{FF2B5EF4-FFF2-40B4-BE49-F238E27FC236}">
                <a16:creationId xmlns:a16="http://schemas.microsoft.com/office/drawing/2014/main" id="{2F370C9A-344E-3386-3EAB-7D0B1C28F4C9}"/>
              </a:ext>
            </a:extLst>
          </p:cNvPr>
          <p:cNvSpPr/>
          <p:nvPr/>
        </p:nvSpPr>
        <p:spPr>
          <a:xfrm>
            <a:off x="420958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28</a:t>
            </a:r>
          </a:p>
        </p:txBody>
      </p:sp>
      <p:sp>
        <p:nvSpPr>
          <p:cNvPr id="12" name="Rectangle: Rounded Corners 11">
            <a:extLst>
              <a:ext uri="{FF2B5EF4-FFF2-40B4-BE49-F238E27FC236}">
                <a16:creationId xmlns:a16="http://schemas.microsoft.com/office/drawing/2014/main" id="{6805E105-159C-261A-B820-3DB75A5DFA44}"/>
              </a:ext>
            </a:extLst>
          </p:cNvPr>
          <p:cNvSpPr/>
          <p:nvPr/>
        </p:nvSpPr>
        <p:spPr>
          <a:xfrm>
            <a:off x="508203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35</a:t>
            </a:r>
          </a:p>
        </p:txBody>
      </p:sp>
      <p:sp>
        <p:nvSpPr>
          <p:cNvPr id="13" name="Rectangle: Rounded Corners 12">
            <a:extLst>
              <a:ext uri="{FF2B5EF4-FFF2-40B4-BE49-F238E27FC236}">
                <a16:creationId xmlns:a16="http://schemas.microsoft.com/office/drawing/2014/main" id="{086013E1-1923-4D13-8147-584142FDC66F}"/>
              </a:ext>
            </a:extLst>
          </p:cNvPr>
          <p:cNvSpPr/>
          <p:nvPr/>
        </p:nvSpPr>
        <p:spPr>
          <a:xfrm>
            <a:off x="595449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41</a:t>
            </a:r>
          </a:p>
        </p:txBody>
      </p:sp>
      <p:sp>
        <p:nvSpPr>
          <p:cNvPr id="14" name="Rectangle: Rounded Corners 13">
            <a:extLst>
              <a:ext uri="{FF2B5EF4-FFF2-40B4-BE49-F238E27FC236}">
                <a16:creationId xmlns:a16="http://schemas.microsoft.com/office/drawing/2014/main" id="{9E5A1E3E-E07C-AAB4-9EAC-EF6323034B56}"/>
              </a:ext>
            </a:extLst>
          </p:cNvPr>
          <p:cNvSpPr/>
          <p:nvPr/>
        </p:nvSpPr>
        <p:spPr>
          <a:xfrm>
            <a:off x="682694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49</a:t>
            </a:r>
          </a:p>
        </p:txBody>
      </p:sp>
      <p:sp>
        <p:nvSpPr>
          <p:cNvPr id="15" name="Rectangle: Rounded Corners 14">
            <a:extLst>
              <a:ext uri="{FF2B5EF4-FFF2-40B4-BE49-F238E27FC236}">
                <a16:creationId xmlns:a16="http://schemas.microsoft.com/office/drawing/2014/main" id="{8DE14A9F-A316-A963-AA86-1AE91FE001FC}"/>
              </a:ext>
            </a:extLst>
          </p:cNvPr>
          <p:cNvSpPr/>
          <p:nvPr/>
        </p:nvSpPr>
        <p:spPr>
          <a:xfrm>
            <a:off x="769940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62</a:t>
            </a:r>
          </a:p>
        </p:txBody>
      </p:sp>
      <p:grpSp>
        <p:nvGrpSpPr>
          <p:cNvPr id="27" name="Group 26">
            <a:extLst>
              <a:ext uri="{FF2B5EF4-FFF2-40B4-BE49-F238E27FC236}">
                <a16:creationId xmlns:a16="http://schemas.microsoft.com/office/drawing/2014/main" id="{CF221BE1-0351-3AD8-7343-00C4C3F2EBEB}"/>
              </a:ext>
            </a:extLst>
          </p:cNvPr>
          <p:cNvGrpSpPr/>
          <p:nvPr/>
        </p:nvGrpSpPr>
        <p:grpSpPr>
          <a:xfrm>
            <a:off x="4295188" y="1965004"/>
            <a:ext cx="680956" cy="1078421"/>
            <a:chOff x="751872" y="2017117"/>
            <a:chExt cx="680956" cy="1078421"/>
          </a:xfrm>
        </p:grpSpPr>
        <p:sp>
          <p:nvSpPr>
            <p:cNvPr id="18" name="TextBox 17">
              <a:extLst>
                <a:ext uri="{FF2B5EF4-FFF2-40B4-BE49-F238E27FC236}">
                  <a16:creationId xmlns:a16="http://schemas.microsoft.com/office/drawing/2014/main" id="{FD8BE93B-E500-88AB-F7F6-CEB53CDA4677}"/>
                </a:ext>
              </a:extLst>
            </p:cNvPr>
            <p:cNvSpPr txBox="1"/>
            <p:nvPr/>
          </p:nvSpPr>
          <p:spPr>
            <a:xfrm>
              <a:off x="751872" y="2017117"/>
              <a:ext cx="680956" cy="738664"/>
            </a:xfrm>
            <a:prstGeom prst="rect">
              <a:avLst/>
            </a:prstGeom>
            <a:noFill/>
          </p:spPr>
          <p:txBody>
            <a:bodyPr wrap="none" rtlCol="0">
              <a:spAutoFit/>
            </a:bodyPr>
            <a:lstStyle/>
            <a:p>
              <a:r>
                <a:rPr lang="en-US" sz="1400" dirty="0"/>
                <a:t>Target</a:t>
              </a:r>
            </a:p>
            <a:p>
              <a:endParaRPr lang="en-US" sz="1400" dirty="0"/>
            </a:p>
            <a:p>
              <a:pPr algn="ctr"/>
              <a:r>
                <a:rPr lang="en-US" sz="1400" dirty="0"/>
                <a:t>35</a:t>
              </a:r>
            </a:p>
          </p:txBody>
        </p:sp>
        <p:cxnSp>
          <p:nvCxnSpPr>
            <p:cNvPr id="20" name="Straight Arrow Connector 19">
              <a:extLst>
                <a:ext uri="{FF2B5EF4-FFF2-40B4-BE49-F238E27FC236}">
                  <a16:creationId xmlns:a16="http://schemas.microsoft.com/office/drawing/2014/main" id="{95738061-BC2E-42AC-638E-D607B18C4E9B}"/>
                </a:ext>
              </a:extLst>
            </p:cNvPr>
            <p:cNvCxnSpPr>
              <a:cxnSpLocks/>
              <a:stCxn id="18" idx="2"/>
            </p:cNvCxnSpPr>
            <p:nvPr/>
          </p:nvCxnSpPr>
          <p:spPr>
            <a:xfrm>
              <a:off x="1092350" y="2755781"/>
              <a:ext cx="0" cy="33975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72099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42" presetClass="path" presetSubtype="0" accel="50000" decel="50000" fill="hold" nodeType="withEffect">
                                  <p:stCondLst>
                                    <p:cond delay="0"/>
                                  </p:stCondLst>
                                  <p:childTnLst>
                                    <p:animMotion origin="layout" path="M -0.38663 0.00023 L -4.44444E-6 3.7037E-6 " pathEditMode="relative" rAng="0" ptsTypes="AA">
                                      <p:cBhvr>
                                        <p:cTn id="8" dur="2000" fill="hold"/>
                                        <p:tgtEl>
                                          <p:spTgt spid="27"/>
                                        </p:tgtEl>
                                        <p:attrNameLst>
                                          <p:attrName>ppt_x</p:attrName>
                                          <p:attrName>ppt_y</p:attrName>
                                        </p:attrNameLst>
                                      </p:cBhvr>
                                      <p:rCtr x="19323" y="-23"/>
                                    </p:animMotion>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500" fill="hold"/>
                                        <p:tgtEl>
                                          <p:spTgt spid="7"/>
                                        </p:tgtEl>
                                        <p:attrNameLst>
                                          <p:attrName>fillcolor</p:attrName>
                                        </p:attrNameLst>
                                      </p:cBhvr>
                                      <p:to>
                                        <a:schemeClr val="accent2"/>
                                      </p:to>
                                    </p:animClr>
                                    <p:set>
                                      <p:cBhvr>
                                        <p:cTn id="13" dur="500" fill="hold"/>
                                        <p:tgtEl>
                                          <p:spTgt spid="7"/>
                                        </p:tgtEl>
                                        <p:attrNameLst>
                                          <p:attrName>fill.type</p:attrName>
                                        </p:attrNameLst>
                                      </p:cBhvr>
                                      <p:to>
                                        <p:strVal val="solid"/>
                                      </p:to>
                                    </p:set>
                                    <p:set>
                                      <p:cBhvr>
                                        <p:cTn id="14" dur="500" fill="hold"/>
                                        <p:tgtEl>
                                          <p:spTgt spid="7"/>
                                        </p:tgtEl>
                                        <p:attrNameLst>
                                          <p:attrName>fill.on</p:attrName>
                                        </p:attrNameLst>
                                      </p:cBhvr>
                                      <p:to>
                                        <p:strVal val="true"/>
                                      </p:to>
                                    </p:set>
                                  </p:childTnLst>
                                </p:cTn>
                              </p:par>
                              <p:par>
                                <p:cTn id="15" presetID="1" presetClass="emph" presetSubtype="2" fill="hold" nodeType="withEffect">
                                  <p:stCondLst>
                                    <p:cond delay="0"/>
                                  </p:stCondLst>
                                  <p:childTnLst>
                                    <p:animClr clrSpc="rgb" dir="cw">
                                      <p:cBhvr>
                                        <p:cTn id="16" dur="500" fill="hold"/>
                                        <p:tgtEl>
                                          <p:spTgt spid="8"/>
                                        </p:tgtEl>
                                        <p:attrNameLst>
                                          <p:attrName>fillcolor</p:attrName>
                                        </p:attrNameLst>
                                      </p:cBhvr>
                                      <p:to>
                                        <a:schemeClr val="accent2"/>
                                      </p:to>
                                    </p:animClr>
                                    <p:set>
                                      <p:cBhvr>
                                        <p:cTn id="17" dur="500" fill="hold"/>
                                        <p:tgtEl>
                                          <p:spTgt spid="8"/>
                                        </p:tgtEl>
                                        <p:attrNameLst>
                                          <p:attrName>fill.type</p:attrName>
                                        </p:attrNameLst>
                                      </p:cBhvr>
                                      <p:to>
                                        <p:strVal val="solid"/>
                                      </p:to>
                                    </p:set>
                                    <p:set>
                                      <p:cBhvr>
                                        <p:cTn id="18" dur="500" fill="hold"/>
                                        <p:tgtEl>
                                          <p:spTgt spid="8"/>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500" fill="hold"/>
                                        <p:tgtEl>
                                          <p:spTgt spid="9"/>
                                        </p:tgtEl>
                                        <p:attrNameLst>
                                          <p:attrName>fillcolor</p:attrName>
                                        </p:attrNameLst>
                                      </p:cBhvr>
                                      <p:to>
                                        <a:schemeClr val="accent2"/>
                                      </p:to>
                                    </p:animClr>
                                    <p:set>
                                      <p:cBhvr>
                                        <p:cTn id="21" dur="500" fill="hold"/>
                                        <p:tgtEl>
                                          <p:spTgt spid="9"/>
                                        </p:tgtEl>
                                        <p:attrNameLst>
                                          <p:attrName>fill.type</p:attrName>
                                        </p:attrNameLst>
                                      </p:cBhvr>
                                      <p:to>
                                        <p:strVal val="solid"/>
                                      </p:to>
                                    </p:set>
                                    <p:set>
                                      <p:cBhvr>
                                        <p:cTn id="22" dur="500" fill="hold"/>
                                        <p:tgtEl>
                                          <p:spTgt spid="9"/>
                                        </p:tgtEl>
                                        <p:attrNameLst>
                                          <p:attrName>fill.on</p:attrName>
                                        </p:attrNameLst>
                                      </p:cBhvr>
                                      <p:to>
                                        <p:strVal val="true"/>
                                      </p:to>
                                    </p:set>
                                  </p:childTnLst>
                                </p:cTn>
                              </p:par>
                              <p:par>
                                <p:cTn id="23" presetID="1" presetClass="emph" presetSubtype="2" fill="hold" nodeType="withEffect">
                                  <p:stCondLst>
                                    <p:cond delay="0"/>
                                  </p:stCondLst>
                                  <p:childTnLst>
                                    <p:animClr clrSpc="rgb" dir="cw">
                                      <p:cBhvr>
                                        <p:cTn id="24" dur="500" fill="hold"/>
                                        <p:tgtEl>
                                          <p:spTgt spid="10"/>
                                        </p:tgtEl>
                                        <p:attrNameLst>
                                          <p:attrName>fillcolor</p:attrName>
                                        </p:attrNameLst>
                                      </p:cBhvr>
                                      <p:to>
                                        <a:schemeClr val="accent2"/>
                                      </p:to>
                                    </p:animClr>
                                    <p:set>
                                      <p:cBhvr>
                                        <p:cTn id="25" dur="500" fill="hold"/>
                                        <p:tgtEl>
                                          <p:spTgt spid="10"/>
                                        </p:tgtEl>
                                        <p:attrNameLst>
                                          <p:attrName>fill.type</p:attrName>
                                        </p:attrNameLst>
                                      </p:cBhvr>
                                      <p:to>
                                        <p:strVal val="solid"/>
                                      </p:to>
                                    </p:set>
                                    <p:set>
                                      <p:cBhvr>
                                        <p:cTn id="26" dur="500" fill="hold"/>
                                        <p:tgtEl>
                                          <p:spTgt spid="10"/>
                                        </p:tgtEl>
                                        <p:attrNameLst>
                                          <p:attrName>fill.on</p:attrName>
                                        </p:attrNameLst>
                                      </p:cBhvr>
                                      <p:to>
                                        <p:strVal val="true"/>
                                      </p:to>
                                    </p:set>
                                  </p:childTnLst>
                                </p:cTn>
                              </p:par>
                              <p:par>
                                <p:cTn id="27" presetID="1" presetClass="emph" presetSubtype="2" fill="hold" nodeType="withEffect">
                                  <p:stCondLst>
                                    <p:cond delay="0"/>
                                  </p:stCondLst>
                                  <p:childTnLst>
                                    <p:animClr clrSpc="rgb" dir="cw">
                                      <p:cBhvr>
                                        <p:cTn id="28" dur="500" fill="hold"/>
                                        <p:tgtEl>
                                          <p:spTgt spid="11"/>
                                        </p:tgtEl>
                                        <p:attrNameLst>
                                          <p:attrName>fillcolor</p:attrName>
                                        </p:attrNameLst>
                                      </p:cBhvr>
                                      <p:to>
                                        <a:schemeClr val="accent2"/>
                                      </p:to>
                                    </p:animClr>
                                    <p:set>
                                      <p:cBhvr>
                                        <p:cTn id="29" dur="500" fill="hold"/>
                                        <p:tgtEl>
                                          <p:spTgt spid="11"/>
                                        </p:tgtEl>
                                        <p:attrNameLst>
                                          <p:attrName>fill.type</p:attrName>
                                        </p:attrNameLst>
                                      </p:cBhvr>
                                      <p:to>
                                        <p:strVal val="solid"/>
                                      </p:to>
                                    </p:set>
                                    <p:set>
                                      <p:cBhvr>
                                        <p:cTn id="30" dur="500" fill="hold"/>
                                        <p:tgtEl>
                                          <p:spTgt spid="11"/>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4.44444E-6 -0.0007 L 0.18264 -0.00255 " pathEditMode="relative" rAng="0" ptsTypes="AA">
                                      <p:cBhvr>
                                        <p:cTn id="34" dur="1250" fill="hold"/>
                                        <p:tgtEl>
                                          <p:spTgt spid="27"/>
                                        </p:tgtEl>
                                        <p:attrNameLst>
                                          <p:attrName>ppt_x</p:attrName>
                                          <p:attrName>ppt_y</p:attrName>
                                        </p:attrNameLst>
                                      </p:cBhvr>
                                      <p:rCtr x="9132" y="-93"/>
                                    </p:animMotion>
                                  </p:childTnLst>
                                </p:cTn>
                              </p:par>
                            </p:childTnLst>
                          </p:cTn>
                        </p:par>
                        <p:par>
                          <p:cTn id="35" fill="hold">
                            <p:stCondLst>
                              <p:cond delay="1250"/>
                            </p:stCondLst>
                            <p:childTnLst>
                              <p:par>
                                <p:cTn id="36" presetID="1" presetClass="emph" presetSubtype="2" fill="hold" nodeType="afterEffect">
                                  <p:stCondLst>
                                    <p:cond delay="0"/>
                                  </p:stCondLst>
                                  <p:childTnLst>
                                    <p:animClr clrSpc="rgb" dir="cw">
                                      <p:cBhvr>
                                        <p:cTn id="37" dur="500" fill="hold"/>
                                        <p:tgtEl>
                                          <p:spTgt spid="13"/>
                                        </p:tgtEl>
                                        <p:attrNameLst>
                                          <p:attrName>fillcolor</p:attrName>
                                        </p:attrNameLst>
                                      </p:cBhvr>
                                      <p:to>
                                        <a:schemeClr val="accent2"/>
                                      </p:to>
                                    </p:animClr>
                                    <p:set>
                                      <p:cBhvr>
                                        <p:cTn id="38" dur="500" fill="hold"/>
                                        <p:tgtEl>
                                          <p:spTgt spid="13"/>
                                        </p:tgtEl>
                                        <p:attrNameLst>
                                          <p:attrName>fill.type</p:attrName>
                                        </p:attrNameLst>
                                      </p:cBhvr>
                                      <p:to>
                                        <p:strVal val="solid"/>
                                      </p:to>
                                    </p:set>
                                    <p:set>
                                      <p:cBhvr>
                                        <p:cTn id="39" dur="500" fill="hold"/>
                                        <p:tgtEl>
                                          <p:spTgt spid="13"/>
                                        </p:tgtEl>
                                        <p:attrNameLst>
                                          <p:attrName>fill.on</p:attrName>
                                        </p:attrNameLst>
                                      </p:cBhvr>
                                      <p:to>
                                        <p:strVal val="true"/>
                                      </p:to>
                                    </p:set>
                                  </p:childTnLst>
                                </p:cTn>
                              </p:par>
                              <p:par>
                                <p:cTn id="40" presetID="1" presetClass="emph" presetSubtype="2" fill="hold" nodeType="withEffect">
                                  <p:stCondLst>
                                    <p:cond delay="0"/>
                                  </p:stCondLst>
                                  <p:childTnLst>
                                    <p:animClr clrSpc="rgb" dir="cw">
                                      <p:cBhvr>
                                        <p:cTn id="41" dur="500" fill="hold"/>
                                        <p:tgtEl>
                                          <p:spTgt spid="14"/>
                                        </p:tgtEl>
                                        <p:attrNameLst>
                                          <p:attrName>fillcolor</p:attrName>
                                        </p:attrNameLst>
                                      </p:cBhvr>
                                      <p:to>
                                        <a:schemeClr val="accent2"/>
                                      </p:to>
                                    </p:animClr>
                                    <p:set>
                                      <p:cBhvr>
                                        <p:cTn id="42" dur="500" fill="hold"/>
                                        <p:tgtEl>
                                          <p:spTgt spid="14"/>
                                        </p:tgtEl>
                                        <p:attrNameLst>
                                          <p:attrName>fill.type</p:attrName>
                                        </p:attrNameLst>
                                      </p:cBhvr>
                                      <p:to>
                                        <p:strVal val="solid"/>
                                      </p:to>
                                    </p:set>
                                    <p:set>
                                      <p:cBhvr>
                                        <p:cTn id="43" dur="500" fill="hold"/>
                                        <p:tgtEl>
                                          <p:spTgt spid="14"/>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500" fill="hold"/>
                                        <p:tgtEl>
                                          <p:spTgt spid="15"/>
                                        </p:tgtEl>
                                        <p:attrNameLst>
                                          <p:attrName>fillcolor</p:attrName>
                                        </p:attrNameLst>
                                      </p:cBhvr>
                                      <p:to>
                                        <a:schemeClr val="accent2"/>
                                      </p:to>
                                    </p:animClr>
                                    <p:set>
                                      <p:cBhvr>
                                        <p:cTn id="46" dur="500" fill="hold"/>
                                        <p:tgtEl>
                                          <p:spTgt spid="15"/>
                                        </p:tgtEl>
                                        <p:attrNameLst>
                                          <p:attrName>fill.type</p:attrName>
                                        </p:attrNameLst>
                                      </p:cBhvr>
                                      <p:to>
                                        <p:strVal val="solid"/>
                                      </p:to>
                                    </p:set>
                                    <p:set>
                                      <p:cBhvr>
                                        <p:cTn id="47" dur="500" fill="hold"/>
                                        <p:tgtEl>
                                          <p:spTgt spid="15"/>
                                        </p:tgtEl>
                                        <p:attrNameLst>
                                          <p:attrName>fill.on</p:attrName>
                                        </p:attrNameLst>
                                      </p:cBhvr>
                                      <p:to>
                                        <p:strVal val="true"/>
                                      </p:to>
                                    </p:set>
                                  </p:childTnLst>
                                </p:cTn>
                              </p:par>
                            </p:childTnLst>
                          </p:cTn>
                        </p:par>
                      </p:childTnLst>
                    </p:cTn>
                  </p:par>
                  <p:par>
                    <p:cTn id="48" fill="hold">
                      <p:stCondLst>
                        <p:cond delay="indefinite"/>
                      </p:stCondLst>
                      <p:childTnLst>
                        <p:par>
                          <p:cTn id="49" fill="hold">
                            <p:stCondLst>
                              <p:cond delay="0"/>
                            </p:stCondLst>
                            <p:childTnLst>
                              <p:par>
                                <p:cTn id="50" presetID="35" presetClass="path" presetSubtype="0" accel="50000" decel="50000" fill="hold" nodeType="clickEffect">
                                  <p:stCondLst>
                                    <p:cond delay="0"/>
                                  </p:stCondLst>
                                  <p:childTnLst>
                                    <p:animMotion origin="layout" path="M 0.18264 -0.00255 L 0.08855 -0.00162 " pathEditMode="relative" rAng="0" ptsTypes="AA">
                                      <p:cBhvr>
                                        <p:cTn id="51" dur="1250" fill="hold"/>
                                        <p:tgtEl>
                                          <p:spTgt spid="27"/>
                                        </p:tgtEl>
                                        <p:attrNameLst>
                                          <p:attrName>ppt_x</p:attrName>
                                          <p:attrName>ppt_y</p:attrName>
                                        </p:attrNameLst>
                                      </p:cBhvr>
                                      <p:rCtr x="-4705" y="46"/>
                                    </p:animMotion>
                                  </p:childTnLst>
                                </p:cTn>
                              </p:par>
                            </p:childTnLst>
                          </p:cTn>
                        </p:par>
                        <p:par>
                          <p:cTn id="52" fill="hold">
                            <p:stCondLst>
                              <p:cond delay="1250"/>
                            </p:stCondLst>
                            <p:childTnLst>
                              <p:par>
                                <p:cTn id="53" presetID="1" presetClass="emph" presetSubtype="2" fill="hold" nodeType="afterEffect">
                                  <p:stCondLst>
                                    <p:cond delay="0"/>
                                  </p:stCondLst>
                                  <p:childTnLst>
                                    <p:animClr clrSpc="rgb" dir="cw">
                                      <p:cBhvr>
                                        <p:cTn id="54" dur="500" fill="hold"/>
                                        <p:tgtEl>
                                          <p:spTgt spid="12"/>
                                        </p:tgtEl>
                                        <p:attrNameLst>
                                          <p:attrName>fillcolor</p:attrName>
                                        </p:attrNameLst>
                                      </p:cBhvr>
                                      <p:to>
                                        <a:srgbClr val="92D050"/>
                                      </p:to>
                                    </p:animClr>
                                    <p:set>
                                      <p:cBhvr>
                                        <p:cTn id="55" dur="500" fill="hold"/>
                                        <p:tgtEl>
                                          <p:spTgt spid="12"/>
                                        </p:tgtEl>
                                        <p:attrNameLst>
                                          <p:attrName>fill.type</p:attrName>
                                        </p:attrNameLst>
                                      </p:cBhvr>
                                      <p:to>
                                        <p:strVal val="solid"/>
                                      </p:to>
                                    </p:set>
                                    <p:set>
                                      <p:cBhvr>
                                        <p:cTn id="56" dur="5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024A2A-F7B6-4638-BF65-EA4E49002D3D}"/>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
        <p:nvSpPr>
          <p:cNvPr id="8" name="Content Placeholder 7">
            <a:extLst>
              <a:ext uri="{FF2B5EF4-FFF2-40B4-BE49-F238E27FC236}">
                <a16:creationId xmlns:a16="http://schemas.microsoft.com/office/drawing/2014/main" id="{17F952FD-B524-449D-BCA9-02674D0411D5}"/>
              </a:ext>
            </a:extLst>
          </p:cNvPr>
          <p:cNvSpPr>
            <a:spLocks noGrp="1"/>
          </p:cNvSpPr>
          <p:nvPr>
            <p:ph sz="quarter" idx="13"/>
          </p:nvPr>
        </p:nvSpPr>
        <p:spPr>
          <a:xfrm>
            <a:off x="157928" y="1795244"/>
            <a:ext cx="8826500" cy="3925564"/>
          </a:xfrm>
        </p:spPr>
        <p:txBody>
          <a:bodyPr>
            <a:normAutofit/>
          </a:bodyPr>
          <a:lstStyle/>
          <a:p>
            <a:pPr algn="ctr"/>
            <a:r>
              <a:rPr lang="en-US" sz="8800" dirty="0"/>
              <a:t>Iterative Sort</a:t>
            </a:r>
          </a:p>
        </p:txBody>
      </p:sp>
    </p:spTree>
    <p:extLst>
      <p:ext uri="{BB962C8B-B14F-4D97-AF65-F5344CB8AC3E}">
        <p14:creationId xmlns:p14="http://schemas.microsoft.com/office/powerpoint/2010/main" val="6316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Swapping Elements</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a:xfrm>
            <a:off x="380009" y="1379089"/>
            <a:ext cx="8383980" cy="1962762"/>
          </a:xfrm>
        </p:spPr>
        <p:txBody>
          <a:bodyPr>
            <a:normAutofit/>
          </a:bodyPr>
          <a:lstStyle/>
          <a:p>
            <a:r>
              <a:rPr lang="en-US" dirty="0"/>
              <a:t>When sorting data in any programming language, a ‘swap’ is a typical algorithm to perform and is often performed multiple times as elements are moved into order.</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
        <p:nvSpPr>
          <p:cNvPr id="5" name="Google Shape;219;p16">
            <a:extLst>
              <a:ext uri="{FF2B5EF4-FFF2-40B4-BE49-F238E27FC236}">
                <a16:creationId xmlns:a16="http://schemas.microsoft.com/office/drawing/2014/main" id="{1A110E6A-8F27-1F18-747D-6DC7B7DA1821}"/>
              </a:ext>
            </a:extLst>
          </p:cNvPr>
          <p:cNvSpPr txBox="1">
            <a:spLocks/>
          </p:cNvSpPr>
          <p:nvPr/>
        </p:nvSpPr>
        <p:spPr>
          <a:xfrm>
            <a:off x="1529951" y="3871400"/>
            <a:ext cx="6084096" cy="1962762"/>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00B050"/>
                </a:solidFill>
                <a:latin typeface="Courier New" panose="02070309020205020404" pitchFamily="49" charset="0"/>
                <a:cs typeface="Courier New" panose="02070309020205020404" pitchFamily="49" charset="0"/>
              </a:rPr>
              <a:t>/* Swap position of two indexes of an array */</a:t>
            </a:r>
          </a:p>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void</a:t>
            </a:r>
            <a:r>
              <a:rPr lang="en-US" sz="1400" dirty="0">
                <a:solidFill>
                  <a:schemeClr val="tx1"/>
                </a:solidFill>
                <a:latin typeface="Courier New" panose="02070309020205020404" pitchFamily="49" charset="0"/>
                <a:cs typeface="Courier New" panose="02070309020205020404" pitchFamily="49" charset="0"/>
              </a:rPr>
              <a:t> swap (Object[]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 int </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 int </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Object temp =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 =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 = temp;</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74076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Swap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25</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2194560" y="3282170"/>
            <a:ext cx="4625835" cy="2759695"/>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38" name="Google Shape;219;p16">
            <a:extLst>
              <a:ext uri="{FF2B5EF4-FFF2-40B4-BE49-F238E27FC236}">
                <a16:creationId xmlns:a16="http://schemas.microsoft.com/office/drawing/2014/main" id="{93F3D00C-3C40-D778-7C89-658FFC35892D}"/>
              </a:ext>
            </a:extLst>
          </p:cNvPr>
          <p:cNvSpPr txBox="1">
            <a:spLocks/>
          </p:cNvSpPr>
          <p:nvPr/>
        </p:nvSpPr>
        <p:spPr>
          <a:xfrm>
            <a:off x="1890248" y="1633401"/>
            <a:ext cx="5234457" cy="1224149"/>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fontScale="85000" lnSpcReduction="1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void</a:t>
            </a:r>
            <a:r>
              <a:rPr lang="en-US" sz="1400" b="1" dirty="0">
                <a:solidFill>
                  <a:schemeClr val="tx1"/>
                </a:solidFill>
                <a:latin typeface="Courier New" panose="02070309020205020404" pitchFamily="49" charset="0"/>
                <a:cs typeface="Courier New" panose="02070309020205020404" pitchFamily="49" charset="0"/>
              </a:rPr>
              <a:t> </a:t>
            </a:r>
            <a:r>
              <a:rPr lang="en-US" sz="1400" dirty="0">
                <a:solidFill>
                  <a:schemeClr val="tx1"/>
                </a:solidFill>
                <a:latin typeface="Courier New" panose="02070309020205020404" pitchFamily="49" charset="0"/>
                <a:cs typeface="Courier New" panose="02070309020205020404" pitchFamily="49" charset="0"/>
              </a:rPr>
              <a:t>swap (Object[]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 int </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 int </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Object temp =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 =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 = temp;</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a:t>
            </a:r>
          </a:p>
        </p:txBody>
      </p:sp>
      <p:grpSp>
        <p:nvGrpSpPr>
          <p:cNvPr id="43" name="Group 42">
            <a:extLst>
              <a:ext uri="{FF2B5EF4-FFF2-40B4-BE49-F238E27FC236}">
                <a16:creationId xmlns:a16="http://schemas.microsoft.com/office/drawing/2014/main" id="{DA5C04CE-2C5A-DAD7-29ED-2D4C407268D2}"/>
              </a:ext>
            </a:extLst>
          </p:cNvPr>
          <p:cNvGrpSpPr/>
          <p:nvPr/>
        </p:nvGrpSpPr>
        <p:grpSpPr>
          <a:xfrm>
            <a:off x="3071026" y="4602770"/>
            <a:ext cx="1456868" cy="1015284"/>
            <a:chOff x="2853312" y="4152509"/>
            <a:chExt cx="1456868" cy="1015284"/>
          </a:xfrm>
        </p:grpSpPr>
        <p:sp>
          <p:nvSpPr>
            <p:cNvPr id="14" name="Rectangle: Rounded Corners 13">
              <a:extLst>
                <a:ext uri="{FF2B5EF4-FFF2-40B4-BE49-F238E27FC236}">
                  <a16:creationId xmlns:a16="http://schemas.microsoft.com/office/drawing/2014/main" id="{9E5A1E3E-E07C-AAB4-9EAC-EF6323034B56}"/>
                </a:ext>
              </a:extLst>
            </p:cNvPr>
            <p:cNvSpPr/>
            <p:nvPr/>
          </p:nvSpPr>
          <p:spPr>
            <a:xfrm>
              <a:off x="3225214" y="4521841"/>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
          <p:nvSpPr>
            <p:cNvPr id="40" name="TextBox 39">
              <a:extLst>
                <a:ext uri="{FF2B5EF4-FFF2-40B4-BE49-F238E27FC236}">
                  <a16:creationId xmlns:a16="http://schemas.microsoft.com/office/drawing/2014/main" id="{5057A3FC-1393-1362-6FF9-E66365C3EEFC}"/>
                </a:ext>
              </a:extLst>
            </p:cNvPr>
            <p:cNvSpPr txBox="1"/>
            <p:nvPr/>
          </p:nvSpPr>
          <p:spPr>
            <a:xfrm>
              <a:off x="2853312" y="4152509"/>
              <a:ext cx="1456868" cy="276999"/>
            </a:xfrm>
            <a:prstGeom prst="rect">
              <a:avLst/>
            </a:prstGeom>
            <a:noFill/>
          </p:spPr>
          <p:txBody>
            <a:bodyPr wrap="square" rtlCol="0">
              <a:spAutoFit/>
            </a:bodyPr>
            <a:lstStyle/>
            <a:p>
              <a:pPr algn="ctr"/>
              <a:endParaRPr lang="en-US" sz="1200" dirty="0"/>
            </a:p>
          </p:txBody>
        </p:sp>
      </p:grpSp>
      <p:grpSp>
        <p:nvGrpSpPr>
          <p:cNvPr id="45" name="Group 44">
            <a:extLst>
              <a:ext uri="{FF2B5EF4-FFF2-40B4-BE49-F238E27FC236}">
                <a16:creationId xmlns:a16="http://schemas.microsoft.com/office/drawing/2014/main" id="{71377B34-CE8C-495E-19C7-899256EF83F6}"/>
              </a:ext>
            </a:extLst>
          </p:cNvPr>
          <p:cNvGrpSpPr/>
          <p:nvPr/>
        </p:nvGrpSpPr>
        <p:grpSpPr>
          <a:xfrm>
            <a:off x="3071026" y="3359666"/>
            <a:ext cx="1456868" cy="1015284"/>
            <a:chOff x="2853312" y="4152509"/>
            <a:chExt cx="1456868" cy="1015284"/>
          </a:xfrm>
        </p:grpSpPr>
        <p:sp>
          <p:nvSpPr>
            <p:cNvPr id="46" name="Rectangle: Rounded Corners 45">
              <a:extLst>
                <a:ext uri="{FF2B5EF4-FFF2-40B4-BE49-F238E27FC236}">
                  <a16:creationId xmlns:a16="http://schemas.microsoft.com/office/drawing/2014/main" id="{1E9A8BCE-0630-2B41-D49A-8B51D7FE1C22}"/>
                </a:ext>
              </a:extLst>
            </p:cNvPr>
            <p:cNvSpPr/>
            <p:nvPr/>
          </p:nvSpPr>
          <p:spPr>
            <a:xfrm>
              <a:off x="3225214" y="4521841"/>
              <a:ext cx="713065" cy="645952"/>
            </a:xfrm>
            <a:prstGeom prst="roundRect">
              <a:avLst/>
            </a:prstGeom>
            <a:solidFill>
              <a:schemeClr val="bg1"/>
            </a:solidFill>
            <a:ln w="38100" cap="flat" cmpd="sng" algn="ctr">
              <a:solidFill>
                <a:schemeClr val="accent3"/>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
          <p:nvSpPr>
            <p:cNvPr id="47" name="TextBox 46">
              <a:extLst>
                <a:ext uri="{FF2B5EF4-FFF2-40B4-BE49-F238E27FC236}">
                  <a16:creationId xmlns:a16="http://schemas.microsoft.com/office/drawing/2014/main" id="{F219E82E-E5EE-A027-A1FA-1A51C72A1D7F}"/>
                </a:ext>
              </a:extLst>
            </p:cNvPr>
            <p:cNvSpPr txBox="1"/>
            <p:nvPr/>
          </p:nvSpPr>
          <p:spPr>
            <a:xfrm>
              <a:off x="2853312" y="4152509"/>
              <a:ext cx="1456868" cy="276999"/>
            </a:xfrm>
            <a:prstGeom prst="rect">
              <a:avLst/>
            </a:prstGeom>
            <a:noFill/>
          </p:spPr>
          <p:txBody>
            <a:bodyPr wrap="square" rtlCol="0">
              <a:spAutoFit/>
            </a:bodyPr>
            <a:lstStyle/>
            <a:p>
              <a:pPr algn="ctr"/>
              <a:r>
                <a:rPr lang="en-US" sz="1200" dirty="0"/>
                <a:t>Temp</a:t>
              </a:r>
            </a:p>
          </p:txBody>
        </p:sp>
      </p:grpSp>
      <p:grpSp>
        <p:nvGrpSpPr>
          <p:cNvPr id="48" name="Group 47">
            <a:extLst>
              <a:ext uri="{FF2B5EF4-FFF2-40B4-BE49-F238E27FC236}">
                <a16:creationId xmlns:a16="http://schemas.microsoft.com/office/drawing/2014/main" id="{10CDE299-403A-6A12-83B2-6D7B7A66F9DB}"/>
              </a:ext>
            </a:extLst>
          </p:cNvPr>
          <p:cNvGrpSpPr/>
          <p:nvPr/>
        </p:nvGrpSpPr>
        <p:grpSpPr>
          <a:xfrm>
            <a:off x="3071026" y="4611624"/>
            <a:ext cx="1456868" cy="1015284"/>
            <a:chOff x="2853312" y="4152509"/>
            <a:chExt cx="1456868" cy="1015284"/>
          </a:xfrm>
        </p:grpSpPr>
        <p:sp>
          <p:nvSpPr>
            <p:cNvPr id="49" name="Rectangle: Rounded Corners 48">
              <a:extLst>
                <a:ext uri="{FF2B5EF4-FFF2-40B4-BE49-F238E27FC236}">
                  <a16:creationId xmlns:a16="http://schemas.microsoft.com/office/drawing/2014/main" id="{86172AA9-06A9-8104-C64B-301022A0E7F6}"/>
                </a:ext>
              </a:extLst>
            </p:cNvPr>
            <p:cNvSpPr/>
            <p:nvPr/>
          </p:nvSpPr>
          <p:spPr>
            <a:xfrm>
              <a:off x="3225214" y="4521841"/>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
          <p:nvSpPr>
            <p:cNvPr id="50" name="TextBox 49">
              <a:extLst>
                <a:ext uri="{FF2B5EF4-FFF2-40B4-BE49-F238E27FC236}">
                  <a16:creationId xmlns:a16="http://schemas.microsoft.com/office/drawing/2014/main" id="{2081BECC-B486-A18C-73C0-EDD0D9A31E78}"/>
                </a:ext>
              </a:extLst>
            </p:cNvPr>
            <p:cNvSpPr txBox="1"/>
            <p:nvPr/>
          </p:nvSpPr>
          <p:spPr>
            <a:xfrm>
              <a:off x="2853312" y="4152509"/>
              <a:ext cx="1456868" cy="276999"/>
            </a:xfrm>
            <a:prstGeom prst="rect">
              <a:avLst/>
            </a:prstGeom>
            <a:noFill/>
          </p:spPr>
          <p:txBody>
            <a:bodyPr wrap="square" rtlCol="0">
              <a:spAutoFit/>
            </a:bodyPr>
            <a:lstStyle/>
            <a:p>
              <a:pPr algn="ctr"/>
              <a:r>
                <a:rPr lang="en-US" sz="1200" dirty="0" err="1"/>
                <a:t>arr</a:t>
              </a:r>
              <a:r>
                <a:rPr lang="en-US" sz="1200" dirty="0"/>
                <a:t>[</a:t>
              </a:r>
              <a:r>
                <a:rPr lang="en-US" sz="1200" dirty="0" err="1"/>
                <a:t>l_index</a:t>
              </a:r>
              <a:r>
                <a:rPr lang="en-US" sz="1200" dirty="0"/>
                <a:t>]</a:t>
              </a:r>
            </a:p>
          </p:txBody>
        </p:sp>
      </p:grpSp>
      <p:sp>
        <p:nvSpPr>
          <p:cNvPr id="55" name="Rectangle: Rounded Corners 54">
            <a:extLst>
              <a:ext uri="{FF2B5EF4-FFF2-40B4-BE49-F238E27FC236}">
                <a16:creationId xmlns:a16="http://schemas.microsoft.com/office/drawing/2014/main" id="{CBF39BF9-D41C-1DD3-DEA6-DA2FE2B23977}"/>
              </a:ext>
            </a:extLst>
          </p:cNvPr>
          <p:cNvSpPr/>
          <p:nvPr/>
        </p:nvSpPr>
        <p:spPr>
          <a:xfrm>
            <a:off x="3438128" y="4980956"/>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B</a:t>
            </a:r>
          </a:p>
        </p:txBody>
      </p:sp>
      <p:grpSp>
        <p:nvGrpSpPr>
          <p:cNvPr id="56" name="Group 55">
            <a:extLst>
              <a:ext uri="{FF2B5EF4-FFF2-40B4-BE49-F238E27FC236}">
                <a16:creationId xmlns:a16="http://schemas.microsoft.com/office/drawing/2014/main" id="{FE808762-D4CC-A8C9-09B4-84185AABD4D2}"/>
              </a:ext>
            </a:extLst>
          </p:cNvPr>
          <p:cNvGrpSpPr/>
          <p:nvPr/>
        </p:nvGrpSpPr>
        <p:grpSpPr>
          <a:xfrm>
            <a:off x="4634492" y="4602770"/>
            <a:ext cx="1456868" cy="1015284"/>
            <a:chOff x="2853312" y="4152509"/>
            <a:chExt cx="1456868" cy="1015284"/>
          </a:xfrm>
        </p:grpSpPr>
        <p:sp>
          <p:nvSpPr>
            <p:cNvPr id="57" name="Rectangle: Rounded Corners 56">
              <a:extLst>
                <a:ext uri="{FF2B5EF4-FFF2-40B4-BE49-F238E27FC236}">
                  <a16:creationId xmlns:a16="http://schemas.microsoft.com/office/drawing/2014/main" id="{6AFA32A9-E964-7749-BA5E-149BB457553F}"/>
                </a:ext>
              </a:extLst>
            </p:cNvPr>
            <p:cNvSpPr/>
            <p:nvPr/>
          </p:nvSpPr>
          <p:spPr>
            <a:xfrm>
              <a:off x="3225214" y="4521841"/>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B</a:t>
              </a:r>
            </a:p>
          </p:txBody>
        </p:sp>
        <p:sp>
          <p:nvSpPr>
            <p:cNvPr id="58" name="TextBox 57">
              <a:extLst>
                <a:ext uri="{FF2B5EF4-FFF2-40B4-BE49-F238E27FC236}">
                  <a16:creationId xmlns:a16="http://schemas.microsoft.com/office/drawing/2014/main" id="{3B5F0699-9114-7658-96C9-95C593AC6C97}"/>
                </a:ext>
              </a:extLst>
            </p:cNvPr>
            <p:cNvSpPr txBox="1"/>
            <p:nvPr/>
          </p:nvSpPr>
          <p:spPr>
            <a:xfrm>
              <a:off x="2853312" y="4152509"/>
              <a:ext cx="1456868" cy="276999"/>
            </a:xfrm>
            <a:prstGeom prst="rect">
              <a:avLst/>
            </a:prstGeom>
            <a:noFill/>
          </p:spPr>
          <p:txBody>
            <a:bodyPr wrap="square" rtlCol="0">
              <a:spAutoFit/>
            </a:bodyPr>
            <a:lstStyle/>
            <a:p>
              <a:pPr algn="ctr"/>
              <a:endParaRPr lang="en-US" sz="1200" dirty="0"/>
            </a:p>
          </p:txBody>
        </p:sp>
      </p:grpSp>
      <p:grpSp>
        <p:nvGrpSpPr>
          <p:cNvPr id="51" name="Group 50">
            <a:extLst>
              <a:ext uri="{FF2B5EF4-FFF2-40B4-BE49-F238E27FC236}">
                <a16:creationId xmlns:a16="http://schemas.microsoft.com/office/drawing/2014/main" id="{FCC1D338-025A-BC0D-60F2-337A347FB5C1}"/>
              </a:ext>
            </a:extLst>
          </p:cNvPr>
          <p:cNvGrpSpPr/>
          <p:nvPr/>
        </p:nvGrpSpPr>
        <p:grpSpPr>
          <a:xfrm>
            <a:off x="4643840" y="4603579"/>
            <a:ext cx="1456868" cy="1009639"/>
            <a:chOff x="4204410" y="4158154"/>
            <a:chExt cx="1456868" cy="1009639"/>
          </a:xfrm>
        </p:grpSpPr>
        <p:sp>
          <p:nvSpPr>
            <p:cNvPr id="52" name="Rectangle: Rounded Corners 51">
              <a:extLst>
                <a:ext uri="{FF2B5EF4-FFF2-40B4-BE49-F238E27FC236}">
                  <a16:creationId xmlns:a16="http://schemas.microsoft.com/office/drawing/2014/main" id="{4D9DE21D-7C3F-7493-F5E3-8AADA96250E7}"/>
                </a:ext>
              </a:extLst>
            </p:cNvPr>
            <p:cNvSpPr/>
            <p:nvPr/>
          </p:nvSpPr>
          <p:spPr>
            <a:xfrm>
              <a:off x="4566116" y="4521841"/>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B</a:t>
              </a:r>
            </a:p>
          </p:txBody>
        </p:sp>
        <p:sp>
          <p:nvSpPr>
            <p:cNvPr id="53" name="TextBox 52">
              <a:extLst>
                <a:ext uri="{FF2B5EF4-FFF2-40B4-BE49-F238E27FC236}">
                  <a16:creationId xmlns:a16="http://schemas.microsoft.com/office/drawing/2014/main" id="{893BF080-5D32-056C-EE3C-D87BBF730584}"/>
                </a:ext>
              </a:extLst>
            </p:cNvPr>
            <p:cNvSpPr txBox="1"/>
            <p:nvPr/>
          </p:nvSpPr>
          <p:spPr>
            <a:xfrm>
              <a:off x="4204410" y="4158154"/>
              <a:ext cx="1456868" cy="276999"/>
            </a:xfrm>
            <a:prstGeom prst="rect">
              <a:avLst/>
            </a:prstGeom>
            <a:noFill/>
          </p:spPr>
          <p:txBody>
            <a:bodyPr wrap="square" rtlCol="0">
              <a:spAutoFit/>
            </a:bodyPr>
            <a:lstStyle/>
            <a:p>
              <a:pPr algn="ctr"/>
              <a:r>
                <a:rPr lang="en-US" sz="1200" dirty="0" err="1"/>
                <a:t>arr</a:t>
              </a:r>
              <a:r>
                <a:rPr lang="en-US" sz="1200" dirty="0"/>
                <a:t>[</a:t>
              </a:r>
              <a:r>
                <a:rPr lang="en-US" sz="1200" dirty="0" err="1"/>
                <a:t>r_index</a:t>
              </a:r>
              <a:r>
                <a:rPr lang="en-US" sz="1200" dirty="0"/>
                <a:t>]</a:t>
              </a:r>
            </a:p>
          </p:txBody>
        </p:sp>
      </p:grpSp>
      <p:sp>
        <p:nvSpPr>
          <p:cNvPr id="54" name="Rectangle: Rounded Corners 53">
            <a:extLst>
              <a:ext uri="{FF2B5EF4-FFF2-40B4-BE49-F238E27FC236}">
                <a16:creationId xmlns:a16="http://schemas.microsoft.com/office/drawing/2014/main" id="{48E56FD8-4E9C-6BEF-A351-2F1E61C9F128}"/>
              </a:ext>
            </a:extLst>
          </p:cNvPr>
          <p:cNvSpPr/>
          <p:nvPr/>
        </p:nvSpPr>
        <p:spPr>
          <a:xfrm>
            <a:off x="5002093" y="4971293"/>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
        <p:nvSpPr>
          <p:cNvPr id="61" name="Rectangle: Rounded Corners 60">
            <a:extLst>
              <a:ext uri="{FF2B5EF4-FFF2-40B4-BE49-F238E27FC236}">
                <a16:creationId xmlns:a16="http://schemas.microsoft.com/office/drawing/2014/main" id="{569D1564-A725-FA1E-A7A7-51B37F56C3EB}"/>
              </a:ext>
            </a:extLst>
          </p:cNvPr>
          <p:cNvSpPr/>
          <p:nvPr/>
        </p:nvSpPr>
        <p:spPr>
          <a:xfrm>
            <a:off x="3438127" y="3725270"/>
            <a:ext cx="713065" cy="645952"/>
          </a:xfrm>
          <a:prstGeom prst="roundRect">
            <a:avLst/>
          </a:prstGeom>
          <a:solidFill>
            <a:schemeClr val="bg1"/>
          </a:solidFill>
          <a:ln w="38100" cap="flat" cmpd="sng" algn="ctr">
            <a:solidFill>
              <a:schemeClr val="accent3"/>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Tree>
    <p:extLst>
      <p:ext uri="{BB962C8B-B14F-4D97-AF65-F5344CB8AC3E}">
        <p14:creationId xmlns:p14="http://schemas.microsoft.com/office/powerpoint/2010/main" val="354434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1.38889E-6 1.11111E-6 L 0.00018 -0.1794 " pathEditMode="relative" rAng="0" ptsTypes="AA">
                                      <p:cBhvr>
                                        <p:cTn id="6" dur="2000" fill="hold"/>
                                        <p:tgtEl>
                                          <p:spTgt spid="43"/>
                                        </p:tgtEl>
                                        <p:attrNameLst>
                                          <p:attrName>ppt_x</p:attrName>
                                          <p:attrName>ppt_y</p:attrName>
                                        </p:attrNameLst>
                                      </p:cBhvr>
                                      <p:rCtr x="0" y="-8981"/>
                                    </p:animMotion>
                                  </p:childTnLst>
                                </p:cTn>
                              </p:par>
                              <p:par>
                                <p:cTn id="7" presetID="10" presetClass="exit" presetSubtype="0" fill="hold" nodeType="withEffect">
                                  <p:stCondLst>
                                    <p:cond delay="750"/>
                                  </p:stCondLst>
                                  <p:childTnLst>
                                    <p:animEffect transition="out" filter="fade">
                                      <p:cBhvr>
                                        <p:cTn id="8" dur="1250"/>
                                        <p:tgtEl>
                                          <p:spTgt spid="43"/>
                                        </p:tgtEl>
                                      </p:cBhvr>
                                    </p:animEffect>
                                    <p:set>
                                      <p:cBhvr>
                                        <p:cTn id="9" dur="1" fill="hold">
                                          <p:stCondLst>
                                            <p:cond delay="1249"/>
                                          </p:stCondLst>
                                        </p:cTn>
                                        <p:tgtEl>
                                          <p:spTgt spid="43"/>
                                        </p:tgtEl>
                                        <p:attrNameLst>
                                          <p:attrName>style.visibility</p:attrName>
                                        </p:attrNameLst>
                                      </p:cBhvr>
                                      <p:to>
                                        <p:strVal val="hidden"/>
                                      </p:to>
                                    </p:set>
                                  </p:childTnLst>
                                </p:cTn>
                              </p:par>
                              <p:par>
                                <p:cTn id="10" presetID="10" presetClass="entr" presetSubtype="0" fill="hold" nodeType="withEffect">
                                  <p:stCondLst>
                                    <p:cond delay="150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0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nodeType="clickEffect">
                                  <p:stCondLst>
                                    <p:cond delay="0"/>
                                  </p:stCondLst>
                                  <p:childTnLst>
                                    <p:animMotion origin="layout" path="M 1.66667E-6 1.11111E-6 L -0.17101 1.11111E-6 " pathEditMode="relative" rAng="0" ptsTypes="AA">
                                      <p:cBhvr>
                                        <p:cTn id="16" dur="2000" fill="hold"/>
                                        <p:tgtEl>
                                          <p:spTgt spid="56"/>
                                        </p:tgtEl>
                                        <p:attrNameLst>
                                          <p:attrName>ppt_x</p:attrName>
                                          <p:attrName>ppt_y</p:attrName>
                                        </p:attrNameLst>
                                      </p:cBhvr>
                                      <p:rCtr x="-8559" y="0"/>
                                    </p:animMotion>
                                  </p:childTnLst>
                                </p:cTn>
                              </p:par>
                              <p:par>
                                <p:cTn id="17" presetID="10" presetClass="exit" presetSubtype="0" fill="hold" nodeType="withEffect">
                                  <p:stCondLst>
                                    <p:cond delay="750"/>
                                  </p:stCondLst>
                                  <p:childTnLst>
                                    <p:animEffect transition="out" filter="fade">
                                      <p:cBhvr>
                                        <p:cTn id="18" dur="1250"/>
                                        <p:tgtEl>
                                          <p:spTgt spid="56"/>
                                        </p:tgtEl>
                                      </p:cBhvr>
                                    </p:animEffect>
                                    <p:set>
                                      <p:cBhvr>
                                        <p:cTn id="19" dur="1" fill="hold">
                                          <p:stCondLst>
                                            <p:cond delay="1249"/>
                                          </p:stCondLst>
                                        </p:cTn>
                                        <p:tgtEl>
                                          <p:spTgt spid="56"/>
                                        </p:tgtEl>
                                        <p:attrNameLst>
                                          <p:attrName>style.visibility</p:attrName>
                                        </p:attrNameLst>
                                      </p:cBhvr>
                                      <p:to>
                                        <p:strVal val="hidden"/>
                                      </p:to>
                                    </p:set>
                                  </p:childTnLst>
                                </p:cTn>
                              </p:par>
                              <p:par>
                                <p:cTn id="20" presetID="10" presetClass="entr" presetSubtype="0" fill="hold" grpId="0" nodeType="withEffect">
                                  <p:stCondLst>
                                    <p:cond delay="150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1000"/>
                                        <p:tgtEl>
                                          <p:spTgt spid="5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2"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par>
                          <p:cTn id="27" fill="hold">
                            <p:stCondLst>
                              <p:cond delay="0"/>
                            </p:stCondLst>
                            <p:childTnLst>
                              <p:par>
                                <p:cTn id="28" presetID="42" presetClass="path" presetSubtype="0" accel="50000" decel="50000" fill="hold" grpId="0" nodeType="afterEffect">
                                  <p:stCondLst>
                                    <p:cond delay="0"/>
                                  </p:stCondLst>
                                  <p:childTnLst>
                                    <p:animMotion origin="layout" path="M -5.55556E-7 2.22222E-6 L 0.17274 0.18194 " pathEditMode="relative" rAng="0" ptsTypes="AA">
                                      <p:cBhvr>
                                        <p:cTn id="29" dur="2000" fill="hold"/>
                                        <p:tgtEl>
                                          <p:spTgt spid="61"/>
                                        </p:tgtEl>
                                        <p:attrNameLst>
                                          <p:attrName>ppt_x</p:attrName>
                                          <p:attrName>ppt_y</p:attrName>
                                        </p:attrNameLst>
                                      </p:cBhvr>
                                      <p:rCtr x="8628" y="9097"/>
                                    </p:animMotion>
                                  </p:childTnLst>
                                </p:cTn>
                              </p:par>
                              <p:par>
                                <p:cTn id="30" presetID="10" presetClass="exit" presetSubtype="0" fill="hold" grpId="1" nodeType="withEffect">
                                  <p:stCondLst>
                                    <p:cond delay="750"/>
                                  </p:stCondLst>
                                  <p:childTnLst>
                                    <p:animEffect transition="out" filter="fade">
                                      <p:cBhvr>
                                        <p:cTn id="31" dur="1250"/>
                                        <p:tgtEl>
                                          <p:spTgt spid="61"/>
                                        </p:tgtEl>
                                      </p:cBhvr>
                                    </p:animEffect>
                                    <p:set>
                                      <p:cBhvr>
                                        <p:cTn id="32" dur="1" fill="hold">
                                          <p:stCondLst>
                                            <p:cond delay="1249"/>
                                          </p:stCondLst>
                                        </p:cTn>
                                        <p:tgtEl>
                                          <p:spTgt spid="61"/>
                                        </p:tgtEl>
                                        <p:attrNameLst>
                                          <p:attrName>style.visibility</p:attrName>
                                        </p:attrNameLst>
                                      </p:cBhvr>
                                      <p:to>
                                        <p:strVal val="hidden"/>
                                      </p:to>
                                    </p:set>
                                  </p:childTnLst>
                                </p:cTn>
                              </p:par>
                              <p:par>
                                <p:cTn id="33" presetID="10" presetClass="entr" presetSubtype="0" fill="hold" grpId="0" nodeType="withEffect">
                                  <p:stCondLst>
                                    <p:cond delay="150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1000"/>
                                        <p:tgtEl>
                                          <p:spTgt spid="5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45"/>
                                        </p:tgtEl>
                                      </p:cBhvr>
                                    </p:animEffect>
                                    <p:set>
                                      <p:cBhvr>
                                        <p:cTn id="39" dur="1" fill="hold">
                                          <p:stCondLst>
                                            <p:cond delay="499"/>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4" grpId="0" animBg="1"/>
      <p:bldP spid="61" grpId="0" animBg="1"/>
      <p:bldP spid="61" grpId="1" animBg="1"/>
      <p:bldP spid="61" grpId="2"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Bubble Sort</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a:bodyPr>
          <a:lstStyle/>
          <a:p>
            <a:r>
              <a:rPr lang="en-US" dirty="0"/>
              <a:t>Bubble Sort is one of the simplest sorting algorithms, used to organize elements of a collection into a particular order.</a:t>
            </a:r>
          </a:p>
          <a:p>
            <a:r>
              <a:rPr lang="en-US" dirty="0"/>
              <a:t>Bubble Sort organizes elements by repeatedly comparing and swapping adjacent elements if they are in the wrong order.</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26</a:t>
            </a:fld>
            <a:endParaRPr lang="en-US" dirty="0"/>
          </a:p>
        </p:txBody>
      </p:sp>
    </p:spTree>
    <p:extLst>
      <p:ext uri="{BB962C8B-B14F-4D97-AF65-F5344CB8AC3E}">
        <p14:creationId xmlns:p14="http://schemas.microsoft.com/office/powerpoint/2010/main" val="324585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Bubble Sort</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27</a:t>
            </a:fld>
            <a:endParaRPr lang="en-US" dirty="0"/>
          </a:p>
        </p:txBody>
      </p:sp>
      <p:sp>
        <p:nvSpPr>
          <p:cNvPr id="5" name="Google Shape;219;p16">
            <a:extLst>
              <a:ext uri="{FF2B5EF4-FFF2-40B4-BE49-F238E27FC236}">
                <a16:creationId xmlns:a16="http://schemas.microsoft.com/office/drawing/2014/main" id="{F0D3A583-2923-4AC2-898C-2A70B7A6F4BB}"/>
              </a:ext>
            </a:extLst>
          </p:cNvPr>
          <p:cNvSpPr txBox="1">
            <a:spLocks/>
          </p:cNvSpPr>
          <p:nvPr/>
        </p:nvSpPr>
        <p:spPr>
          <a:xfrm>
            <a:off x="977317" y="1772174"/>
            <a:ext cx="7189365" cy="3937510"/>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800" b="1" dirty="0">
                <a:solidFill>
                  <a:srgbClr val="9966FF"/>
                </a:solidFill>
                <a:latin typeface="Courier New" panose="02070309020205020404" pitchFamily="49" charset="0"/>
                <a:cs typeface="Courier New" panose="02070309020205020404" pitchFamily="49" charset="0"/>
              </a:rPr>
              <a:t>public void</a:t>
            </a:r>
            <a:r>
              <a:rPr lang="en-US" sz="1800" b="1"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bubbleSort</a:t>
            </a:r>
            <a:r>
              <a:rPr lang="en-US" sz="1800" dirty="0">
                <a:latin typeface="Courier New" panose="02070309020205020404" pitchFamily="49" charset="0"/>
                <a:cs typeface="Courier New" panose="02070309020205020404" pitchFamily="49" charset="0"/>
              </a:rPr>
              <a:t>(</a:t>
            </a:r>
            <a:r>
              <a:rPr lang="en-US" sz="1800" dirty="0">
                <a:solidFill>
                  <a:schemeClr val="tx1"/>
                </a:solidFill>
                <a:latin typeface="Courier New" panose="02070309020205020404" pitchFamily="49" charset="0"/>
                <a:cs typeface="Courier New" panose="02070309020205020404" pitchFamily="49" charset="0"/>
              </a:rPr>
              <a:t>Integer</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n = </a:t>
            </a:r>
            <a:r>
              <a:rPr lang="en-US" sz="1800" dirty="0" err="1">
                <a:latin typeface="Courier New" panose="02070309020205020404" pitchFamily="49" charset="0"/>
                <a:cs typeface="Courier New" panose="02070309020205020404" pitchFamily="49" charset="0"/>
              </a:rPr>
              <a:t>arr.length</a:t>
            </a:r>
            <a:r>
              <a:rPr lang="en-US" sz="18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for</a:t>
            </a:r>
            <a:r>
              <a:rPr lang="en-US" sz="1800" b="1"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rPr>
              <a:t>(</a:t>
            </a:r>
            <a:r>
              <a:rPr lang="en-US" sz="1800" b="1" dirty="0">
                <a:solidFill>
                  <a:srgbClr val="9966FF"/>
                </a:solidFill>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 0;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&lt; n – 1;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for</a:t>
            </a: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j = 0; j &lt; n - 1; </a:t>
            </a:r>
            <a:r>
              <a:rPr lang="en-US" sz="1800" dirty="0" err="1">
                <a:latin typeface="Courier New" panose="02070309020205020404" pitchFamily="49" charset="0"/>
                <a:cs typeface="Courier New" panose="02070309020205020404" pitchFamily="49" charset="0"/>
              </a:rPr>
              <a:t>j++</a:t>
            </a: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if</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 &gt;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[j+1]) {</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temp =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 =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[j+1];</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[j+1] = temp;</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11771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Bubble Sort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28</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380010" y="3204593"/>
            <a:ext cx="8372212" cy="1567432"/>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71976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10</a:t>
            </a:r>
          </a:p>
        </p:txBody>
      </p:sp>
      <p:sp>
        <p:nvSpPr>
          <p:cNvPr id="8" name="Rectangle: Rounded Corners 7">
            <a:extLst>
              <a:ext uri="{FF2B5EF4-FFF2-40B4-BE49-F238E27FC236}">
                <a16:creationId xmlns:a16="http://schemas.microsoft.com/office/drawing/2014/main" id="{4062C34C-7660-DD0D-1AD8-827AC9608DBF}"/>
              </a:ext>
            </a:extLst>
          </p:cNvPr>
          <p:cNvSpPr/>
          <p:nvPr/>
        </p:nvSpPr>
        <p:spPr>
          <a:xfrm>
            <a:off x="159221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62</a:t>
            </a:r>
          </a:p>
        </p:txBody>
      </p:sp>
      <p:sp>
        <p:nvSpPr>
          <p:cNvPr id="9" name="Rectangle: Rounded Corners 8">
            <a:extLst>
              <a:ext uri="{FF2B5EF4-FFF2-40B4-BE49-F238E27FC236}">
                <a16:creationId xmlns:a16="http://schemas.microsoft.com/office/drawing/2014/main" id="{4E49746E-ADB4-4361-119F-199F4AC1EF89}"/>
              </a:ext>
            </a:extLst>
          </p:cNvPr>
          <p:cNvSpPr/>
          <p:nvPr/>
        </p:nvSpPr>
        <p:spPr>
          <a:xfrm>
            <a:off x="246467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19</a:t>
            </a:r>
          </a:p>
        </p:txBody>
      </p:sp>
      <p:sp>
        <p:nvSpPr>
          <p:cNvPr id="10" name="Rectangle: Rounded Corners 9">
            <a:extLst>
              <a:ext uri="{FF2B5EF4-FFF2-40B4-BE49-F238E27FC236}">
                <a16:creationId xmlns:a16="http://schemas.microsoft.com/office/drawing/2014/main" id="{680D5B45-9F4A-2780-3893-A51B9AE0247B}"/>
              </a:ext>
            </a:extLst>
          </p:cNvPr>
          <p:cNvSpPr/>
          <p:nvPr/>
        </p:nvSpPr>
        <p:spPr>
          <a:xfrm>
            <a:off x="333712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15</a:t>
            </a:r>
          </a:p>
        </p:txBody>
      </p:sp>
      <p:sp>
        <p:nvSpPr>
          <p:cNvPr id="11" name="Rectangle: Rounded Corners 10">
            <a:extLst>
              <a:ext uri="{FF2B5EF4-FFF2-40B4-BE49-F238E27FC236}">
                <a16:creationId xmlns:a16="http://schemas.microsoft.com/office/drawing/2014/main" id="{2F370C9A-344E-3386-3EAB-7D0B1C28F4C9}"/>
              </a:ext>
            </a:extLst>
          </p:cNvPr>
          <p:cNvSpPr/>
          <p:nvPr/>
        </p:nvSpPr>
        <p:spPr>
          <a:xfrm>
            <a:off x="420958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28</a:t>
            </a:r>
          </a:p>
        </p:txBody>
      </p:sp>
      <p:sp>
        <p:nvSpPr>
          <p:cNvPr id="12" name="Rectangle: Rounded Corners 11">
            <a:extLst>
              <a:ext uri="{FF2B5EF4-FFF2-40B4-BE49-F238E27FC236}">
                <a16:creationId xmlns:a16="http://schemas.microsoft.com/office/drawing/2014/main" id="{6805E105-159C-261A-B820-3DB75A5DFA44}"/>
              </a:ext>
            </a:extLst>
          </p:cNvPr>
          <p:cNvSpPr/>
          <p:nvPr/>
        </p:nvSpPr>
        <p:spPr>
          <a:xfrm>
            <a:off x="508203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35</a:t>
            </a:r>
          </a:p>
        </p:txBody>
      </p:sp>
      <p:sp>
        <p:nvSpPr>
          <p:cNvPr id="13" name="Rectangle: Rounded Corners 12">
            <a:extLst>
              <a:ext uri="{FF2B5EF4-FFF2-40B4-BE49-F238E27FC236}">
                <a16:creationId xmlns:a16="http://schemas.microsoft.com/office/drawing/2014/main" id="{086013E1-1923-4D13-8147-584142FDC66F}"/>
              </a:ext>
            </a:extLst>
          </p:cNvPr>
          <p:cNvSpPr/>
          <p:nvPr/>
        </p:nvSpPr>
        <p:spPr>
          <a:xfrm>
            <a:off x="595449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23</a:t>
            </a:r>
          </a:p>
        </p:txBody>
      </p:sp>
      <p:sp>
        <p:nvSpPr>
          <p:cNvPr id="14" name="Rectangle: Rounded Corners 13">
            <a:extLst>
              <a:ext uri="{FF2B5EF4-FFF2-40B4-BE49-F238E27FC236}">
                <a16:creationId xmlns:a16="http://schemas.microsoft.com/office/drawing/2014/main" id="{9E5A1E3E-E07C-AAB4-9EAC-EF6323034B56}"/>
              </a:ext>
            </a:extLst>
          </p:cNvPr>
          <p:cNvSpPr/>
          <p:nvPr/>
        </p:nvSpPr>
        <p:spPr>
          <a:xfrm>
            <a:off x="682694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49</a:t>
            </a:r>
          </a:p>
        </p:txBody>
      </p:sp>
      <p:sp>
        <p:nvSpPr>
          <p:cNvPr id="15" name="Rectangle: Rounded Corners 14">
            <a:extLst>
              <a:ext uri="{FF2B5EF4-FFF2-40B4-BE49-F238E27FC236}">
                <a16:creationId xmlns:a16="http://schemas.microsoft.com/office/drawing/2014/main" id="{8DE14A9F-A316-A963-AA86-1AE91FE001FC}"/>
              </a:ext>
            </a:extLst>
          </p:cNvPr>
          <p:cNvSpPr/>
          <p:nvPr/>
        </p:nvSpPr>
        <p:spPr>
          <a:xfrm>
            <a:off x="769940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41</a:t>
            </a:r>
          </a:p>
        </p:txBody>
      </p:sp>
      <p:sp>
        <p:nvSpPr>
          <p:cNvPr id="32" name="Rectangle 31">
            <a:extLst>
              <a:ext uri="{FF2B5EF4-FFF2-40B4-BE49-F238E27FC236}">
                <a16:creationId xmlns:a16="http://schemas.microsoft.com/office/drawing/2014/main" id="{ACE534C0-59BA-2FB3-CE88-CAD8CF605DF2}"/>
              </a:ext>
            </a:extLst>
          </p:cNvPr>
          <p:cNvSpPr/>
          <p:nvPr/>
        </p:nvSpPr>
        <p:spPr>
          <a:xfrm>
            <a:off x="628650" y="3449623"/>
            <a:ext cx="1756328" cy="1077372"/>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compare</a:t>
            </a:r>
          </a:p>
        </p:txBody>
      </p:sp>
      <p:sp>
        <p:nvSpPr>
          <p:cNvPr id="33" name="Rectangle 32">
            <a:extLst>
              <a:ext uri="{FF2B5EF4-FFF2-40B4-BE49-F238E27FC236}">
                <a16:creationId xmlns:a16="http://schemas.microsoft.com/office/drawing/2014/main" id="{28B0499A-0012-4BFE-4636-90792EC62BA0}"/>
              </a:ext>
            </a:extLst>
          </p:cNvPr>
          <p:cNvSpPr/>
          <p:nvPr/>
        </p:nvSpPr>
        <p:spPr>
          <a:xfrm>
            <a:off x="622941" y="3449623"/>
            <a:ext cx="1756328" cy="1077372"/>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compare</a:t>
            </a:r>
          </a:p>
        </p:txBody>
      </p:sp>
      <p:sp>
        <p:nvSpPr>
          <p:cNvPr id="34" name="Rectangle 33">
            <a:extLst>
              <a:ext uri="{FF2B5EF4-FFF2-40B4-BE49-F238E27FC236}">
                <a16:creationId xmlns:a16="http://schemas.microsoft.com/office/drawing/2014/main" id="{450CFA9C-8972-80A6-DBDA-12FE9E4DEADD}"/>
              </a:ext>
            </a:extLst>
          </p:cNvPr>
          <p:cNvSpPr/>
          <p:nvPr/>
        </p:nvSpPr>
        <p:spPr>
          <a:xfrm>
            <a:off x="617232" y="3449623"/>
            <a:ext cx="1756328" cy="1077372"/>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compare</a:t>
            </a:r>
          </a:p>
        </p:txBody>
      </p:sp>
      <p:sp>
        <p:nvSpPr>
          <p:cNvPr id="35" name="Rectangle 34">
            <a:extLst>
              <a:ext uri="{FF2B5EF4-FFF2-40B4-BE49-F238E27FC236}">
                <a16:creationId xmlns:a16="http://schemas.microsoft.com/office/drawing/2014/main" id="{13DCA29D-403A-B949-E3BE-0CAF03FE5216}"/>
              </a:ext>
            </a:extLst>
          </p:cNvPr>
          <p:cNvSpPr/>
          <p:nvPr/>
        </p:nvSpPr>
        <p:spPr>
          <a:xfrm>
            <a:off x="622941" y="3449623"/>
            <a:ext cx="1756328" cy="1077372"/>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compare</a:t>
            </a:r>
          </a:p>
        </p:txBody>
      </p:sp>
    </p:spTree>
    <p:extLst>
      <p:ext uri="{BB962C8B-B14F-4D97-AF65-F5344CB8AC3E}">
        <p14:creationId xmlns:p14="http://schemas.microsoft.com/office/powerpoint/2010/main" val="152083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05556E-6 -1.48148E-6 L 0.096 0.00046 " pathEditMode="relative" rAng="0" ptsTypes="AA">
                                      <p:cBhvr>
                                        <p:cTn id="6" dur="1000" fill="hold"/>
                                        <p:tgtEl>
                                          <p:spTgt spid="32"/>
                                        </p:tgtEl>
                                        <p:attrNameLst>
                                          <p:attrName>ppt_x</p:attrName>
                                          <p:attrName>ppt_y</p:attrName>
                                        </p:attrNameLst>
                                      </p:cBhvr>
                                      <p:rCtr x="4792" y="23"/>
                                    </p:animMotion>
                                  </p:childTnLst>
                                </p:cTn>
                              </p:par>
                            </p:childTnLst>
                          </p:cTn>
                        </p:par>
                        <p:par>
                          <p:cTn id="7" fill="hold">
                            <p:stCondLst>
                              <p:cond delay="1000"/>
                            </p:stCondLst>
                            <p:childTnLst>
                              <p:par>
                                <p:cTn id="8" presetID="44" presetClass="path" presetSubtype="0" accel="50000" decel="50000" fill="hold" grpId="0" nodeType="afterEffect">
                                  <p:stCondLst>
                                    <p:cond delay="0"/>
                                  </p:stCondLst>
                                  <p:childTnLst>
                                    <p:animMotion origin="layout" path="M 0.00035 -0.0007 L 0.02552 -0.04028 C 0.03091 -0.04931 0.03889 -0.05394 0.04705 -0.05394 C 0.0566 -0.05394 0.06407 -0.04931 0.06945 -0.04028 L 0.0948 -0.0007 " pathEditMode="relative" rAng="0" ptsTypes="AAAAA">
                                      <p:cBhvr>
                                        <p:cTn id="9" dur="1000" fill="hold"/>
                                        <p:tgtEl>
                                          <p:spTgt spid="8"/>
                                        </p:tgtEl>
                                        <p:attrNameLst>
                                          <p:attrName>ppt_x</p:attrName>
                                          <p:attrName>ppt_y</p:attrName>
                                        </p:attrNameLst>
                                      </p:cBhvr>
                                      <p:rCtr x="4722" y="-2662"/>
                                    </p:animMotion>
                                  </p:childTnLst>
                                </p:cTn>
                              </p:par>
                              <p:par>
                                <p:cTn id="10" presetID="44" presetClass="path" presetSubtype="0" accel="50000" decel="50000" fill="hold" grpId="0" nodeType="withEffect">
                                  <p:stCondLst>
                                    <p:cond delay="0"/>
                                  </p:stCondLst>
                                  <p:childTnLst>
                                    <p:animMotion origin="layout" path="M -0.00069 -0.00069 L -0.02673 -0.0419 C -0.03212 -0.05116 -0.04028 -0.05602 -0.04861 -0.05602 C -0.05833 -0.05602 -0.06597 -0.05116 -0.07135 -0.0419 L -0.09722 -0.00069 " pathEditMode="relative" rAng="0" ptsTypes="AAAAA">
                                      <p:cBhvr>
                                        <p:cTn id="11" dur="1000" fill="hold"/>
                                        <p:tgtEl>
                                          <p:spTgt spid="9"/>
                                        </p:tgtEl>
                                        <p:attrNameLst>
                                          <p:attrName>ppt_x</p:attrName>
                                          <p:attrName>ppt_y</p:attrName>
                                        </p:attrNameLst>
                                      </p:cBhvr>
                                      <p:rCtr x="-4826" y="-2778"/>
                                    </p:animMotion>
                                  </p:childTnLst>
                                </p:cTn>
                              </p:par>
                            </p:childTnLst>
                          </p:cTn>
                        </p:par>
                        <p:par>
                          <p:cTn id="12" fill="hold">
                            <p:stCondLst>
                              <p:cond delay="2000"/>
                            </p:stCondLst>
                            <p:childTnLst>
                              <p:par>
                                <p:cTn id="13" presetID="63" presetClass="path" presetSubtype="0" accel="50000" decel="50000" fill="hold" grpId="1" nodeType="afterEffect">
                                  <p:stCondLst>
                                    <p:cond delay="0"/>
                                  </p:stCondLst>
                                  <p:childTnLst>
                                    <p:animMotion origin="layout" path="M 0.096 0.00046 L 0.19201 -0.00092 " pathEditMode="relative" rAng="0" ptsTypes="AA">
                                      <p:cBhvr>
                                        <p:cTn id="14" dur="1000" fill="hold"/>
                                        <p:tgtEl>
                                          <p:spTgt spid="32"/>
                                        </p:tgtEl>
                                        <p:attrNameLst>
                                          <p:attrName>ppt_x</p:attrName>
                                          <p:attrName>ppt_y</p:attrName>
                                        </p:attrNameLst>
                                      </p:cBhvr>
                                      <p:rCtr x="4792" y="-69"/>
                                    </p:animMotion>
                                  </p:childTnLst>
                                </p:cTn>
                              </p:par>
                            </p:childTnLst>
                          </p:cTn>
                        </p:par>
                        <p:par>
                          <p:cTn id="15" fill="hold">
                            <p:stCondLst>
                              <p:cond delay="3000"/>
                            </p:stCondLst>
                            <p:childTnLst>
                              <p:par>
                                <p:cTn id="16" presetID="44" presetClass="path" presetSubtype="0" accel="50000" decel="50000" fill="hold" grpId="1" nodeType="afterEffect">
                                  <p:stCondLst>
                                    <p:cond delay="0"/>
                                  </p:stCondLst>
                                  <p:childTnLst>
                                    <p:animMotion origin="layout" path="M 0.09479 -0.00069 L 0.12014 -0.04051 C 0.12552 -0.0493 0.13351 -0.05393 0.14184 -0.05393 C 0.15139 -0.05393 0.15903 -0.0493 0.16441 -0.04051 L 0.19011 -0.00069 " pathEditMode="relative" rAng="0" ptsTypes="AAAAA">
                                      <p:cBhvr>
                                        <p:cTn id="17" dur="1000" fill="hold"/>
                                        <p:tgtEl>
                                          <p:spTgt spid="8"/>
                                        </p:tgtEl>
                                        <p:attrNameLst>
                                          <p:attrName>ppt_x</p:attrName>
                                          <p:attrName>ppt_y</p:attrName>
                                        </p:attrNameLst>
                                      </p:cBhvr>
                                      <p:rCtr x="4757" y="-2662"/>
                                    </p:animMotion>
                                  </p:childTnLst>
                                </p:cTn>
                              </p:par>
                              <p:par>
                                <p:cTn id="18" presetID="44" presetClass="path" presetSubtype="0" accel="50000" decel="50000" fill="hold" grpId="0" nodeType="withEffect">
                                  <p:stCondLst>
                                    <p:cond delay="0"/>
                                  </p:stCondLst>
                                  <p:childTnLst>
                                    <p:animMotion origin="layout" path="M -0.00069 -0.00069 L -0.02673 -0.04074 C -0.03211 -0.04977 -0.04027 -0.05463 -0.04861 -0.05463 C -0.05833 -0.05463 -0.06597 -0.04977 -0.07135 -0.04074 L -0.09722 -0.00069 " pathEditMode="relative" rAng="0" ptsTypes="AAAAA">
                                      <p:cBhvr>
                                        <p:cTn id="19" dur="1000" fill="hold"/>
                                        <p:tgtEl>
                                          <p:spTgt spid="10"/>
                                        </p:tgtEl>
                                        <p:attrNameLst>
                                          <p:attrName>ppt_x</p:attrName>
                                          <p:attrName>ppt_y</p:attrName>
                                        </p:attrNameLst>
                                      </p:cBhvr>
                                      <p:rCtr x="-4826" y="-2708"/>
                                    </p:animMotion>
                                  </p:childTnLst>
                                </p:cTn>
                              </p:par>
                            </p:childTnLst>
                          </p:cTn>
                        </p:par>
                        <p:par>
                          <p:cTn id="20" fill="hold">
                            <p:stCondLst>
                              <p:cond delay="4000"/>
                            </p:stCondLst>
                            <p:childTnLst>
                              <p:par>
                                <p:cTn id="21" presetID="63" presetClass="path" presetSubtype="0" accel="50000" decel="50000" fill="hold" grpId="2" nodeType="afterEffect">
                                  <p:stCondLst>
                                    <p:cond delay="0"/>
                                  </p:stCondLst>
                                  <p:childTnLst>
                                    <p:animMotion origin="layout" path="M 0.19201 -0.00092 L 0.28732 0.00046 " pathEditMode="relative" rAng="0" ptsTypes="AA">
                                      <p:cBhvr>
                                        <p:cTn id="22" dur="1000" fill="hold"/>
                                        <p:tgtEl>
                                          <p:spTgt spid="32"/>
                                        </p:tgtEl>
                                        <p:attrNameLst>
                                          <p:attrName>ppt_x</p:attrName>
                                          <p:attrName>ppt_y</p:attrName>
                                        </p:attrNameLst>
                                      </p:cBhvr>
                                      <p:rCtr x="4792" y="69"/>
                                    </p:animMotion>
                                  </p:childTnLst>
                                </p:cTn>
                              </p:par>
                            </p:childTnLst>
                          </p:cTn>
                        </p:par>
                        <p:par>
                          <p:cTn id="23" fill="hold">
                            <p:stCondLst>
                              <p:cond delay="5000"/>
                            </p:stCondLst>
                            <p:childTnLst>
                              <p:par>
                                <p:cTn id="24" presetID="44" presetClass="path" presetSubtype="0" accel="50000" decel="50000" fill="hold" grpId="2" nodeType="afterEffect">
                                  <p:stCondLst>
                                    <p:cond delay="0"/>
                                  </p:stCondLst>
                                  <p:childTnLst>
                                    <p:animMotion origin="layout" path="M 0.19011 -0.00069 L 0.2158 -0.04027 C 0.22118 -0.0493 0.22951 -0.05393 0.23802 -0.05393 C 0.2474 -0.05393 0.25538 -0.0493 0.26094 -0.04027 L 0.28698 -0.00069 " pathEditMode="relative" rAng="0" ptsTypes="AAAAA">
                                      <p:cBhvr>
                                        <p:cTn id="25" dur="1000" fill="hold"/>
                                        <p:tgtEl>
                                          <p:spTgt spid="8"/>
                                        </p:tgtEl>
                                        <p:attrNameLst>
                                          <p:attrName>ppt_x</p:attrName>
                                          <p:attrName>ppt_y</p:attrName>
                                        </p:attrNameLst>
                                      </p:cBhvr>
                                      <p:rCtr x="4844" y="-2662"/>
                                    </p:animMotion>
                                  </p:childTnLst>
                                </p:cTn>
                              </p:par>
                              <p:par>
                                <p:cTn id="26" presetID="44" presetClass="path" presetSubtype="0" accel="50000" decel="50000" fill="hold" grpId="0" nodeType="withEffect">
                                  <p:stCondLst>
                                    <p:cond delay="0"/>
                                  </p:stCondLst>
                                  <p:childTnLst>
                                    <p:animMotion origin="layout" path="M 0.0007 -0.00069 L -0.02483 -0.04074 C -0.03021 -0.04977 -0.03819 -0.05463 -0.04653 -0.05463 C -0.05608 -0.05463 -0.06371 -0.04977 -0.0691 -0.04074 L -0.09444 -0.00069 " pathEditMode="relative" rAng="0" ptsTypes="AAAAA">
                                      <p:cBhvr>
                                        <p:cTn id="27" dur="1000" fill="hold"/>
                                        <p:tgtEl>
                                          <p:spTgt spid="11"/>
                                        </p:tgtEl>
                                        <p:attrNameLst>
                                          <p:attrName>ppt_x</p:attrName>
                                          <p:attrName>ppt_y</p:attrName>
                                        </p:attrNameLst>
                                      </p:cBhvr>
                                      <p:rCtr x="-4757" y="-2708"/>
                                    </p:animMotion>
                                  </p:childTnLst>
                                </p:cTn>
                              </p:par>
                            </p:childTnLst>
                          </p:cTn>
                        </p:par>
                        <p:par>
                          <p:cTn id="28" fill="hold">
                            <p:stCondLst>
                              <p:cond delay="6000"/>
                            </p:stCondLst>
                            <p:childTnLst>
                              <p:par>
                                <p:cTn id="29" presetID="63" presetClass="path" presetSubtype="0" accel="50000" decel="50000" fill="hold" grpId="3" nodeType="afterEffect">
                                  <p:stCondLst>
                                    <p:cond delay="0"/>
                                  </p:stCondLst>
                                  <p:childTnLst>
                                    <p:animMotion origin="layout" path="M 0.28733 0.00047 L 0.38316 0.00046 " pathEditMode="relative" rAng="0" ptsTypes="AA">
                                      <p:cBhvr>
                                        <p:cTn id="30" dur="1000" fill="hold"/>
                                        <p:tgtEl>
                                          <p:spTgt spid="32"/>
                                        </p:tgtEl>
                                        <p:attrNameLst>
                                          <p:attrName>ppt_x</p:attrName>
                                          <p:attrName>ppt_y</p:attrName>
                                        </p:attrNameLst>
                                      </p:cBhvr>
                                      <p:rCtr x="5174" y="139"/>
                                    </p:animMotion>
                                  </p:childTnLst>
                                </p:cTn>
                              </p:par>
                            </p:childTnLst>
                          </p:cTn>
                        </p:par>
                        <p:par>
                          <p:cTn id="31" fill="hold">
                            <p:stCondLst>
                              <p:cond delay="7000"/>
                            </p:stCondLst>
                            <p:childTnLst>
                              <p:par>
                                <p:cTn id="32" presetID="44" presetClass="path" presetSubtype="0" accel="50000" decel="50000" fill="hold" grpId="3" nodeType="afterEffect">
                                  <p:stCondLst>
                                    <p:cond delay="0"/>
                                  </p:stCondLst>
                                  <p:childTnLst>
                                    <p:animMotion origin="layout" path="M 0.28698 -0.00069 L 0.31181 -0.04143 C 0.31701 -0.05046 0.32483 -0.05532 0.33299 -0.05532 C 0.34236 -0.05532 0.34965 -0.05046 0.35504 -0.04143 L 0.38004 -0.00069 " pathEditMode="relative" rAng="0" ptsTypes="AAAAA">
                                      <p:cBhvr>
                                        <p:cTn id="33" dur="1000" fill="hold"/>
                                        <p:tgtEl>
                                          <p:spTgt spid="8"/>
                                        </p:tgtEl>
                                        <p:attrNameLst>
                                          <p:attrName>ppt_x</p:attrName>
                                          <p:attrName>ppt_y</p:attrName>
                                        </p:attrNameLst>
                                      </p:cBhvr>
                                      <p:rCtr x="4653" y="-2731"/>
                                    </p:animMotion>
                                  </p:childTnLst>
                                </p:cTn>
                              </p:par>
                              <p:par>
                                <p:cTn id="34" presetID="44" presetClass="path" presetSubtype="0" accel="50000" decel="50000" fill="hold" grpId="0" nodeType="withEffect">
                                  <p:stCondLst>
                                    <p:cond delay="0"/>
                                  </p:stCondLst>
                                  <p:childTnLst>
                                    <p:animMotion origin="layout" path="M -0.00156 -0.00069 L -0.02708 -0.04074 C -0.03229 -0.04977 -0.04028 -0.05463 -0.04861 -0.05463 C -0.05799 -0.05463 -0.06562 -0.04977 -0.07083 -0.04074 L -0.09618 -0.00069 " pathEditMode="relative" rAng="0" ptsTypes="AAAAA">
                                      <p:cBhvr>
                                        <p:cTn id="35" dur="1000" fill="hold"/>
                                        <p:tgtEl>
                                          <p:spTgt spid="12"/>
                                        </p:tgtEl>
                                        <p:attrNameLst>
                                          <p:attrName>ppt_x</p:attrName>
                                          <p:attrName>ppt_y</p:attrName>
                                        </p:attrNameLst>
                                      </p:cBhvr>
                                      <p:rCtr x="-4740" y="-2708"/>
                                    </p:animMotion>
                                  </p:childTnLst>
                                </p:cTn>
                              </p:par>
                            </p:childTnLst>
                          </p:cTn>
                        </p:par>
                        <p:par>
                          <p:cTn id="36" fill="hold">
                            <p:stCondLst>
                              <p:cond delay="8000"/>
                            </p:stCondLst>
                            <p:childTnLst>
                              <p:par>
                                <p:cTn id="37" presetID="63" presetClass="path" presetSubtype="0" accel="50000" decel="50000" fill="hold" grpId="4" nodeType="afterEffect">
                                  <p:stCondLst>
                                    <p:cond delay="0"/>
                                  </p:stCondLst>
                                  <p:childTnLst>
                                    <p:animMotion origin="layout" path="M 0.38316 0.00047 L 0.4783 0.00093 " pathEditMode="relative" rAng="0" ptsTypes="AA">
                                      <p:cBhvr>
                                        <p:cTn id="38" dur="1000" fill="hold"/>
                                        <p:tgtEl>
                                          <p:spTgt spid="32"/>
                                        </p:tgtEl>
                                        <p:attrNameLst>
                                          <p:attrName>ppt_x</p:attrName>
                                          <p:attrName>ppt_y</p:attrName>
                                        </p:attrNameLst>
                                      </p:cBhvr>
                                      <p:rCtr x="4688" y="0"/>
                                    </p:animMotion>
                                  </p:childTnLst>
                                </p:cTn>
                              </p:par>
                            </p:childTnLst>
                          </p:cTn>
                        </p:par>
                        <p:par>
                          <p:cTn id="39" fill="hold">
                            <p:stCondLst>
                              <p:cond delay="9000"/>
                            </p:stCondLst>
                            <p:childTnLst>
                              <p:par>
                                <p:cTn id="40" presetID="44" presetClass="path" presetSubtype="0" accel="50000" decel="50000" fill="hold" grpId="4" nodeType="afterEffect">
                                  <p:stCondLst>
                                    <p:cond delay="0"/>
                                  </p:stCondLst>
                                  <p:childTnLst>
                                    <p:animMotion origin="layout" path="M 0.38004 -0.00069 L 0.40608 -0.04421 C 0.41129 -0.05324 0.41979 -0.0581 0.42865 -0.0581 C 0.4382 -0.0581 0.44636 -0.05324 0.45139 -0.04421 L 0.47865 -0.00069 " pathEditMode="relative" rAng="0" ptsTypes="AAAAA">
                                      <p:cBhvr>
                                        <p:cTn id="41" dur="1000" fill="hold"/>
                                        <p:tgtEl>
                                          <p:spTgt spid="8"/>
                                        </p:tgtEl>
                                        <p:attrNameLst>
                                          <p:attrName>ppt_x</p:attrName>
                                          <p:attrName>ppt_y</p:attrName>
                                        </p:attrNameLst>
                                      </p:cBhvr>
                                      <p:rCtr x="4931" y="-2870"/>
                                    </p:animMotion>
                                  </p:childTnLst>
                                </p:cTn>
                              </p:par>
                              <p:par>
                                <p:cTn id="42" presetID="44" presetClass="path" presetSubtype="0" accel="50000" decel="50000" fill="hold" grpId="0" nodeType="withEffect">
                                  <p:stCondLst>
                                    <p:cond delay="0"/>
                                  </p:stCondLst>
                                  <p:childTnLst>
                                    <p:animMotion origin="layout" path="M 0.00156 -0.00069 L -0.02413 -0.04074 C -0.02951 -0.04977 -0.0375 -0.05463 -0.04583 -0.05463 C -0.05538 -0.05463 -0.06285 -0.04977 -0.06823 -0.04074 L -0.09375 -0.00069 " pathEditMode="relative" rAng="0" ptsTypes="AAAAA">
                                      <p:cBhvr>
                                        <p:cTn id="43" dur="1000" fill="hold"/>
                                        <p:tgtEl>
                                          <p:spTgt spid="13"/>
                                        </p:tgtEl>
                                        <p:attrNameLst>
                                          <p:attrName>ppt_x</p:attrName>
                                          <p:attrName>ppt_y</p:attrName>
                                        </p:attrNameLst>
                                      </p:cBhvr>
                                      <p:rCtr x="-4774" y="-2708"/>
                                    </p:animMotion>
                                  </p:childTnLst>
                                </p:cTn>
                              </p:par>
                            </p:childTnLst>
                          </p:cTn>
                        </p:par>
                        <p:par>
                          <p:cTn id="44" fill="hold">
                            <p:stCondLst>
                              <p:cond delay="10000"/>
                            </p:stCondLst>
                            <p:childTnLst>
                              <p:par>
                                <p:cTn id="45" presetID="63" presetClass="path" presetSubtype="0" accel="50000" decel="50000" fill="hold" grpId="5" nodeType="afterEffect">
                                  <p:stCondLst>
                                    <p:cond delay="0"/>
                                  </p:stCondLst>
                                  <p:childTnLst>
                                    <p:animMotion origin="layout" path="M 0.4783 0.00093 L 0.57448 0.00185 " pathEditMode="relative" rAng="0" ptsTypes="AA">
                                      <p:cBhvr>
                                        <p:cTn id="46" dur="1000" fill="hold"/>
                                        <p:tgtEl>
                                          <p:spTgt spid="32"/>
                                        </p:tgtEl>
                                        <p:attrNameLst>
                                          <p:attrName>ppt_x</p:attrName>
                                          <p:attrName>ppt_y</p:attrName>
                                        </p:attrNameLst>
                                      </p:cBhvr>
                                      <p:rCtr x="4774" y="46"/>
                                    </p:animMotion>
                                  </p:childTnLst>
                                </p:cTn>
                              </p:par>
                            </p:childTnLst>
                          </p:cTn>
                        </p:par>
                        <p:par>
                          <p:cTn id="47" fill="hold">
                            <p:stCondLst>
                              <p:cond delay="11000"/>
                            </p:stCondLst>
                            <p:childTnLst>
                              <p:par>
                                <p:cTn id="48" presetID="44" presetClass="path" presetSubtype="0" accel="50000" decel="50000" fill="hold" grpId="5" nodeType="afterEffect">
                                  <p:stCondLst>
                                    <p:cond delay="0"/>
                                  </p:stCondLst>
                                  <p:childTnLst>
                                    <p:animMotion origin="layout" path="M 0.47864 -0.00069 L 0.50399 -0.04143 C 0.50937 -0.05046 0.51736 -0.05532 0.52569 -0.05532 C 0.53524 -0.05532 0.54288 -0.05046 0.54826 -0.04143 L 0.57378 -0.00069 " pathEditMode="relative" rAng="0" ptsTypes="AAAAA">
                                      <p:cBhvr>
                                        <p:cTn id="49" dur="1000" fill="hold"/>
                                        <p:tgtEl>
                                          <p:spTgt spid="8"/>
                                        </p:tgtEl>
                                        <p:attrNameLst>
                                          <p:attrName>ppt_x</p:attrName>
                                          <p:attrName>ppt_y</p:attrName>
                                        </p:attrNameLst>
                                      </p:cBhvr>
                                      <p:rCtr x="4757" y="-2731"/>
                                    </p:animMotion>
                                  </p:childTnLst>
                                </p:cTn>
                              </p:par>
                              <p:par>
                                <p:cTn id="50" presetID="44" presetClass="path" presetSubtype="0" accel="50000" decel="50000" fill="hold" grpId="0" nodeType="withEffect">
                                  <p:stCondLst>
                                    <p:cond delay="0"/>
                                  </p:stCondLst>
                                  <p:childTnLst>
                                    <p:animMotion origin="layout" path="M 0.00122 -0.00069 L -0.02465 -0.0419 C -0.03003 -0.05116 -0.03802 -0.05602 -0.04652 -0.05602 C -0.05607 -0.05602 -0.06371 -0.05116 -0.0691 -0.0419 L -0.09479 -0.00069 " pathEditMode="relative" rAng="0" ptsTypes="AAAAA">
                                      <p:cBhvr>
                                        <p:cTn id="51" dur="1000" fill="hold"/>
                                        <p:tgtEl>
                                          <p:spTgt spid="14"/>
                                        </p:tgtEl>
                                        <p:attrNameLst>
                                          <p:attrName>ppt_x</p:attrName>
                                          <p:attrName>ppt_y</p:attrName>
                                        </p:attrNameLst>
                                      </p:cBhvr>
                                      <p:rCtr x="-4809" y="-2778"/>
                                    </p:animMotion>
                                  </p:childTnLst>
                                </p:cTn>
                              </p:par>
                            </p:childTnLst>
                          </p:cTn>
                        </p:par>
                        <p:par>
                          <p:cTn id="52" fill="hold">
                            <p:stCondLst>
                              <p:cond delay="12000"/>
                            </p:stCondLst>
                            <p:childTnLst>
                              <p:par>
                                <p:cTn id="53" presetID="63" presetClass="path" presetSubtype="0" accel="50000" decel="50000" fill="hold" grpId="6" nodeType="afterEffect">
                                  <p:stCondLst>
                                    <p:cond delay="0"/>
                                  </p:stCondLst>
                                  <p:childTnLst>
                                    <p:animMotion origin="layout" path="M 0.57448 0.00185 L 0.66857 0.00093 " pathEditMode="relative" rAng="0" ptsTypes="AA">
                                      <p:cBhvr>
                                        <p:cTn id="54" dur="1000" fill="hold"/>
                                        <p:tgtEl>
                                          <p:spTgt spid="32"/>
                                        </p:tgtEl>
                                        <p:attrNameLst>
                                          <p:attrName>ppt_x</p:attrName>
                                          <p:attrName>ppt_y</p:attrName>
                                        </p:attrNameLst>
                                      </p:cBhvr>
                                      <p:rCtr x="4722" y="0"/>
                                    </p:animMotion>
                                  </p:childTnLst>
                                </p:cTn>
                              </p:par>
                            </p:childTnLst>
                          </p:cTn>
                        </p:par>
                        <p:par>
                          <p:cTn id="55" fill="hold">
                            <p:stCondLst>
                              <p:cond delay="13000"/>
                            </p:stCondLst>
                            <p:childTnLst>
                              <p:par>
                                <p:cTn id="56" presetID="44" presetClass="path" presetSubtype="0" accel="50000" decel="50000" fill="hold" grpId="6" nodeType="afterEffect">
                                  <p:stCondLst>
                                    <p:cond delay="0"/>
                                  </p:stCondLst>
                                  <p:childTnLst>
                                    <p:animMotion origin="layout" path="M 0.57379 -0.00069 L 0.59861 -0.04305 C 0.60382 -0.05254 0.61181 -0.05741 0.61979 -0.05741 C 0.62917 -0.05741 0.63663 -0.05254 0.64201 -0.04305 L 0.66719 -0.00069 " pathEditMode="relative" rAng="0" ptsTypes="AAAAA">
                                      <p:cBhvr>
                                        <p:cTn id="57" dur="1000" fill="hold"/>
                                        <p:tgtEl>
                                          <p:spTgt spid="8"/>
                                        </p:tgtEl>
                                        <p:attrNameLst>
                                          <p:attrName>ppt_x</p:attrName>
                                          <p:attrName>ppt_y</p:attrName>
                                        </p:attrNameLst>
                                      </p:cBhvr>
                                      <p:rCtr x="4670" y="-2847"/>
                                    </p:animMotion>
                                  </p:childTnLst>
                                </p:cTn>
                              </p:par>
                              <p:par>
                                <p:cTn id="58" presetID="44" presetClass="path" presetSubtype="0" accel="50000" decel="50000" fill="hold" grpId="0" nodeType="withEffect">
                                  <p:stCondLst>
                                    <p:cond delay="0"/>
                                  </p:stCondLst>
                                  <p:childTnLst>
                                    <p:animMotion origin="layout" path="M -0.0007 -0.00069 L -0.02639 -0.04074 C -0.03177 -0.04977 -0.03976 -0.05463 -0.04809 -0.05463 C -0.05764 -0.05463 -0.06528 -0.04977 -0.07066 -0.04074 L -0.09618 -0.00069 " pathEditMode="relative" rAng="0" ptsTypes="AAAAA">
                                      <p:cBhvr>
                                        <p:cTn id="59" dur="1000" fill="hold"/>
                                        <p:tgtEl>
                                          <p:spTgt spid="15"/>
                                        </p:tgtEl>
                                        <p:attrNameLst>
                                          <p:attrName>ppt_x</p:attrName>
                                          <p:attrName>ppt_y</p:attrName>
                                        </p:attrNameLst>
                                      </p:cBhvr>
                                      <p:rCtr x="-4774" y="-2708"/>
                                    </p:animMotion>
                                  </p:childTnLst>
                                </p:cTn>
                              </p:par>
                            </p:childTnLst>
                          </p:cTn>
                        </p:par>
                        <p:par>
                          <p:cTn id="60" fill="hold">
                            <p:stCondLst>
                              <p:cond delay="14000"/>
                            </p:stCondLst>
                            <p:childTnLst>
                              <p:par>
                                <p:cTn id="61" presetID="10" presetClass="exit" presetSubtype="0" fill="hold" grpId="7" nodeType="afterEffect">
                                  <p:stCondLst>
                                    <p:cond delay="0"/>
                                  </p:stCondLst>
                                  <p:childTnLst>
                                    <p:animEffect transition="out" filter="fade">
                                      <p:cBhvr>
                                        <p:cTn id="62" dur="500"/>
                                        <p:tgtEl>
                                          <p:spTgt spid="32"/>
                                        </p:tgtEl>
                                      </p:cBhvr>
                                    </p:animEffect>
                                    <p:set>
                                      <p:cBhvr>
                                        <p:cTn id="63" dur="1" fill="hold">
                                          <p:stCondLst>
                                            <p:cond delay="499"/>
                                          </p:stCondLst>
                                        </p:cTn>
                                        <p:tgtEl>
                                          <p:spTgt spid="32"/>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7" nodeType="click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childTnLst>
                          </p:cTn>
                        </p:par>
                        <p:par>
                          <p:cTn id="69" fill="hold">
                            <p:stCondLst>
                              <p:cond delay="500"/>
                            </p:stCondLst>
                            <p:childTnLst>
                              <p:par>
                                <p:cTn id="70" presetID="63" presetClass="path" presetSubtype="0" accel="50000" decel="50000" fill="hold" grpId="0" nodeType="afterEffect">
                                  <p:stCondLst>
                                    <p:cond delay="0"/>
                                  </p:stCondLst>
                                  <p:childTnLst>
                                    <p:animMotion origin="layout" path="M -2.5E-6 -1.48148E-6 L 0.09601 0.00046 " pathEditMode="relative" rAng="0" ptsTypes="AA">
                                      <p:cBhvr>
                                        <p:cTn id="71" dur="1000" fill="hold"/>
                                        <p:tgtEl>
                                          <p:spTgt spid="33"/>
                                        </p:tgtEl>
                                        <p:attrNameLst>
                                          <p:attrName>ppt_x</p:attrName>
                                          <p:attrName>ppt_y</p:attrName>
                                        </p:attrNameLst>
                                      </p:cBhvr>
                                      <p:rCtr x="4792" y="23"/>
                                    </p:animMotion>
                                  </p:childTnLst>
                                </p:cTn>
                              </p:par>
                            </p:childTnLst>
                          </p:cTn>
                        </p:par>
                        <p:par>
                          <p:cTn id="72" fill="hold">
                            <p:stCondLst>
                              <p:cond delay="1500"/>
                            </p:stCondLst>
                            <p:childTnLst>
                              <p:par>
                                <p:cTn id="73" presetID="44" presetClass="path" presetSubtype="0" accel="50000" decel="50000" fill="hold" grpId="1" nodeType="afterEffect">
                                  <p:stCondLst>
                                    <p:cond delay="0"/>
                                  </p:stCondLst>
                                  <p:childTnLst>
                                    <p:animMotion origin="layout" path="M -0.09723 -0.00069 L -0.07136 -0.04143 C -0.0658 -0.05046 -0.05764 -0.05532 -0.04913 -0.05532 C -0.03941 -0.05532 -0.03177 -0.05046 -0.02622 -0.04143 L -0.00018 -0.00069 " pathEditMode="relative" rAng="0" ptsTypes="AAAAA">
                                      <p:cBhvr>
                                        <p:cTn id="74" dur="1000" fill="hold"/>
                                        <p:tgtEl>
                                          <p:spTgt spid="9"/>
                                        </p:tgtEl>
                                        <p:attrNameLst>
                                          <p:attrName>ppt_x</p:attrName>
                                          <p:attrName>ppt_y</p:attrName>
                                        </p:attrNameLst>
                                      </p:cBhvr>
                                      <p:rCtr x="4844" y="-2731"/>
                                    </p:animMotion>
                                  </p:childTnLst>
                                </p:cTn>
                              </p:par>
                              <p:par>
                                <p:cTn id="75" presetID="44" presetClass="path" presetSubtype="0" accel="50000" decel="50000" fill="hold" grpId="1" nodeType="withEffect">
                                  <p:stCondLst>
                                    <p:cond delay="0"/>
                                  </p:stCondLst>
                                  <p:childTnLst>
                                    <p:animMotion origin="layout" path="M -0.09601 -0.00069 L -0.12205 -0.04143 C -0.12743 -0.05046 -0.13559 -0.05532 -0.14392 -0.05532 C -0.15365 -0.05532 -0.16128 -0.05046 -0.16684 -0.04143 L -0.19253 -0.00069 " pathEditMode="relative" rAng="0" ptsTypes="AAAAA">
                                      <p:cBhvr>
                                        <p:cTn id="76" dur="1000" fill="hold"/>
                                        <p:tgtEl>
                                          <p:spTgt spid="10"/>
                                        </p:tgtEl>
                                        <p:attrNameLst>
                                          <p:attrName>ppt_x</p:attrName>
                                          <p:attrName>ppt_y</p:attrName>
                                        </p:attrNameLst>
                                      </p:cBhvr>
                                      <p:rCtr x="-4826" y="-2731"/>
                                    </p:animMotion>
                                  </p:childTnLst>
                                </p:cTn>
                              </p:par>
                            </p:childTnLst>
                          </p:cTn>
                        </p:par>
                        <p:par>
                          <p:cTn id="77" fill="hold">
                            <p:stCondLst>
                              <p:cond delay="2500"/>
                            </p:stCondLst>
                            <p:childTnLst>
                              <p:par>
                                <p:cTn id="78" presetID="63" presetClass="path" presetSubtype="0" accel="50000" decel="50000" fill="hold" grpId="1" nodeType="afterEffect">
                                  <p:stCondLst>
                                    <p:cond delay="0"/>
                                  </p:stCondLst>
                                  <p:childTnLst>
                                    <p:animMotion origin="layout" path="M 0.09601 0.00046 L 0.19202 -0.00092 " pathEditMode="relative" rAng="0" ptsTypes="AA">
                                      <p:cBhvr>
                                        <p:cTn id="79" dur="1000" fill="hold"/>
                                        <p:tgtEl>
                                          <p:spTgt spid="33"/>
                                        </p:tgtEl>
                                        <p:attrNameLst>
                                          <p:attrName>ppt_x</p:attrName>
                                          <p:attrName>ppt_y</p:attrName>
                                        </p:attrNameLst>
                                      </p:cBhvr>
                                      <p:rCtr x="4792" y="-69"/>
                                    </p:animMotion>
                                  </p:childTnLst>
                                </p:cTn>
                              </p:par>
                            </p:childTnLst>
                          </p:cTn>
                        </p:par>
                        <p:par>
                          <p:cTn id="80" fill="hold">
                            <p:stCondLst>
                              <p:cond delay="3500"/>
                            </p:stCondLst>
                            <p:childTnLst>
                              <p:par>
                                <p:cTn id="81" presetID="63" presetClass="path" presetSubtype="0" accel="50000" decel="50000" fill="hold" grpId="2" nodeType="afterEffect">
                                  <p:stCondLst>
                                    <p:cond delay="0"/>
                                  </p:stCondLst>
                                  <p:childTnLst>
                                    <p:animMotion origin="layout" path="M 0.19202 -0.00092 L 0.28733 0.00046 " pathEditMode="relative" rAng="0" ptsTypes="AA">
                                      <p:cBhvr>
                                        <p:cTn id="82" dur="1000" fill="hold"/>
                                        <p:tgtEl>
                                          <p:spTgt spid="33"/>
                                        </p:tgtEl>
                                        <p:attrNameLst>
                                          <p:attrName>ppt_x</p:attrName>
                                          <p:attrName>ppt_y</p:attrName>
                                        </p:attrNameLst>
                                      </p:cBhvr>
                                      <p:rCtr x="4757" y="69"/>
                                    </p:animMotion>
                                  </p:childTnLst>
                                </p:cTn>
                              </p:par>
                            </p:childTnLst>
                          </p:cTn>
                        </p:par>
                        <p:par>
                          <p:cTn id="83" fill="hold">
                            <p:stCondLst>
                              <p:cond delay="4500"/>
                            </p:stCondLst>
                            <p:childTnLst>
                              <p:par>
                                <p:cTn id="84" presetID="63" presetClass="path" presetSubtype="0" accel="50000" decel="50000" fill="hold" grpId="3" nodeType="afterEffect">
                                  <p:stCondLst>
                                    <p:cond delay="0"/>
                                  </p:stCondLst>
                                  <p:childTnLst>
                                    <p:animMotion origin="layout" path="M 0.28733 0.00046 L 0.38316 0.00046 " pathEditMode="relative" rAng="0" ptsTypes="AA">
                                      <p:cBhvr>
                                        <p:cTn id="85" dur="1000" fill="hold"/>
                                        <p:tgtEl>
                                          <p:spTgt spid="33"/>
                                        </p:tgtEl>
                                        <p:attrNameLst>
                                          <p:attrName>ppt_x</p:attrName>
                                          <p:attrName>ppt_y</p:attrName>
                                        </p:attrNameLst>
                                      </p:cBhvr>
                                      <p:rCtr x="4792" y="0"/>
                                    </p:animMotion>
                                  </p:childTnLst>
                                </p:cTn>
                              </p:par>
                            </p:childTnLst>
                          </p:cTn>
                        </p:par>
                        <p:par>
                          <p:cTn id="86" fill="hold">
                            <p:stCondLst>
                              <p:cond delay="5500"/>
                            </p:stCondLst>
                            <p:childTnLst>
                              <p:par>
                                <p:cTn id="87" presetID="44" presetClass="path" presetSubtype="0" accel="50000" decel="50000" fill="hold" grpId="1" nodeType="afterEffect">
                                  <p:stCondLst>
                                    <p:cond delay="0"/>
                                  </p:stCondLst>
                                  <p:childTnLst>
                                    <p:animMotion origin="layout" path="M -0.09462 -0.0007 L -0.06945 -0.04213 C -0.06406 -0.05139 -0.05625 -0.05625 -0.04792 -0.05625 C -0.03854 -0.05625 -0.0309 -0.05139 -0.0257 -0.04213 L -0.00018 -0.0007 " pathEditMode="relative" rAng="0" ptsTypes="AAAAA">
                                      <p:cBhvr>
                                        <p:cTn id="88" dur="1000" fill="hold"/>
                                        <p:tgtEl>
                                          <p:spTgt spid="12"/>
                                        </p:tgtEl>
                                        <p:attrNameLst>
                                          <p:attrName>ppt_x</p:attrName>
                                          <p:attrName>ppt_y</p:attrName>
                                        </p:attrNameLst>
                                      </p:cBhvr>
                                      <p:rCtr x="4722" y="-2778"/>
                                    </p:animMotion>
                                  </p:childTnLst>
                                </p:cTn>
                              </p:par>
                              <p:par>
                                <p:cTn id="89" presetID="44" presetClass="path" presetSubtype="0" accel="50000" decel="50000" fill="hold" grpId="1" nodeType="withEffect">
                                  <p:stCondLst>
                                    <p:cond delay="0"/>
                                  </p:stCondLst>
                                  <p:childTnLst>
                                    <p:animMotion origin="layout" path="M -0.09705 -0.00069 L -0.12257 -0.04143 C -0.12795 -0.05046 -0.13593 -0.05532 -0.14427 -0.05532 C -0.15364 -0.05532 -0.16128 -0.05046 -0.16649 -0.04143 L -0.19184 -0.00069 " pathEditMode="relative" rAng="0" ptsTypes="AAAAA">
                                      <p:cBhvr>
                                        <p:cTn id="90" dur="1000" fill="hold"/>
                                        <p:tgtEl>
                                          <p:spTgt spid="13"/>
                                        </p:tgtEl>
                                        <p:attrNameLst>
                                          <p:attrName>ppt_x</p:attrName>
                                          <p:attrName>ppt_y</p:attrName>
                                        </p:attrNameLst>
                                      </p:cBhvr>
                                      <p:rCtr x="-4740" y="-2731"/>
                                    </p:animMotion>
                                  </p:childTnLst>
                                </p:cTn>
                              </p:par>
                            </p:childTnLst>
                          </p:cTn>
                        </p:par>
                        <p:par>
                          <p:cTn id="91" fill="hold">
                            <p:stCondLst>
                              <p:cond delay="6500"/>
                            </p:stCondLst>
                            <p:childTnLst>
                              <p:par>
                                <p:cTn id="92" presetID="63" presetClass="path" presetSubtype="0" accel="50000" decel="50000" fill="hold" grpId="4" nodeType="afterEffect">
                                  <p:stCondLst>
                                    <p:cond delay="0"/>
                                  </p:stCondLst>
                                  <p:childTnLst>
                                    <p:animMotion origin="layout" path="M 0.38316 0.00046 L 0.4783 0.00093 " pathEditMode="relative" rAng="0" ptsTypes="AA">
                                      <p:cBhvr>
                                        <p:cTn id="93" dur="1000" fill="hold"/>
                                        <p:tgtEl>
                                          <p:spTgt spid="33"/>
                                        </p:tgtEl>
                                        <p:attrNameLst>
                                          <p:attrName>ppt_x</p:attrName>
                                          <p:attrName>ppt_y</p:attrName>
                                        </p:attrNameLst>
                                      </p:cBhvr>
                                      <p:rCtr x="4757" y="23"/>
                                    </p:animMotion>
                                  </p:childTnLst>
                                </p:cTn>
                              </p:par>
                            </p:childTnLst>
                          </p:cTn>
                        </p:par>
                        <p:par>
                          <p:cTn id="94" fill="hold">
                            <p:stCondLst>
                              <p:cond delay="7500"/>
                            </p:stCondLst>
                            <p:childTnLst>
                              <p:par>
                                <p:cTn id="95" presetID="63" presetClass="path" presetSubtype="0" accel="50000" decel="50000" fill="hold" grpId="5" nodeType="afterEffect">
                                  <p:stCondLst>
                                    <p:cond delay="0"/>
                                  </p:stCondLst>
                                  <p:childTnLst>
                                    <p:animMotion origin="layout" path="M 0.4783 0.00093 L 0.57448 0.00185 " pathEditMode="relative" rAng="0" ptsTypes="AA">
                                      <p:cBhvr>
                                        <p:cTn id="96" dur="1000" fill="hold"/>
                                        <p:tgtEl>
                                          <p:spTgt spid="33"/>
                                        </p:tgtEl>
                                        <p:attrNameLst>
                                          <p:attrName>ppt_x</p:attrName>
                                          <p:attrName>ppt_y</p:attrName>
                                        </p:attrNameLst>
                                      </p:cBhvr>
                                      <p:rCtr x="4809" y="46"/>
                                    </p:animMotion>
                                  </p:childTnLst>
                                </p:cTn>
                              </p:par>
                            </p:childTnLst>
                          </p:cTn>
                        </p:par>
                        <p:par>
                          <p:cTn id="97" fill="hold">
                            <p:stCondLst>
                              <p:cond delay="8500"/>
                            </p:stCondLst>
                            <p:childTnLst>
                              <p:par>
                                <p:cTn id="98" presetID="44" presetClass="path" presetSubtype="0" accel="50000" decel="50000" fill="hold" grpId="1" nodeType="afterEffect">
                                  <p:stCondLst>
                                    <p:cond delay="0"/>
                                  </p:stCondLst>
                                  <p:childTnLst>
                                    <p:animMotion origin="layout" path="M -0.09392 -0.00069 L -0.06858 -0.04097 C -0.06319 -0.05 -0.05521 -0.05463 -0.04687 -0.05463 C -0.03733 -0.05463 -0.02969 -0.05 -0.02448 -0.04097 L 0.00122 -0.00069 " pathEditMode="relative" rAng="0" ptsTypes="AAAAA">
                                      <p:cBhvr>
                                        <p:cTn id="99" dur="1000" fill="hold"/>
                                        <p:tgtEl>
                                          <p:spTgt spid="14"/>
                                        </p:tgtEl>
                                        <p:attrNameLst>
                                          <p:attrName>ppt_x</p:attrName>
                                          <p:attrName>ppt_y</p:attrName>
                                        </p:attrNameLst>
                                      </p:cBhvr>
                                      <p:rCtr x="4757" y="-2708"/>
                                    </p:animMotion>
                                  </p:childTnLst>
                                </p:cTn>
                              </p:par>
                              <p:par>
                                <p:cTn id="100" presetID="44" presetClass="path" presetSubtype="0" accel="50000" decel="50000" fill="hold" grpId="1" nodeType="withEffect">
                                  <p:stCondLst>
                                    <p:cond delay="0"/>
                                  </p:stCondLst>
                                  <p:childTnLst>
                                    <p:animMotion origin="layout" path="M -0.09409 -0.00069 L -0.12066 -0.04143 C -0.12621 -0.05046 -0.13455 -0.05532 -0.14305 -0.05532 C -0.15295 -0.05532 -0.16093 -0.05046 -0.16632 -0.04143 L -0.19271 -0.00069 " pathEditMode="relative" rAng="0" ptsTypes="AAAAA">
                                      <p:cBhvr>
                                        <p:cTn id="101" dur="1000" fill="hold"/>
                                        <p:tgtEl>
                                          <p:spTgt spid="15"/>
                                        </p:tgtEl>
                                        <p:attrNameLst>
                                          <p:attrName>ppt_x</p:attrName>
                                          <p:attrName>ppt_y</p:attrName>
                                        </p:attrNameLst>
                                      </p:cBhvr>
                                      <p:rCtr x="-4931" y="-2731"/>
                                    </p:animMotion>
                                  </p:childTnLst>
                                </p:cTn>
                              </p:par>
                            </p:childTnLst>
                          </p:cTn>
                        </p:par>
                        <p:par>
                          <p:cTn id="102" fill="hold">
                            <p:stCondLst>
                              <p:cond delay="9500"/>
                            </p:stCondLst>
                            <p:childTnLst>
                              <p:par>
                                <p:cTn id="103" presetID="63" presetClass="path" presetSubtype="0" accel="50000" decel="50000" fill="hold" grpId="6" nodeType="afterEffect">
                                  <p:stCondLst>
                                    <p:cond delay="0"/>
                                  </p:stCondLst>
                                  <p:childTnLst>
                                    <p:animMotion origin="layout" path="M 0.57448 0.00185 L 0.66858 0.00093 " pathEditMode="relative" rAng="0" ptsTypes="AA">
                                      <p:cBhvr>
                                        <p:cTn id="104" dur="1000" fill="hold"/>
                                        <p:tgtEl>
                                          <p:spTgt spid="33"/>
                                        </p:tgtEl>
                                        <p:attrNameLst>
                                          <p:attrName>ppt_x</p:attrName>
                                          <p:attrName>ppt_y</p:attrName>
                                        </p:attrNameLst>
                                      </p:cBhvr>
                                      <p:rCtr x="4705" y="-46"/>
                                    </p:animMotion>
                                  </p:childTnLst>
                                </p:cTn>
                              </p:par>
                            </p:childTnLst>
                          </p:cTn>
                        </p:par>
                        <p:par>
                          <p:cTn id="105" fill="hold">
                            <p:stCondLst>
                              <p:cond delay="10500"/>
                            </p:stCondLst>
                            <p:childTnLst>
                              <p:par>
                                <p:cTn id="106" presetID="10" presetClass="exit" presetSubtype="0" fill="hold" grpId="8" nodeType="afterEffect">
                                  <p:stCondLst>
                                    <p:cond delay="0"/>
                                  </p:stCondLst>
                                  <p:childTnLst>
                                    <p:animEffect transition="out" filter="fade">
                                      <p:cBhvr>
                                        <p:cTn id="107" dur="500"/>
                                        <p:tgtEl>
                                          <p:spTgt spid="33"/>
                                        </p:tgtEl>
                                      </p:cBhvr>
                                    </p:animEffect>
                                    <p:set>
                                      <p:cBhvr>
                                        <p:cTn id="108" dur="1" fill="hold">
                                          <p:stCondLst>
                                            <p:cond delay="499"/>
                                          </p:stCondLst>
                                        </p:cTn>
                                        <p:tgtEl>
                                          <p:spTgt spid="33"/>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7" nodeType="click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fade">
                                      <p:cBhvr>
                                        <p:cTn id="113" dur="500"/>
                                        <p:tgtEl>
                                          <p:spTgt spid="34"/>
                                        </p:tgtEl>
                                      </p:cBhvr>
                                    </p:animEffect>
                                  </p:childTnLst>
                                </p:cTn>
                              </p:par>
                            </p:childTnLst>
                          </p:cTn>
                        </p:par>
                        <p:par>
                          <p:cTn id="114" fill="hold">
                            <p:stCondLst>
                              <p:cond delay="500"/>
                            </p:stCondLst>
                            <p:childTnLst>
                              <p:par>
                                <p:cTn id="115" presetID="63" presetClass="path" presetSubtype="0" accel="50000" decel="50000" fill="hold" grpId="0" nodeType="afterEffect">
                                  <p:stCondLst>
                                    <p:cond delay="0"/>
                                  </p:stCondLst>
                                  <p:childTnLst>
                                    <p:animMotion origin="layout" path="M -1.66667E-6 -1.48148E-6 L 0.09601 0.00046 " pathEditMode="relative" rAng="0" ptsTypes="AA">
                                      <p:cBhvr>
                                        <p:cTn id="116" dur="1000" fill="hold"/>
                                        <p:tgtEl>
                                          <p:spTgt spid="34"/>
                                        </p:tgtEl>
                                        <p:attrNameLst>
                                          <p:attrName>ppt_x</p:attrName>
                                          <p:attrName>ppt_y</p:attrName>
                                        </p:attrNameLst>
                                      </p:cBhvr>
                                      <p:rCtr x="4792" y="23"/>
                                    </p:animMotion>
                                  </p:childTnLst>
                                </p:cTn>
                              </p:par>
                            </p:childTnLst>
                          </p:cTn>
                        </p:par>
                        <p:par>
                          <p:cTn id="117" fill="hold">
                            <p:stCondLst>
                              <p:cond delay="1500"/>
                            </p:stCondLst>
                            <p:childTnLst>
                              <p:par>
                                <p:cTn id="118" presetID="63" presetClass="path" presetSubtype="0" accel="50000" decel="50000" fill="hold" grpId="1" nodeType="afterEffect">
                                  <p:stCondLst>
                                    <p:cond delay="0"/>
                                  </p:stCondLst>
                                  <p:childTnLst>
                                    <p:animMotion origin="layout" path="M 0.09601 0.00046 L 0.19202 -0.00092 " pathEditMode="relative" rAng="0" ptsTypes="AA">
                                      <p:cBhvr>
                                        <p:cTn id="119" dur="1000" fill="hold"/>
                                        <p:tgtEl>
                                          <p:spTgt spid="34"/>
                                        </p:tgtEl>
                                        <p:attrNameLst>
                                          <p:attrName>ppt_x</p:attrName>
                                          <p:attrName>ppt_y</p:attrName>
                                        </p:attrNameLst>
                                      </p:cBhvr>
                                      <p:rCtr x="4792" y="-69"/>
                                    </p:animMotion>
                                  </p:childTnLst>
                                </p:cTn>
                              </p:par>
                            </p:childTnLst>
                          </p:cTn>
                        </p:par>
                        <p:par>
                          <p:cTn id="120" fill="hold">
                            <p:stCondLst>
                              <p:cond delay="2500"/>
                            </p:stCondLst>
                            <p:childTnLst>
                              <p:par>
                                <p:cTn id="121" presetID="63" presetClass="path" presetSubtype="0" accel="50000" decel="50000" fill="hold" grpId="2" nodeType="afterEffect">
                                  <p:stCondLst>
                                    <p:cond delay="0"/>
                                  </p:stCondLst>
                                  <p:childTnLst>
                                    <p:animMotion origin="layout" path="M 0.19202 -0.00092 L 0.28733 0.00046 " pathEditMode="relative" rAng="0" ptsTypes="AA">
                                      <p:cBhvr>
                                        <p:cTn id="122" dur="1000" fill="hold"/>
                                        <p:tgtEl>
                                          <p:spTgt spid="34"/>
                                        </p:tgtEl>
                                        <p:attrNameLst>
                                          <p:attrName>ppt_x</p:attrName>
                                          <p:attrName>ppt_y</p:attrName>
                                        </p:attrNameLst>
                                      </p:cBhvr>
                                      <p:rCtr x="4757" y="69"/>
                                    </p:animMotion>
                                  </p:childTnLst>
                                </p:cTn>
                              </p:par>
                            </p:childTnLst>
                          </p:cTn>
                        </p:par>
                        <p:par>
                          <p:cTn id="123" fill="hold">
                            <p:stCondLst>
                              <p:cond delay="3500"/>
                            </p:stCondLst>
                            <p:childTnLst>
                              <p:par>
                                <p:cTn id="124" presetID="44" presetClass="path" presetSubtype="0" accel="50000" decel="50000" fill="hold" grpId="1" nodeType="afterEffect">
                                  <p:stCondLst>
                                    <p:cond delay="0"/>
                                  </p:stCondLst>
                                  <p:childTnLst>
                                    <p:animMotion origin="layout" path="M -0.09618 -0.0007 L -0.07032 -0.04144 C -0.06493 -0.0507 -0.05678 -0.05533 -0.04827 -0.05533 C -0.03855 -0.05533 -0.03091 -0.0507 -0.02535 -0.04144 L 0.00069 -0.0007 " pathEditMode="relative" rAng="0" ptsTypes="AAAAA">
                                      <p:cBhvr>
                                        <p:cTn id="125" dur="1000" fill="hold"/>
                                        <p:tgtEl>
                                          <p:spTgt spid="11"/>
                                        </p:tgtEl>
                                        <p:attrNameLst>
                                          <p:attrName>ppt_x</p:attrName>
                                          <p:attrName>ppt_y</p:attrName>
                                        </p:attrNameLst>
                                      </p:cBhvr>
                                      <p:rCtr x="4844" y="-2731"/>
                                    </p:animMotion>
                                  </p:childTnLst>
                                </p:cTn>
                              </p:par>
                              <p:par>
                                <p:cTn id="126" presetID="44" presetClass="path" presetSubtype="0" accel="50000" decel="50000" fill="hold" grpId="2" nodeType="withEffect">
                                  <p:stCondLst>
                                    <p:cond delay="0"/>
                                  </p:stCondLst>
                                  <p:childTnLst>
                                    <p:animMotion origin="layout" path="M -0.1901 -0.0007 L -0.21614 -0.04213 C -0.2217 -0.05139 -0.22986 -0.05625 -0.23836 -0.05625 C -0.24809 -0.05625 -0.2559 -0.05139 -0.26128 -0.04213 L -0.28732 -0.0007 " pathEditMode="relative" rAng="0" ptsTypes="AAAAA">
                                      <p:cBhvr>
                                        <p:cTn id="127" dur="1000" fill="hold"/>
                                        <p:tgtEl>
                                          <p:spTgt spid="13"/>
                                        </p:tgtEl>
                                        <p:attrNameLst>
                                          <p:attrName>ppt_x</p:attrName>
                                          <p:attrName>ppt_y</p:attrName>
                                        </p:attrNameLst>
                                      </p:cBhvr>
                                      <p:rCtr x="-4861" y="-2778"/>
                                    </p:animMotion>
                                  </p:childTnLst>
                                </p:cTn>
                              </p:par>
                            </p:childTnLst>
                          </p:cTn>
                        </p:par>
                        <p:par>
                          <p:cTn id="128" fill="hold">
                            <p:stCondLst>
                              <p:cond delay="4500"/>
                            </p:stCondLst>
                            <p:childTnLst>
                              <p:par>
                                <p:cTn id="129" presetID="63" presetClass="path" presetSubtype="0" accel="50000" decel="50000" fill="hold" grpId="3" nodeType="afterEffect">
                                  <p:stCondLst>
                                    <p:cond delay="0"/>
                                  </p:stCondLst>
                                  <p:childTnLst>
                                    <p:animMotion origin="layout" path="M 0.28733 0.00046 L 0.38316 0.00046 " pathEditMode="relative" rAng="0" ptsTypes="AA">
                                      <p:cBhvr>
                                        <p:cTn id="130" dur="1000" fill="hold"/>
                                        <p:tgtEl>
                                          <p:spTgt spid="34"/>
                                        </p:tgtEl>
                                        <p:attrNameLst>
                                          <p:attrName>ppt_x</p:attrName>
                                          <p:attrName>ppt_y</p:attrName>
                                        </p:attrNameLst>
                                      </p:cBhvr>
                                      <p:rCtr x="4792" y="0"/>
                                    </p:animMotion>
                                  </p:childTnLst>
                                </p:cTn>
                              </p:par>
                            </p:childTnLst>
                          </p:cTn>
                        </p:par>
                        <p:par>
                          <p:cTn id="131" fill="hold">
                            <p:stCondLst>
                              <p:cond delay="5500"/>
                            </p:stCondLst>
                            <p:childTnLst>
                              <p:par>
                                <p:cTn id="132" presetID="63" presetClass="path" presetSubtype="0" accel="50000" decel="50000" fill="hold" grpId="4" nodeType="afterEffect">
                                  <p:stCondLst>
                                    <p:cond delay="0"/>
                                  </p:stCondLst>
                                  <p:childTnLst>
                                    <p:animMotion origin="layout" path="M 0.38316 0.00046 L 0.4783 0.00093 " pathEditMode="relative" rAng="0" ptsTypes="AA">
                                      <p:cBhvr>
                                        <p:cTn id="133" dur="1000" fill="hold"/>
                                        <p:tgtEl>
                                          <p:spTgt spid="34"/>
                                        </p:tgtEl>
                                        <p:attrNameLst>
                                          <p:attrName>ppt_x</p:attrName>
                                          <p:attrName>ppt_y</p:attrName>
                                        </p:attrNameLst>
                                      </p:cBhvr>
                                      <p:rCtr x="4757" y="23"/>
                                    </p:animMotion>
                                  </p:childTnLst>
                                </p:cTn>
                              </p:par>
                            </p:childTnLst>
                          </p:cTn>
                        </p:par>
                        <p:par>
                          <p:cTn id="134" fill="hold">
                            <p:stCondLst>
                              <p:cond delay="6500"/>
                            </p:stCondLst>
                            <p:childTnLst>
                              <p:par>
                                <p:cTn id="135" presetID="63" presetClass="path" presetSubtype="0" accel="50000" decel="50000" fill="hold" grpId="5" nodeType="afterEffect">
                                  <p:stCondLst>
                                    <p:cond delay="0"/>
                                  </p:stCondLst>
                                  <p:childTnLst>
                                    <p:animMotion origin="layout" path="M 0.4783 0.00093 L 0.57448 0.00185 " pathEditMode="relative" rAng="0" ptsTypes="AA">
                                      <p:cBhvr>
                                        <p:cTn id="136" dur="1000" fill="hold"/>
                                        <p:tgtEl>
                                          <p:spTgt spid="34"/>
                                        </p:tgtEl>
                                        <p:attrNameLst>
                                          <p:attrName>ppt_x</p:attrName>
                                          <p:attrName>ppt_y</p:attrName>
                                        </p:attrNameLst>
                                      </p:cBhvr>
                                      <p:rCtr x="4809" y="46"/>
                                    </p:animMotion>
                                  </p:childTnLst>
                                </p:cTn>
                              </p:par>
                            </p:childTnLst>
                          </p:cTn>
                        </p:par>
                        <p:par>
                          <p:cTn id="137" fill="hold">
                            <p:stCondLst>
                              <p:cond delay="7500"/>
                            </p:stCondLst>
                            <p:childTnLst>
                              <p:par>
                                <p:cTn id="138" presetID="63" presetClass="path" presetSubtype="0" accel="50000" decel="50000" fill="hold" grpId="6" nodeType="afterEffect">
                                  <p:stCondLst>
                                    <p:cond delay="0"/>
                                  </p:stCondLst>
                                  <p:childTnLst>
                                    <p:animMotion origin="layout" path="M 0.57448 0.00185 L 0.66858 0.00093 " pathEditMode="relative" rAng="0" ptsTypes="AA">
                                      <p:cBhvr>
                                        <p:cTn id="139" dur="1000" fill="hold"/>
                                        <p:tgtEl>
                                          <p:spTgt spid="34"/>
                                        </p:tgtEl>
                                        <p:attrNameLst>
                                          <p:attrName>ppt_x</p:attrName>
                                          <p:attrName>ppt_y</p:attrName>
                                        </p:attrNameLst>
                                      </p:cBhvr>
                                      <p:rCtr x="4705" y="-46"/>
                                    </p:animMotion>
                                  </p:childTnLst>
                                </p:cTn>
                              </p:par>
                            </p:childTnLst>
                          </p:cTn>
                        </p:par>
                        <p:par>
                          <p:cTn id="140" fill="hold">
                            <p:stCondLst>
                              <p:cond delay="8500"/>
                            </p:stCondLst>
                            <p:childTnLst>
                              <p:par>
                                <p:cTn id="141" presetID="10" presetClass="exit" presetSubtype="0" fill="hold" grpId="8" nodeType="afterEffect">
                                  <p:stCondLst>
                                    <p:cond delay="0"/>
                                  </p:stCondLst>
                                  <p:childTnLst>
                                    <p:animEffect transition="out" filter="fade">
                                      <p:cBhvr>
                                        <p:cTn id="142" dur="500"/>
                                        <p:tgtEl>
                                          <p:spTgt spid="34"/>
                                        </p:tgtEl>
                                      </p:cBhvr>
                                    </p:animEffect>
                                    <p:set>
                                      <p:cBhvr>
                                        <p:cTn id="143" dur="1" fill="hold">
                                          <p:stCondLst>
                                            <p:cond delay="499"/>
                                          </p:stCondLst>
                                        </p:cTn>
                                        <p:tgtEl>
                                          <p:spTgt spid="34"/>
                                        </p:tgtEl>
                                        <p:attrNameLst>
                                          <p:attrName>style.visibility</p:attrName>
                                        </p:attrNameLst>
                                      </p:cBhvr>
                                      <p:to>
                                        <p:strVal val="hidden"/>
                                      </p:to>
                                    </p:se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7" nodeType="clickEffect">
                                  <p:stCondLst>
                                    <p:cond delay="0"/>
                                  </p:stCondLst>
                                  <p:childTnLst>
                                    <p:set>
                                      <p:cBhvr>
                                        <p:cTn id="147" dur="1" fill="hold">
                                          <p:stCondLst>
                                            <p:cond delay="0"/>
                                          </p:stCondLst>
                                        </p:cTn>
                                        <p:tgtEl>
                                          <p:spTgt spid="35"/>
                                        </p:tgtEl>
                                        <p:attrNameLst>
                                          <p:attrName>style.visibility</p:attrName>
                                        </p:attrNameLst>
                                      </p:cBhvr>
                                      <p:to>
                                        <p:strVal val="visible"/>
                                      </p:to>
                                    </p:set>
                                    <p:animEffect transition="in" filter="fade">
                                      <p:cBhvr>
                                        <p:cTn id="148" dur="500"/>
                                        <p:tgtEl>
                                          <p:spTgt spid="35"/>
                                        </p:tgtEl>
                                      </p:cBhvr>
                                    </p:animEffect>
                                  </p:childTnLst>
                                </p:cTn>
                              </p:par>
                            </p:childTnLst>
                          </p:cTn>
                        </p:par>
                        <p:par>
                          <p:cTn id="149" fill="hold">
                            <p:stCondLst>
                              <p:cond delay="500"/>
                            </p:stCondLst>
                            <p:childTnLst>
                              <p:par>
                                <p:cTn id="150" presetID="63" presetClass="path" presetSubtype="0" accel="50000" decel="50000" fill="hold" grpId="0" nodeType="afterEffect">
                                  <p:stCondLst>
                                    <p:cond delay="0"/>
                                  </p:stCondLst>
                                  <p:childTnLst>
                                    <p:animMotion origin="layout" path="M -2.5E-6 -1.48148E-6 L 0.09601 0.00046 " pathEditMode="relative" rAng="0" ptsTypes="AA">
                                      <p:cBhvr>
                                        <p:cTn id="151" dur="750" fill="hold"/>
                                        <p:tgtEl>
                                          <p:spTgt spid="35"/>
                                        </p:tgtEl>
                                        <p:attrNameLst>
                                          <p:attrName>ppt_x</p:attrName>
                                          <p:attrName>ppt_y</p:attrName>
                                        </p:attrNameLst>
                                      </p:cBhvr>
                                      <p:rCtr x="4792" y="23"/>
                                    </p:animMotion>
                                  </p:childTnLst>
                                </p:cTn>
                              </p:par>
                            </p:childTnLst>
                          </p:cTn>
                        </p:par>
                        <p:par>
                          <p:cTn id="152" fill="hold">
                            <p:stCondLst>
                              <p:cond delay="1250"/>
                            </p:stCondLst>
                            <p:childTnLst>
                              <p:par>
                                <p:cTn id="153" presetID="63" presetClass="path" presetSubtype="0" accel="50000" decel="50000" fill="hold" grpId="1" nodeType="afterEffect">
                                  <p:stCondLst>
                                    <p:cond delay="0"/>
                                  </p:stCondLst>
                                  <p:childTnLst>
                                    <p:animMotion origin="layout" path="M 0.09601 0.00046 L 0.19202 -0.00092 " pathEditMode="relative" rAng="0" ptsTypes="AA">
                                      <p:cBhvr>
                                        <p:cTn id="154" dur="750" fill="hold"/>
                                        <p:tgtEl>
                                          <p:spTgt spid="35"/>
                                        </p:tgtEl>
                                        <p:attrNameLst>
                                          <p:attrName>ppt_x</p:attrName>
                                          <p:attrName>ppt_y</p:attrName>
                                        </p:attrNameLst>
                                      </p:cBhvr>
                                      <p:rCtr x="4792" y="-69"/>
                                    </p:animMotion>
                                  </p:childTnLst>
                                </p:cTn>
                              </p:par>
                            </p:childTnLst>
                          </p:cTn>
                        </p:par>
                        <p:par>
                          <p:cTn id="155" fill="hold">
                            <p:stCondLst>
                              <p:cond delay="2000"/>
                            </p:stCondLst>
                            <p:childTnLst>
                              <p:par>
                                <p:cTn id="156" presetID="63" presetClass="path" presetSubtype="0" accel="50000" decel="50000" fill="hold" grpId="2" nodeType="afterEffect">
                                  <p:stCondLst>
                                    <p:cond delay="0"/>
                                  </p:stCondLst>
                                  <p:childTnLst>
                                    <p:animMotion origin="layout" path="M 0.19202 -0.00092 L 0.28733 0.00046 " pathEditMode="relative" rAng="0" ptsTypes="AA">
                                      <p:cBhvr>
                                        <p:cTn id="157" dur="750" fill="hold"/>
                                        <p:tgtEl>
                                          <p:spTgt spid="35"/>
                                        </p:tgtEl>
                                        <p:attrNameLst>
                                          <p:attrName>ppt_x</p:attrName>
                                          <p:attrName>ppt_y</p:attrName>
                                        </p:attrNameLst>
                                      </p:cBhvr>
                                      <p:rCtr x="4757" y="69"/>
                                    </p:animMotion>
                                  </p:childTnLst>
                                </p:cTn>
                              </p:par>
                            </p:childTnLst>
                          </p:cTn>
                        </p:par>
                        <p:par>
                          <p:cTn id="158" fill="hold">
                            <p:stCondLst>
                              <p:cond delay="2750"/>
                            </p:stCondLst>
                            <p:childTnLst>
                              <p:par>
                                <p:cTn id="159" presetID="63" presetClass="path" presetSubtype="0" accel="50000" decel="50000" fill="hold" grpId="3" nodeType="afterEffect">
                                  <p:stCondLst>
                                    <p:cond delay="0"/>
                                  </p:stCondLst>
                                  <p:childTnLst>
                                    <p:animMotion origin="layout" path="M 0.28733 0.00046 L 0.38316 0.00046 " pathEditMode="relative" rAng="0" ptsTypes="AA">
                                      <p:cBhvr>
                                        <p:cTn id="160" dur="750" fill="hold"/>
                                        <p:tgtEl>
                                          <p:spTgt spid="35"/>
                                        </p:tgtEl>
                                        <p:attrNameLst>
                                          <p:attrName>ppt_x</p:attrName>
                                          <p:attrName>ppt_y</p:attrName>
                                        </p:attrNameLst>
                                      </p:cBhvr>
                                      <p:rCtr x="4792" y="0"/>
                                    </p:animMotion>
                                  </p:childTnLst>
                                </p:cTn>
                              </p:par>
                            </p:childTnLst>
                          </p:cTn>
                        </p:par>
                        <p:par>
                          <p:cTn id="161" fill="hold">
                            <p:stCondLst>
                              <p:cond delay="3500"/>
                            </p:stCondLst>
                            <p:childTnLst>
                              <p:par>
                                <p:cTn id="162" presetID="63" presetClass="path" presetSubtype="0" accel="50000" decel="50000" fill="hold" grpId="4" nodeType="afterEffect">
                                  <p:stCondLst>
                                    <p:cond delay="0"/>
                                  </p:stCondLst>
                                  <p:childTnLst>
                                    <p:animMotion origin="layout" path="M 0.38316 0.00046 L 0.4783 0.00093 " pathEditMode="relative" rAng="0" ptsTypes="AA">
                                      <p:cBhvr>
                                        <p:cTn id="163" dur="750" fill="hold"/>
                                        <p:tgtEl>
                                          <p:spTgt spid="35"/>
                                        </p:tgtEl>
                                        <p:attrNameLst>
                                          <p:attrName>ppt_x</p:attrName>
                                          <p:attrName>ppt_y</p:attrName>
                                        </p:attrNameLst>
                                      </p:cBhvr>
                                      <p:rCtr x="4757" y="23"/>
                                    </p:animMotion>
                                  </p:childTnLst>
                                </p:cTn>
                              </p:par>
                            </p:childTnLst>
                          </p:cTn>
                        </p:par>
                        <p:par>
                          <p:cTn id="164" fill="hold">
                            <p:stCondLst>
                              <p:cond delay="4250"/>
                            </p:stCondLst>
                            <p:childTnLst>
                              <p:par>
                                <p:cTn id="165" presetID="63" presetClass="path" presetSubtype="0" accel="50000" decel="50000" fill="hold" grpId="5" nodeType="afterEffect">
                                  <p:stCondLst>
                                    <p:cond delay="0"/>
                                  </p:stCondLst>
                                  <p:childTnLst>
                                    <p:animMotion origin="layout" path="M 0.4783 0.00093 L 0.57448 0.00185 " pathEditMode="relative" rAng="0" ptsTypes="AA">
                                      <p:cBhvr>
                                        <p:cTn id="166" dur="750" fill="hold"/>
                                        <p:tgtEl>
                                          <p:spTgt spid="35"/>
                                        </p:tgtEl>
                                        <p:attrNameLst>
                                          <p:attrName>ppt_x</p:attrName>
                                          <p:attrName>ppt_y</p:attrName>
                                        </p:attrNameLst>
                                      </p:cBhvr>
                                      <p:rCtr x="4809" y="46"/>
                                    </p:animMotion>
                                  </p:childTnLst>
                                </p:cTn>
                              </p:par>
                            </p:childTnLst>
                          </p:cTn>
                        </p:par>
                        <p:par>
                          <p:cTn id="167" fill="hold">
                            <p:stCondLst>
                              <p:cond delay="5000"/>
                            </p:stCondLst>
                            <p:childTnLst>
                              <p:par>
                                <p:cTn id="168" presetID="63" presetClass="path" presetSubtype="0" accel="50000" decel="50000" fill="hold" grpId="6" nodeType="afterEffect">
                                  <p:stCondLst>
                                    <p:cond delay="0"/>
                                  </p:stCondLst>
                                  <p:childTnLst>
                                    <p:animMotion origin="layout" path="M 0.57448 0.00185 L 0.66858 0.00093 " pathEditMode="relative" rAng="0" ptsTypes="AA">
                                      <p:cBhvr>
                                        <p:cTn id="169" dur="750" fill="hold"/>
                                        <p:tgtEl>
                                          <p:spTgt spid="35"/>
                                        </p:tgtEl>
                                        <p:attrNameLst>
                                          <p:attrName>ppt_x</p:attrName>
                                          <p:attrName>ppt_y</p:attrName>
                                        </p:attrNameLst>
                                      </p:cBhvr>
                                      <p:rCtr x="4705" y="-46"/>
                                    </p:animMotion>
                                  </p:childTnLst>
                                </p:cTn>
                              </p:par>
                            </p:childTnLst>
                          </p:cTn>
                        </p:par>
                        <p:par>
                          <p:cTn id="170" fill="hold">
                            <p:stCondLst>
                              <p:cond delay="5750"/>
                            </p:stCondLst>
                            <p:childTnLst>
                              <p:par>
                                <p:cTn id="171" presetID="10" presetClass="exit" presetSubtype="0" fill="hold" grpId="8" nodeType="afterEffect">
                                  <p:stCondLst>
                                    <p:cond delay="0"/>
                                  </p:stCondLst>
                                  <p:childTnLst>
                                    <p:animEffect transition="out" filter="fade">
                                      <p:cBhvr>
                                        <p:cTn id="172" dur="500"/>
                                        <p:tgtEl>
                                          <p:spTgt spid="35"/>
                                        </p:tgtEl>
                                      </p:cBhvr>
                                    </p:animEffect>
                                    <p:set>
                                      <p:cBhvr>
                                        <p:cTn id="173" dur="1" fill="hold">
                                          <p:stCondLst>
                                            <p:cond delay="499"/>
                                          </p:stCondLst>
                                        </p:cTn>
                                        <p:tgtEl>
                                          <p:spTgt spid="35"/>
                                        </p:tgtEl>
                                        <p:attrNameLst>
                                          <p:attrName>style.visibility</p:attrName>
                                        </p:attrNameLst>
                                      </p:cBhvr>
                                      <p:to>
                                        <p:strVal val="hidden"/>
                                      </p:to>
                                    </p:set>
                                  </p:childTnLst>
                                </p:cTn>
                              </p:par>
                            </p:childTnLst>
                          </p:cTn>
                        </p:par>
                      </p:childTnLst>
                    </p:cTn>
                  </p:par>
                  <p:par>
                    <p:cTn id="174" fill="hold">
                      <p:stCondLst>
                        <p:cond delay="indefinite"/>
                      </p:stCondLst>
                      <p:childTnLst>
                        <p:par>
                          <p:cTn id="175" fill="hold">
                            <p:stCondLst>
                              <p:cond delay="0"/>
                            </p:stCondLst>
                            <p:childTnLst>
                              <p:par>
                                <p:cTn id="176" presetID="7" presetClass="emph" presetSubtype="2" fill="hold" nodeType="clickEffect">
                                  <p:stCondLst>
                                    <p:cond delay="0"/>
                                  </p:stCondLst>
                                  <p:childTnLst>
                                    <p:animClr clrSpc="rgb" dir="cw">
                                      <p:cBhvr>
                                        <p:cTn id="177" dur="500" fill="hold"/>
                                        <p:tgtEl>
                                          <p:spTgt spid="8"/>
                                        </p:tgtEl>
                                        <p:attrNameLst>
                                          <p:attrName>stroke.color</p:attrName>
                                        </p:attrNameLst>
                                      </p:cBhvr>
                                      <p:to>
                                        <a:srgbClr val="00B050"/>
                                      </p:to>
                                    </p:animClr>
                                    <p:set>
                                      <p:cBhvr>
                                        <p:cTn id="178" dur="500" fill="hold"/>
                                        <p:tgtEl>
                                          <p:spTgt spid="8"/>
                                        </p:tgtEl>
                                        <p:attrNameLst>
                                          <p:attrName>stroke.on</p:attrName>
                                        </p:attrNameLst>
                                      </p:cBhvr>
                                      <p:to>
                                        <p:strVal val="true"/>
                                      </p:to>
                                    </p:set>
                                  </p:childTnLst>
                                </p:cTn>
                              </p:par>
                              <p:par>
                                <p:cTn id="179" presetID="7" presetClass="emph" presetSubtype="2" fill="hold" nodeType="withEffect">
                                  <p:stCondLst>
                                    <p:cond delay="0"/>
                                  </p:stCondLst>
                                  <p:childTnLst>
                                    <p:animClr clrSpc="rgb" dir="cw">
                                      <p:cBhvr>
                                        <p:cTn id="180" dur="500" fill="hold"/>
                                        <p:tgtEl>
                                          <p:spTgt spid="9"/>
                                        </p:tgtEl>
                                        <p:attrNameLst>
                                          <p:attrName>stroke.color</p:attrName>
                                        </p:attrNameLst>
                                      </p:cBhvr>
                                      <p:to>
                                        <a:srgbClr val="00B050"/>
                                      </p:to>
                                    </p:animClr>
                                    <p:set>
                                      <p:cBhvr>
                                        <p:cTn id="181" dur="500" fill="hold"/>
                                        <p:tgtEl>
                                          <p:spTgt spid="9"/>
                                        </p:tgtEl>
                                        <p:attrNameLst>
                                          <p:attrName>stroke.on</p:attrName>
                                        </p:attrNameLst>
                                      </p:cBhvr>
                                      <p:to>
                                        <p:strVal val="true"/>
                                      </p:to>
                                    </p:set>
                                  </p:childTnLst>
                                </p:cTn>
                              </p:par>
                              <p:par>
                                <p:cTn id="182" presetID="7" presetClass="emph" presetSubtype="2" fill="hold" nodeType="withEffect">
                                  <p:stCondLst>
                                    <p:cond delay="0"/>
                                  </p:stCondLst>
                                  <p:childTnLst>
                                    <p:animClr clrSpc="rgb" dir="cw">
                                      <p:cBhvr>
                                        <p:cTn id="183" dur="500" fill="hold"/>
                                        <p:tgtEl>
                                          <p:spTgt spid="10"/>
                                        </p:tgtEl>
                                        <p:attrNameLst>
                                          <p:attrName>stroke.color</p:attrName>
                                        </p:attrNameLst>
                                      </p:cBhvr>
                                      <p:to>
                                        <a:srgbClr val="00B050"/>
                                      </p:to>
                                    </p:animClr>
                                    <p:set>
                                      <p:cBhvr>
                                        <p:cTn id="184" dur="500" fill="hold"/>
                                        <p:tgtEl>
                                          <p:spTgt spid="10"/>
                                        </p:tgtEl>
                                        <p:attrNameLst>
                                          <p:attrName>stroke.on</p:attrName>
                                        </p:attrNameLst>
                                      </p:cBhvr>
                                      <p:to>
                                        <p:strVal val="true"/>
                                      </p:to>
                                    </p:set>
                                  </p:childTnLst>
                                </p:cTn>
                              </p:par>
                              <p:par>
                                <p:cTn id="185" presetID="7" presetClass="emph" presetSubtype="2" fill="hold" nodeType="withEffect">
                                  <p:stCondLst>
                                    <p:cond delay="0"/>
                                  </p:stCondLst>
                                  <p:childTnLst>
                                    <p:animClr clrSpc="rgb" dir="cw">
                                      <p:cBhvr>
                                        <p:cTn id="186" dur="500" fill="hold"/>
                                        <p:tgtEl>
                                          <p:spTgt spid="11"/>
                                        </p:tgtEl>
                                        <p:attrNameLst>
                                          <p:attrName>stroke.color</p:attrName>
                                        </p:attrNameLst>
                                      </p:cBhvr>
                                      <p:to>
                                        <a:srgbClr val="00B050"/>
                                      </p:to>
                                    </p:animClr>
                                    <p:set>
                                      <p:cBhvr>
                                        <p:cTn id="187" dur="500" fill="hold"/>
                                        <p:tgtEl>
                                          <p:spTgt spid="11"/>
                                        </p:tgtEl>
                                        <p:attrNameLst>
                                          <p:attrName>stroke.on</p:attrName>
                                        </p:attrNameLst>
                                      </p:cBhvr>
                                      <p:to>
                                        <p:strVal val="true"/>
                                      </p:to>
                                    </p:set>
                                  </p:childTnLst>
                                </p:cTn>
                              </p:par>
                              <p:par>
                                <p:cTn id="188" presetID="7" presetClass="emph" presetSubtype="2" fill="hold" nodeType="withEffect">
                                  <p:stCondLst>
                                    <p:cond delay="0"/>
                                  </p:stCondLst>
                                  <p:childTnLst>
                                    <p:animClr clrSpc="rgb" dir="cw">
                                      <p:cBhvr>
                                        <p:cTn id="189" dur="500" fill="hold"/>
                                        <p:tgtEl>
                                          <p:spTgt spid="12"/>
                                        </p:tgtEl>
                                        <p:attrNameLst>
                                          <p:attrName>stroke.color</p:attrName>
                                        </p:attrNameLst>
                                      </p:cBhvr>
                                      <p:to>
                                        <a:srgbClr val="00B050"/>
                                      </p:to>
                                    </p:animClr>
                                    <p:set>
                                      <p:cBhvr>
                                        <p:cTn id="190" dur="500" fill="hold"/>
                                        <p:tgtEl>
                                          <p:spTgt spid="12"/>
                                        </p:tgtEl>
                                        <p:attrNameLst>
                                          <p:attrName>stroke.on</p:attrName>
                                        </p:attrNameLst>
                                      </p:cBhvr>
                                      <p:to>
                                        <p:strVal val="true"/>
                                      </p:to>
                                    </p:set>
                                  </p:childTnLst>
                                </p:cTn>
                              </p:par>
                              <p:par>
                                <p:cTn id="191" presetID="7" presetClass="emph" presetSubtype="2" fill="hold" nodeType="withEffect">
                                  <p:stCondLst>
                                    <p:cond delay="0"/>
                                  </p:stCondLst>
                                  <p:childTnLst>
                                    <p:animClr clrSpc="rgb" dir="cw">
                                      <p:cBhvr>
                                        <p:cTn id="192" dur="500" fill="hold"/>
                                        <p:tgtEl>
                                          <p:spTgt spid="13"/>
                                        </p:tgtEl>
                                        <p:attrNameLst>
                                          <p:attrName>stroke.color</p:attrName>
                                        </p:attrNameLst>
                                      </p:cBhvr>
                                      <p:to>
                                        <a:srgbClr val="00B050"/>
                                      </p:to>
                                    </p:animClr>
                                    <p:set>
                                      <p:cBhvr>
                                        <p:cTn id="193" dur="500" fill="hold"/>
                                        <p:tgtEl>
                                          <p:spTgt spid="13"/>
                                        </p:tgtEl>
                                        <p:attrNameLst>
                                          <p:attrName>stroke.on</p:attrName>
                                        </p:attrNameLst>
                                      </p:cBhvr>
                                      <p:to>
                                        <p:strVal val="true"/>
                                      </p:to>
                                    </p:set>
                                  </p:childTnLst>
                                </p:cTn>
                              </p:par>
                              <p:par>
                                <p:cTn id="194" presetID="7" presetClass="emph" presetSubtype="2" fill="hold" nodeType="withEffect">
                                  <p:stCondLst>
                                    <p:cond delay="0"/>
                                  </p:stCondLst>
                                  <p:childTnLst>
                                    <p:animClr clrSpc="rgb" dir="cw">
                                      <p:cBhvr>
                                        <p:cTn id="195" dur="500" fill="hold"/>
                                        <p:tgtEl>
                                          <p:spTgt spid="14"/>
                                        </p:tgtEl>
                                        <p:attrNameLst>
                                          <p:attrName>stroke.color</p:attrName>
                                        </p:attrNameLst>
                                      </p:cBhvr>
                                      <p:to>
                                        <a:srgbClr val="00B050"/>
                                      </p:to>
                                    </p:animClr>
                                    <p:set>
                                      <p:cBhvr>
                                        <p:cTn id="196" dur="500" fill="hold"/>
                                        <p:tgtEl>
                                          <p:spTgt spid="14"/>
                                        </p:tgtEl>
                                        <p:attrNameLst>
                                          <p:attrName>stroke.on</p:attrName>
                                        </p:attrNameLst>
                                      </p:cBhvr>
                                      <p:to>
                                        <p:strVal val="true"/>
                                      </p:to>
                                    </p:set>
                                  </p:childTnLst>
                                </p:cTn>
                              </p:par>
                              <p:par>
                                <p:cTn id="197" presetID="7" presetClass="emph" presetSubtype="2" fill="hold" nodeType="withEffect">
                                  <p:stCondLst>
                                    <p:cond delay="0"/>
                                  </p:stCondLst>
                                  <p:childTnLst>
                                    <p:animClr clrSpc="rgb" dir="cw">
                                      <p:cBhvr>
                                        <p:cTn id="198" dur="500" fill="hold"/>
                                        <p:tgtEl>
                                          <p:spTgt spid="15"/>
                                        </p:tgtEl>
                                        <p:attrNameLst>
                                          <p:attrName>stroke.color</p:attrName>
                                        </p:attrNameLst>
                                      </p:cBhvr>
                                      <p:to>
                                        <a:srgbClr val="00B050"/>
                                      </p:to>
                                    </p:animClr>
                                    <p:set>
                                      <p:cBhvr>
                                        <p:cTn id="199" dur="500" fill="hold"/>
                                        <p:tgtEl>
                                          <p:spTgt spid="15"/>
                                        </p:tgtEl>
                                        <p:attrNameLst>
                                          <p:attrName>stroke.on</p:attrName>
                                        </p:attrNameLst>
                                      </p:cBhvr>
                                      <p:to>
                                        <p:strVal val="true"/>
                                      </p:to>
                                    </p:set>
                                  </p:childTnLst>
                                </p:cTn>
                              </p:par>
                              <p:par>
                                <p:cTn id="200" presetID="7" presetClass="emph" presetSubtype="2" fill="hold" nodeType="withEffect">
                                  <p:stCondLst>
                                    <p:cond delay="0"/>
                                  </p:stCondLst>
                                  <p:childTnLst>
                                    <p:animClr clrSpc="rgb" dir="cw">
                                      <p:cBhvr>
                                        <p:cTn id="201" dur="500" fill="hold"/>
                                        <p:tgtEl>
                                          <p:spTgt spid="7"/>
                                        </p:tgtEl>
                                        <p:attrNameLst>
                                          <p:attrName>stroke.color</p:attrName>
                                        </p:attrNameLst>
                                      </p:cBhvr>
                                      <p:to>
                                        <a:srgbClr val="00B050"/>
                                      </p:to>
                                    </p:animClr>
                                    <p:set>
                                      <p:cBhvr>
                                        <p:cTn id="202" dur="500" fill="hold"/>
                                        <p:tgtEl>
                                          <p:spTgt spid="7"/>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8" grpId="3" animBg="1"/>
      <p:bldP spid="8" grpId="4" animBg="1"/>
      <p:bldP spid="8" grpId="5" animBg="1"/>
      <p:bldP spid="8" grpId="6"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3" grpId="2" animBg="1"/>
      <p:bldP spid="14" grpId="0" animBg="1"/>
      <p:bldP spid="14" grpId="1" animBg="1"/>
      <p:bldP spid="15" grpId="0" animBg="1"/>
      <p:bldP spid="15" grpId="1" animBg="1"/>
      <p:bldP spid="32" grpId="0" animBg="1"/>
      <p:bldP spid="32" grpId="1" animBg="1"/>
      <p:bldP spid="32" grpId="2" animBg="1"/>
      <p:bldP spid="32" grpId="3" animBg="1"/>
      <p:bldP spid="32" grpId="4" animBg="1"/>
      <p:bldP spid="32" grpId="5" animBg="1"/>
      <p:bldP spid="32" grpId="6" animBg="1"/>
      <p:bldP spid="32" grpId="7" animBg="1"/>
      <p:bldP spid="33" grpId="0" animBg="1"/>
      <p:bldP spid="33" grpId="1" animBg="1"/>
      <p:bldP spid="33" grpId="2" animBg="1"/>
      <p:bldP spid="33" grpId="3" animBg="1"/>
      <p:bldP spid="33" grpId="4" animBg="1"/>
      <p:bldP spid="33" grpId="5" animBg="1"/>
      <p:bldP spid="33" grpId="6" animBg="1"/>
      <p:bldP spid="33" grpId="7" animBg="1"/>
      <p:bldP spid="33" grpId="8" animBg="1"/>
      <p:bldP spid="34" grpId="0" animBg="1"/>
      <p:bldP spid="34" grpId="1" animBg="1"/>
      <p:bldP spid="34" grpId="2" animBg="1"/>
      <p:bldP spid="34" grpId="3" animBg="1"/>
      <p:bldP spid="34" grpId="4" animBg="1"/>
      <p:bldP spid="34" grpId="5" animBg="1"/>
      <p:bldP spid="34" grpId="6" animBg="1"/>
      <p:bldP spid="34" grpId="7" animBg="1"/>
      <p:bldP spid="34" grpId="8" animBg="1"/>
      <p:bldP spid="35" grpId="0" animBg="1"/>
      <p:bldP spid="35" grpId="1" animBg="1"/>
      <p:bldP spid="35" grpId="2" animBg="1"/>
      <p:bldP spid="35" grpId="3" animBg="1"/>
      <p:bldP spid="35" grpId="4" animBg="1"/>
      <p:bldP spid="35" grpId="5" animBg="1"/>
      <p:bldP spid="35" grpId="6" animBg="1"/>
      <p:bldP spid="35" grpId="7" animBg="1"/>
      <p:bldP spid="35" grpId="8"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Selection Sort</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a:bodyPr>
          <a:lstStyle/>
          <a:p>
            <a:r>
              <a:rPr lang="en-US" dirty="0"/>
              <a:t>Selection Sort is another common sorting algorithm that organizes elements within a collection.</a:t>
            </a:r>
          </a:p>
          <a:p>
            <a:r>
              <a:rPr lang="en-US" dirty="0"/>
              <a:t>The Selection Sort works by repeatedly finding the smallest element of a collection and moving the found element forward by swapping the position of the left-most element, with the smaller.</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Tree>
    <p:extLst>
      <p:ext uri="{BB962C8B-B14F-4D97-AF65-F5344CB8AC3E}">
        <p14:creationId xmlns:p14="http://schemas.microsoft.com/office/powerpoint/2010/main" val="319587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Selection Sort</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
        <p:nvSpPr>
          <p:cNvPr id="5" name="Google Shape;219;p16">
            <a:extLst>
              <a:ext uri="{FF2B5EF4-FFF2-40B4-BE49-F238E27FC236}">
                <a16:creationId xmlns:a16="http://schemas.microsoft.com/office/drawing/2014/main" id="{2D21D435-BEF9-4016-BEFF-5825BF33BA5C}"/>
              </a:ext>
            </a:extLst>
          </p:cNvPr>
          <p:cNvSpPr txBox="1">
            <a:spLocks/>
          </p:cNvSpPr>
          <p:nvPr/>
        </p:nvSpPr>
        <p:spPr>
          <a:xfrm>
            <a:off x="892695" y="1772174"/>
            <a:ext cx="7358609" cy="4086366"/>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600" b="1" dirty="0">
                <a:solidFill>
                  <a:srgbClr val="9966FF"/>
                </a:solidFill>
                <a:latin typeface="Courier New" panose="02070309020205020404" pitchFamily="49" charset="0"/>
                <a:cs typeface="Courier New" panose="02070309020205020404" pitchFamily="49" charset="0"/>
              </a:rPr>
              <a:t>public void</a:t>
            </a:r>
            <a:r>
              <a:rPr lang="en-US" sz="1600" b="1"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selectionSort</a:t>
            </a:r>
            <a:r>
              <a:rPr lang="en-US" sz="1600" dirty="0">
                <a:latin typeface="Courier New" panose="02070309020205020404" pitchFamily="49" charset="0"/>
                <a:cs typeface="Courier New" panose="02070309020205020404" pitchFamily="49" charset="0"/>
              </a:rPr>
              <a:t>(</a:t>
            </a:r>
            <a:r>
              <a:rPr lang="en-US" sz="1600" dirty="0">
                <a:solidFill>
                  <a:schemeClr val="tx1"/>
                </a:solidFill>
                <a:latin typeface="Courier New" panose="02070309020205020404" pitchFamily="49" charset="0"/>
                <a:cs typeface="Courier New" panose="02070309020205020404" pitchFamily="49" charset="0"/>
              </a:rPr>
              <a:t>Integer</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n = </a:t>
            </a:r>
            <a:r>
              <a:rPr lang="en-US" sz="1600" dirty="0" err="1">
                <a:latin typeface="Courier New" panose="02070309020205020404" pitchFamily="49" charset="0"/>
                <a:cs typeface="Courier New" panose="02070309020205020404" pitchFamily="49" charset="0"/>
              </a:rPr>
              <a:t>arr.length</a:t>
            </a:r>
            <a:r>
              <a:rPr lang="en-US" sz="16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for</a:t>
            </a:r>
            <a:r>
              <a:rPr lang="en-US" sz="1600" b="1" dirty="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0;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&lt; n – 1;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for</a:t>
            </a: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j = minIndex+1; j &lt; </a:t>
            </a:r>
            <a:r>
              <a:rPr lang="en-US" sz="1600" dirty="0" err="1">
                <a:latin typeface="Courier New" panose="02070309020205020404" pitchFamily="49" charset="0"/>
                <a:cs typeface="Courier New" panose="02070309020205020404" pitchFamily="49" charset="0"/>
              </a:rPr>
              <a:t>arr.length</a:t>
            </a:r>
            <a:r>
              <a:rPr lang="en-US" sz="1600" dirty="0">
                <a:latin typeface="Courier New" panose="02070309020205020404" pitchFamily="49" charset="0"/>
                <a:cs typeface="Courier New" panose="02070309020205020404" pitchFamily="49" charset="0"/>
              </a:rPr>
              <a:t> - 1; </a:t>
            </a:r>
            <a:r>
              <a:rPr lang="en-US" sz="1600" dirty="0" err="1">
                <a:latin typeface="Courier New" panose="02070309020205020404" pitchFamily="49" charset="0"/>
                <a:cs typeface="Courier New" panose="02070309020205020404" pitchFamily="49" charset="0"/>
              </a:rPr>
              <a:t>j++</a:t>
            </a: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 &gt;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[j])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 = j;</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temp =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 = temp;</a:t>
            </a:r>
          </a:p>
          <a:p>
            <a:pPr marL="182880" lvl="1" indent="0" defTabSz="457200">
              <a:lnSpc>
                <a:spcPct val="90000"/>
              </a:lnSpc>
              <a:spcBef>
                <a:spcPts val="480"/>
              </a:spcBef>
              <a:buSzPts val="2400"/>
              <a:buFont typeface="Arial" panose="020B0604020202020204" pitchFamily="34" charset="0"/>
              <a:buNone/>
            </a:pP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64376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Selection Sort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31</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380010" y="3204593"/>
            <a:ext cx="8372212" cy="1567432"/>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71976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81</a:t>
            </a:r>
          </a:p>
        </p:txBody>
      </p:sp>
      <p:sp>
        <p:nvSpPr>
          <p:cNvPr id="8" name="Rectangle: Rounded Corners 7">
            <a:extLst>
              <a:ext uri="{FF2B5EF4-FFF2-40B4-BE49-F238E27FC236}">
                <a16:creationId xmlns:a16="http://schemas.microsoft.com/office/drawing/2014/main" id="{4062C34C-7660-DD0D-1AD8-827AC9608DBF}"/>
              </a:ext>
            </a:extLst>
          </p:cNvPr>
          <p:cNvSpPr/>
          <p:nvPr/>
        </p:nvSpPr>
        <p:spPr>
          <a:xfrm>
            <a:off x="159221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52</a:t>
            </a:r>
          </a:p>
        </p:txBody>
      </p:sp>
      <p:sp>
        <p:nvSpPr>
          <p:cNvPr id="9" name="Rectangle: Rounded Corners 8">
            <a:extLst>
              <a:ext uri="{FF2B5EF4-FFF2-40B4-BE49-F238E27FC236}">
                <a16:creationId xmlns:a16="http://schemas.microsoft.com/office/drawing/2014/main" id="{4E49746E-ADB4-4361-119F-199F4AC1EF89}"/>
              </a:ext>
            </a:extLst>
          </p:cNvPr>
          <p:cNvSpPr/>
          <p:nvPr/>
        </p:nvSpPr>
        <p:spPr>
          <a:xfrm>
            <a:off x="246467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22</a:t>
            </a:r>
          </a:p>
        </p:txBody>
      </p:sp>
      <p:sp>
        <p:nvSpPr>
          <p:cNvPr id="10" name="Rectangle: Rounded Corners 9">
            <a:extLst>
              <a:ext uri="{FF2B5EF4-FFF2-40B4-BE49-F238E27FC236}">
                <a16:creationId xmlns:a16="http://schemas.microsoft.com/office/drawing/2014/main" id="{680D5B45-9F4A-2780-3893-A51B9AE0247B}"/>
              </a:ext>
            </a:extLst>
          </p:cNvPr>
          <p:cNvSpPr/>
          <p:nvPr/>
        </p:nvSpPr>
        <p:spPr>
          <a:xfrm>
            <a:off x="333712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18</a:t>
            </a:r>
          </a:p>
        </p:txBody>
      </p:sp>
      <p:sp>
        <p:nvSpPr>
          <p:cNvPr id="11" name="Rectangle: Rounded Corners 10">
            <a:extLst>
              <a:ext uri="{FF2B5EF4-FFF2-40B4-BE49-F238E27FC236}">
                <a16:creationId xmlns:a16="http://schemas.microsoft.com/office/drawing/2014/main" id="{2F370C9A-344E-3386-3EAB-7D0B1C28F4C9}"/>
              </a:ext>
            </a:extLst>
          </p:cNvPr>
          <p:cNvSpPr/>
          <p:nvPr/>
        </p:nvSpPr>
        <p:spPr>
          <a:xfrm>
            <a:off x="420958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31</a:t>
            </a:r>
          </a:p>
        </p:txBody>
      </p:sp>
      <p:sp>
        <p:nvSpPr>
          <p:cNvPr id="12" name="Rectangle: Rounded Corners 11">
            <a:extLst>
              <a:ext uri="{FF2B5EF4-FFF2-40B4-BE49-F238E27FC236}">
                <a16:creationId xmlns:a16="http://schemas.microsoft.com/office/drawing/2014/main" id="{6805E105-159C-261A-B820-3DB75A5DFA44}"/>
              </a:ext>
            </a:extLst>
          </p:cNvPr>
          <p:cNvSpPr/>
          <p:nvPr/>
        </p:nvSpPr>
        <p:spPr>
          <a:xfrm>
            <a:off x="508203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48</a:t>
            </a:r>
          </a:p>
        </p:txBody>
      </p:sp>
      <p:sp>
        <p:nvSpPr>
          <p:cNvPr id="13" name="Rectangle: Rounded Corners 12">
            <a:extLst>
              <a:ext uri="{FF2B5EF4-FFF2-40B4-BE49-F238E27FC236}">
                <a16:creationId xmlns:a16="http://schemas.microsoft.com/office/drawing/2014/main" id="{086013E1-1923-4D13-8147-584142FDC66F}"/>
              </a:ext>
            </a:extLst>
          </p:cNvPr>
          <p:cNvSpPr/>
          <p:nvPr/>
        </p:nvSpPr>
        <p:spPr>
          <a:xfrm>
            <a:off x="595449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25</a:t>
            </a:r>
          </a:p>
        </p:txBody>
      </p:sp>
      <p:sp>
        <p:nvSpPr>
          <p:cNvPr id="14" name="Rectangle: Rounded Corners 13">
            <a:extLst>
              <a:ext uri="{FF2B5EF4-FFF2-40B4-BE49-F238E27FC236}">
                <a16:creationId xmlns:a16="http://schemas.microsoft.com/office/drawing/2014/main" id="{9E5A1E3E-E07C-AAB4-9EAC-EF6323034B56}"/>
              </a:ext>
            </a:extLst>
          </p:cNvPr>
          <p:cNvSpPr/>
          <p:nvPr/>
        </p:nvSpPr>
        <p:spPr>
          <a:xfrm>
            <a:off x="682694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67</a:t>
            </a:r>
          </a:p>
        </p:txBody>
      </p:sp>
      <p:sp>
        <p:nvSpPr>
          <p:cNvPr id="15" name="Rectangle: Rounded Corners 14">
            <a:extLst>
              <a:ext uri="{FF2B5EF4-FFF2-40B4-BE49-F238E27FC236}">
                <a16:creationId xmlns:a16="http://schemas.microsoft.com/office/drawing/2014/main" id="{8DE14A9F-A316-A963-AA86-1AE91FE001FC}"/>
              </a:ext>
            </a:extLst>
          </p:cNvPr>
          <p:cNvSpPr/>
          <p:nvPr/>
        </p:nvSpPr>
        <p:spPr>
          <a:xfrm>
            <a:off x="769940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a:t>
            </a:r>
          </a:p>
        </p:txBody>
      </p:sp>
      <p:sp>
        <p:nvSpPr>
          <p:cNvPr id="16" name="TextBox 15">
            <a:extLst>
              <a:ext uri="{FF2B5EF4-FFF2-40B4-BE49-F238E27FC236}">
                <a16:creationId xmlns:a16="http://schemas.microsoft.com/office/drawing/2014/main" id="{7C722FC9-1A31-4CE0-AC37-297870C0782A}"/>
              </a:ext>
            </a:extLst>
          </p:cNvPr>
          <p:cNvSpPr txBox="1"/>
          <p:nvPr/>
        </p:nvSpPr>
        <p:spPr>
          <a:xfrm>
            <a:off x="684808" y="4286140"/>
            <a:ext cx="759558" cy="369332"/>
          </a:xfrm>
          <a:prstGeom prst="rect">
            <a:avLst/>
          </a:prstGeom>
          <a:noFill/>
        </p:spPr>
        <p:txBody>
          <a:bodyPr wrap="square" rtlCol="0" anchor="ctr">
            <a:spAutoFit/>
          </a:bodyPr>
          <a:lstStyle/>
          <a:p>
            <a:pPr algn="ctr"/>
            <a:r>
              <a:rPr lang="en-US" dirty="0"/>
              <a:t>Low</a:t>
            </a:r>
          </a:p>
        </p:txBody>
      </p:sp>
      <p:grpSp>
        <p:nvGrpSpPr>
          <p:cNvPr id="25" name="Group 24">
            <a:extLst>
              <a:ext uri="{FF2B5EF4-FFF2-40B4-BE49-F238E27FC236}">
                <a16:creationId xmlns:a16="http://schemas.microsoft.com/office/drawing/2014/main" id="{8D740370-5018-69D8-DBED-07E36A421EEE}"/>
              </a:ext>
            </a:extLst>
          </p:cNvPr>
          <p:cNvGrpSpPr/>
          <p:nvPr/>
        </p:nvGrpSpPr>
        <p:grpSpPr>
          <a:xfrm>
            <a:off x="735817" y="2467567"/>
            <a:ext cx="680956" cy="673892"/>
            <a:chOff x="751872" y="2017117"/>
            <a:chExt cx="680956" cy="1078421"/>
          </a:xfrm>
        </p:grpSpPr>
        <p:sp>
          <p:nvSpPr>
            <p:cNvPr id="26" name="TextBox 25">
              <a:extLst>
                <a:ext uri="{FF2B5EF4-FFF2-40B4-BE49-F238E27FC236}">
                  <a16:creationId xmlns:a16="http://schemas.microsoft.com/office/drawing/2014/main" id="{78CE0F4E-5473-6A01-FB29-364471A4DB9E}"/>
                </a:ext>
              </a:extLst>
            </p:cNvPr>
            <p:cNvSpPr txBox="1"/>
            <p:nvPr/>
          </p:nvSpPr>
          <p:spPr>
            <a:xfrm>
              <a:off x="751872" y="2017117"/>
              <a:ext cx="680956" cy="307777"/>
            </a:xfrm>
            <a:prstGeom prst="rect">
              <a:avLst/>
            </a:prstGeom>
            <a:noFill/>
          </p:spPr>
          <p:txBody>
            <a:bodyPr wrap="none" rtlCol="0">
              <a:spAutoFit/>
            </a:bodyPr>
            <a:lstStyle/>
            <a:p>
              <a:r>
                <a:rPr lang="en-US" sz="1400" dirty="0"/>
                <a:t>Target</a:t>
              </a:r>
            </a:p>
          </p:txBody>
        </p:sp>
        <p:cxnSp>
          <p:nvCxnSpPr>
            <p:cNvPr id="27" name="Straight Arrow Connector 26">
              <a:extLst>
                <a:ext uri="{FF2B5EF4-FFF2-40B4-BE49-F238E27FC236}">
                  <a16:creationId xmlns:a16="http://schemas.microsoft.com/office/drawing/2014/main" id="{34B1DC3D-0719-C4BD-FF9D-B676FD8248AD}"/>
                </a:ext>
              </a:extLst>
            </p:cNvPr>
            <p:cNvCxnSpPr>
              <a:cxnSpLocks/>
            </p:cNvCxnSpPr>
            <p:nvPr/>
          </p:nvCxnSpPr>
          <p:spPr>
            <a:xfrm>
              <a:off x="1092350" y="2520127"/>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30" name="Group 29">
            <a:extLst>
              <a:ext uri="{FF2B5EF4-FFF2-40B4-BE49-F238E27FC236}">
                <a16:creationId xmlns:a16="http://schemas.microsoft.com/office/drawing/2014/main" id="{35721449-B392-7BE8-FBD0-B037A30EDADF}"/>
              </a:ext>
            </a:extLst>
          </p:cNvPr>
          <p:cNvGrpSpPr/>
          <p:nvPr/>
        </p:nvGrpSpPr>
        <p:grpSpPr>
          <a:xfrm>
            <a:off x="1592218" y="2441408"/>
            <a:ext cx="780983" cy="667344"/>
            <a:chOff x="751872" y="2017117"/>
            <a:chExt cx="780983" cy="1067943"/>
          </a:xfrm>
        </p:grpSpPr>
        <p:sp>
          <p:nvSpPr>
            <p:cNvPr id="31" name="TextBox 30">
              <a:extLst>
                <a:ext uri="{FF2B5EF4-FFF2-40B4-BE49-F238E27FC236}">
                  <a16:creationId xmlns:a16="http://schemas.microsoft.com/office/drawing/2014/main" id="{94EA1E75-85C0-C4FC-0DA8-034F4A68F8EA}"/>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36" name="Straight Arrow Connector 35">
              <a:extLst>
                <a:ext uri="{FF2B5EF4-FFF2-40B4-BE49-F238E27FC236}">
                  <a16:creationId xmlns:a16="http://schemas.microsoft.com/office/drawing/2014/main" id="{C10B065F-116F-90FA-2076-442589A47A16}"/>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37" name="Group 36">
            <a:extLst>
              <a:ext uri="{FF2B5EF4-FFF2-40B4-BE49-F238E27FC236}">
                <a16:creationId xmlns:a16="http://schemas.microsoft.com/office/drawing/2014/main" id="{E2F96892-C6AC-D387-A1C5-ABEA91524AE8}"/>
              </a:ext>
            </a:extLst>
          </p:cNvPr>
          <p:cNvGrpSpPr/>
          <p:nvPr/>
        </p:nvGrpSpPr>
        <p:grpSpPr>
          <a:xfrm>
            <a:off x="2464673" y="2415513"/>
            <a:ext cx="780983" cy="667344"/>
            <a:chOff x="751872" y="2017117"/>
            <a:chExt cx="780983" cy="1067943"/>
          </a:xfrm>
        </p:grpSpPr>
        <p:sp>
          <p:nvSpPr>
            <p:cNvPr id="38" name="TextBox 37">
              <a:extLst>
                <a:ext uri="{FF2B5EF4-FFF2-40B4-BE49-F238E27FC236}">
                  <a16:creationId xmlns:a16="http://schemas.microsoft.com/office/drawing/2014/main" id="{B8CBFFDE-5B6C-D010-B342-E672F8BFC304}"/>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39" name="Straight Arrow Connector 38">
              <a:extLst>
                <a:ext uri="{FF2B5EF4-FFF2-40B4-BE49-F238E27FC236}">
                  <a16:creationId xmlns:a16="http://schemas.microsoft.com/office/drawing/2014/main" id="{28BB941F-E697-AC9C-F0C3-1D3AF779B8BB}"/>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40" name="Group 39">
            <a:extLst>
              <a:ext uri="{FF2B5EF4-FFF2-40B4-BE49-F238E27FC236}">
                <a16:creationId xmlns:a16="http://schemas.microsoft.com/office/drawing/2014/main" id="{0FF8BFF2-FFE0-9AFB-3F0F-09BD6760F934}"/>
              </a:ext>
            </a:extLst>
          </p:cNvPr>
          <p:cNvGrpSpPr/>
          <p:nvPr/>
        </p:nvGrpSpPr>
        <p:grpSpPr>
          <a:xfrm>
            <a:off x="3288260" y="2415513"/>
            <a:ext cx="780983" cy="667344"/>
            <a:chOff x="751872" y="2017117"/>
            <a:chExt cx="780983" cy="1067943"/>
          </a:xfrm>
        </p:grpSpPr>
        <p:sp>
          <p:nvSpPr>
            <p:cNvPr id="41" name="TextBox 40">
              <a:extLst>
                <a:ext uri="{FF2B5EF4-FFF2-40B4-BE49-F238E27FC236}">
                  <a16:creationId xmlns:a16="http://schemas.microsoft.com/office/drawing/2014/main" id="{4D7D44CE-011E-4F75-CA9B-AE3C80EAB9FD}"/>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42" name="Straight Arrow Connector 41">
              <a:extLst>
                <a:ext uri="{FF2B5EF4-FFF2-40B4-BE49-F238E27FC236}">
                  <a16:creationId xmlns:a16="http://schemas.microsoft.com/office/drawing/2014/main" id="{F93805C3-8247-846A-E47D-46B2552B223F}"/>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
        <p:nvSpPr>
          <p:cNvPr id="53" name="TextBox 52">
            <a:extLst>
              <a:ext uri="{FF2B5EF4-FFF2-40B4-BE49-F238E27FC236}">
                <a16:creationId xmlns:a16="http://schemas.microsoft.com/office/drawing/2014/main" id="{E5B07A7D-7894-8120-D041-00BF3F28C82E}"/>
              </a:ext>
            </a:extLst>
          </p:cNvPr>
          <p:cNvSpPr txBox="1"/>
          <p:nvPr/>
        </p:nvSpPr>
        <p:spPr>
          <a:xfrm>
            <a:off x="1545725" y="4276375"/>
            <a:ext cx="759558" cy="369332"/>
          </a:xfrm>
          <a:prstGeom prst="rect">
            <a:avLst/>
          </a:prstGeom>
          <a:noFill/>
        </p:spPr>
        <p:txBody>
          <a:bodyPr wrap="square" rtlCol="0" anchor="ctr">
            <a:spAutoFit/>
          </a:bodyPr>
          <a:lstStyle/>
          <a:p>
            <a:pPr algn="ctr"/>
            <a:r>
              <a:rPr lang="en-US" dirty="0"/>
              <a:t>Low</a:t>
            </a:r>
          </a:p>
        </p:txBody>
      </p:sp>
      <p:sp>
        <p:nvSpPr>
          <p:cNvPr id="54" name="TextBox 53">
            <a:extLst>
              <a:ext uri="{FF2B5EF4-FFF2-40B4-BE49-F238E27FC236}">
                <a16:creationId xmlns:a16="http://schemas.microsoft.com/office/drawing/2014/main" id="{A503024D-9B8F-8DB3-1C25-9AA5D7FD9984}"/>
              </a:ext>
            </a:extLst>
          </p:cNvPr>
          <p:cNvSpPr txBox="1"/>
          <p:nvPr/>
        </p:nvSpPr>
        <p:spPr>
          <a:xfrm>
            <a:off x="3313881" y="4250416"/>
            <a:ext cx="759558" cy="369332"/>
          </a:xfrm>
          <a:prstGeom prst="rect">
            <a:avLst/>
          </a:prstGeom>
          <a:noFill/>
        </p:spPr>
        <p:txBody>
          <a:bodyPr wrap="square" rtlCol="0" anchor="ctr">
            <a:spAutoFit/>
          </a:bodyPr>
          <a:lstStyle/>
          <a:p>
            <a:pPr algn="ctr"/>
            <a:r>
              <a:rPr lang="en-US" dirty="0"/>
              <a:t>Low</a:t>
            </a:r>
          </a:p>
        </p:txBody>
      </p:sp>
      <p:grpSp>
        <p:nvGrpSpPr>
          <p:cNvPr id="55" name="Group 54">
            <a:extLst>
              <a:ext uri="{FF2B5EF4-FFF2-40B4-BE49-F238E27FC236}">
                <a16:creationId xmlns:a16="http://schemas.microsoft.com/office/drawing/2014/main" id="{40EDF51E-780F-78E6-493A-A2AE526C6A21}"/>
              </a:ext>
            </a:extLst>
          </p:cNvPr>
          <p:cNvGrpSpPr/>
          <p:nvPr/>
        </p:nvGrpSpPr>
        <p:grpSpPr>
          <a:xfrm>
            <a:off x="4175623" y="2415513"/>
            <a:ext cx="780983" cy="667344"/>
            <a:chOff x="751872" y="2017117"/>
            <a:chExt cx="780983" cy="1067943"/>
          </a:xfrm>
        </p:grpSpPr>
        <p:sp>
          <p:nvSpPr>
            <p:cNvPr id="56" name="TextBox 55">
              <a:extLst>
                <a:ext uri="{FF2B5EF4-FFF2-40B4-BE49-F238E27FC236}">
                  <a16:creationId xmlns:a16="http://schemas.microsoft.com/office/drawing/2014/main" id="{92FDFE3D-84F5-3A8D-7958-2A0353BC03A6}"/>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57" name="Straight Arrow Connector 56">
              <a:extLst>
                <a:ext uri="{FF2B5EF4-FFF2-40B4-BE49-F238E27FC236}">
                  <a16:creationId xmlns:a16="http://schemas.microsoft.com/office/drawing/2014/main" id="{9279B5F5-ABBD-27C9-F277-128AC4958CA8}"/>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
        <p:nvSpPr>
          <p:cNvPr id="58" name="TextBox 57">
            <a:extLst>
              <a:ext uri="{FF2B5EF4-FFF2-40B4-BE49-F238E27FC236}">
                <a16:creationId xmlns:a16="http://schemas.microsoft.com/office/drawing/2014/main" id="{9F9BA5BD-F53C-964D-D03B-62A5CA391551}"/>
              </a:ext>
            </a:extLst>
          </p:cNvPr>
          <p:cNvSpPr txBox="1"/>
          <p:nvPr/>
        </p:nvSpPr>
        <p:spPr>
          <a:xfrm>
            <a:off x="2441426" y="4272850"/>
            <a:ext cx="759558" cy="369332"/>
          </a:xfrm>
          <a:prstGeom prst="rect">
            <a:avLst/>
          </a:prstGeom>
          <a:noFill/>
        </p:spPr>
        <p:txBody>
          <a:bodyPr wrap="square" rtlCol="0" anchor="ctr">
            <a:spAutoFit/>
          </a:bodyPr>
          <a:lstStyle/>
          <a:p>
            <a:pPr algn="ctr"/>
            <a:r>
              <a:rPr lang="en-US" dirty="0"/>
              <a:t>Low</a:t>
            </a:r>
          </a:p>
        </p:txBody>
      </p:sp>
      <p:sp>
        <p:nvSpPr>
          <p:cNvPr id="59" name="TextBox 58">
            <a:extLst>
              <a:ext uri="{FF2B5EF4-FFF2-40B4-BE49-F238E27FC236}">
                <a16:creationId xmlns:a16="http://schemas.microsoft.com/office/drawing/2014/main" id="{7ED6D774-D72D-0588-B6F7-1549DABA35AA}"/>
              </a:ext>
            </a:extLst>
          </p:cNvPr>
          <p:cNvSpPr txBox="1"/>
          <p:nvPr/>
        </p:nvSpPr>
        <p:spPr>
          <a:xfrm>
            <a:off x="4163090" y="4272299"/>
            <a:ext cx="759558" cy="369332"/>
          </a:xfrm>
          <a:prstGeom prst="rect">
            <a:avLst/>
          </a:prstGeom>
          <a:noFill/>
        </p:spPr>
        <p:txBody>
          <a:bodyPr wrap="square" rtlCol="0" anchor="ctr">
            <a:spAutoFit/>
          </a:bodyPr>
          <a:lstStyle/>
          <a:p>
            <a:pPr algn="ctr"/>
            <a:r>
              <a:rPr lang="en-US" dirty="0"/>
              <a:t>Low</a:t>
            </a:r>
          </a:p>
        </p:txBody>
      </p:sp>
      <p:sp>
        <p:nvSpPr>
          <p:cNvPr id="60" name="TextBox 59">
            <a:extLst>
              <a:ext uri="{FF2B5EF4-FFF2-40B4-BE49-F238E27FC236}">
                <a16:creationId xmlns:a16="http://schemas.microsoft.com/office/drawing/2014/main" id="{F55D4979-1169-7061-038D-917FBD7D1A97}"/>
              </a:ext>
            </a:extLst>
          </p:cNvPr>
          <p:cNvSpPr txBox="1"/>
          <p:nvPr/>
        </p:nvSpPr>
        <p:spPr>
          <a:xfrm>
            <a:off x="5035545" y="4253433"/>
            <a:ext cx="759558" cy="369332"/>
          </a:xfrm>
          <a:prstGeom prst="rect">
            <a:avLst/>
          </a:prstGeom>
          <a:noFill/>
        </p:spPr>
        <p:txBody>
          <a:bodyPr wrap="square" rtlCol="0" anchor="ctr">
            <a:spAutoFit/>
          </a:bodyPr>
          <a:lstStyle/>
          <a:p>
            <a:pPr algn="ctr"/>
            <a:r>
              <a:rPr lang="en-US" dirty="0"/>
              <a:t>Low</a:t>
            </a:r>
          </a:p>
        </p:txBody>
      </p:sp>
      <p:sp>
        <p:nvSpPr>
          <p:cNvPr id="61" name="TextBox 60">
            <a:extLst>
              <a:ext uri="{FF2B5EF4-FFF2-40B4-BE49-F238E27FC236}">
                <a16:creationId xmlns:a16="http://schemas.microsoft.com/office/drawing/2014/main" id="{F384DE4A-36DA-2479-C6D1-AC1F4BCE8F69}"/>
              </a:ext>
            </a:extLst>
          </p:cNvPr>
          <p:cNvSpPr txBox="1"/>
          <p:nvPr/>
        </p:nvSpPr>
        <p:spPr>
          <a:xfrm>
            <a:off x="5914057" y="4253433"/>
            <a:ext cx="759558" cy="369332"/>
          </a:xfrm>
          <a:prstGeom prst="rect">
            <a:avLst/>
          </a:prstGeom>
          <a:noFill/>
        </p:spPr>
        <p:txBody>
          <a:bodyPr wrap="square" rtlCol="0" anchor="ctr">
            <a:spAutoFit/>
          </a:bodyPr>
          <a:lstStyle/>
          <a:p>
            <a:pPr algn="ctr"/>
            <a:r>
              <a:rPr lang="en-US" dirty="0"/>
              <a:t>Low</a:t>
            </a:r>
          </a:p>
        </p:txBody>
      </p:sp>
      <p:sp>
        <p:nvSpPr>
          <p:cNvPr id="62" name="TextBox 61">
            <a:extLst>
              <a:ext uri="{FF2B5EF4-FFF2-40B4-BE49-F238E27FC236}">
                <a16:creationId xmlns:a16="http://schemas.microsoft.com/office/drawing/2014/main" id="{8F8EF342-3AB5-E222-4000-6F357DF2868C}"/>
              </a:ext>
            </a:extLst>
          </p:cNvPr>
          <p:cNvSpPr txBox="1"/>
          <p:nvPr/>
        </p:nvSpPr>
        <p:spPr>
          <a:xfrm>
            <a:off x="6803701" y="4253433"/>
            <a:ext cx="759558" cy="369332"/>
          </a:xfrm>
          <a:prstGeom prst="rect">
            <a:avLst/>
          </a:prstGeom>
          <a:noFill/>
        </p:spPr>
        <p:txBody>
          <a:bodyPr wrap="square" rtlCol="0" anchor="ctr">
            <a:spAutoFit/>
          </a:bodyPr>
          <a:lstStyle/>
          <a:p>
            <a:pPr algn="ctr"/>
            <a:r>
              <a:rPr lang="en-US" dirty="0"/>
              <a:t>Low</a:t>
            </a:r>
          </a:p>
        </p:txBody>
      </p:sp>
      <p:grpSp>
        <p:nvGrpSpPr>
          <p:cNvPr id="63" name="Group 62">
            <a:extLst>
              <a:ext uri="{FF2B5EF4-FFF2-40B4-BE49-F238E27FC236}">
                <a16:creationId xmlns:a16="http://schemas.microsoft.com/office/drawing/2014/main" id="{0EE767A7-FD93-3BC6-2C27-C49AA91041F1}"/>
              </a:ext>
            </a:extLst>
          </p:cNvPr>
          <p:cNvGrpSpPr/>
          <p:nvPr/>
        </p:nvGrpSpPr>
        <p:grpSpPr>
          <a:xfrm>
            <a:off x="5062985" y="2387530"/>
            <a:ext cx="780983" cy="667344"/>
            <a:chOff x="751872" y="2017117"/>
            <a:chExt cx="780983" cy="1067943"/>
          </a:xfrm>
        </p:grpSpPr>
        <p:sp>
          <p:nvSpPr>
            <p:cNvPr id="64" name="TextBox 63">
              <a:extLst>
                <a:ext uri="{FF2B5EF4-FFF2-40B4-BE49-F238E27FC236}">
                  <a16:creationId xmlns:a16="http://schemas.microsoft.com/office/drawing/2014/main" id="{9FC24F5A-D9BD-DE79-58A3-00229B741FC6}"/>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65" name="Straight Arrow Connector 64">
              <a:extLst>
                <a:ext uri="{FF2B5EF4-FFF2-40B4-BE49-F238E27FC236}">
                  <a16:creationId xmlns:a16="http://schemas.microsoft.com/office/drawing/2014/main" id="{5C4B1E19-FD74-1E3C-E6E1-90A6BF5E128A}"/>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66" name="Group 65">
            <a:extLst>
              <a:ext uri="{FF2B5EF4-FFF2-40B4-BE49-F238E27FC236}">
                <a16:creationId xmlns:a16="http://schemas.microsoft.com/office/drawing/2014/main" id="{050A4BBE-446B-0D71-D7A9-D024561C27A3}"/>
              </a:ext>
            </a:extLst>
          </p:cNvPr>
          <p:cNvGrpSpPr/>
          <p:nvPr/>
        </p:nvGrpSpPr>
        <p:grpSpPr>
          <a:xfrm>
            <a:off x="5920533" y="2373454"/>
            <a:ext cx="780983" cy="667344"/>
            <a:chOff x="751872" y="2017117"/>
            <a:chExt cx="780983" cy="1067943"/>
          </a:xfrm>
        </p:grpSpPr>
        <p:sp>
          <p:nvSpPr>
            <p:cNvPr id="67" name="TextBox 66">
              <a:extLst>
                <a:ext uri="{FF2B5EF4-FFF2-40B4-BE49-F238E27FC236}">
                  <a16:creationId xmlns:a16="http://schemas.microsoft.com/office/drawing/2014/main" id="{5AB7BE8D-E302-F44E-1D7E-01C99109BF7E}"/>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68" name="Straight Arrow Connector 67">
              <a:extLst>
                <a:ext uri="{FF2B5EF4-FFF2-40B4-BE49-F238E27FC236}">
                  <a16:creationId xmlns:a16="http://schemas.microsoft.com/office/drawing/2014/main" id="{5108580B-BBC4-62EC-CAF6-5FC96A407909}"/>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69" name="Group 68">
            <a:extLst>
              <a:ext uri="{FF2B5EF4-FFF2-40B4-BE49-F238E27FC236}">
                <a16:creationId xmlns:a16="http://schemas.microsoft.com/office/drawing/2014/main" id="{D08B2906-3722-95AE-1A8A-A06694B2C9D1}"/>
              </a:ext>
            </a:extLst>
          </p:cNvPr>
          <p:cNvGrpSpPr/>
          <p:nvPr/>
        </p:nvGrpSpPr>
        <p:grpSpPr>
          <a:xfrm>
            <a:off x="6778080" y="2387530"/>
            <a:ext cx="780983" cy="667344"/>
            <a:chOff x="751872" y="2017117"/>
            <a:chExt cx="780983" cy="1067943"/>
          </a:xfrm>
        </p:grpSpPr>
        <p:sp>
          <p:nvSpPr>
            <p:cNvPr id="70" name="TextBox 69">
              <a:extLst>
                <a:ext uri="{FF2B5EF4-FFF2-40B4-BE49-F238E27FC236}">
                  <a16:creationId xmlns:a16="http://schemas.microsoft.com/office/drawing/2014/main" id="{333EA2E0-6A07-B819-A6D1-F7E21B933DE1}"/>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71" name="Straight Arrow Connector 70">
              <a:extLst>
                <a:ext uri="{FF2B5EF4-FFF2-40B4-BE49-F238E27FC236}">
                  <a16:creationId xmlns:a16="http://schemas.microsoft.com/office/drawing/2014/main" id="{0A597E26-25A5-6343-6F0C-937F6FA03365}"/>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72" name="Group 71">
            <a:extLst>
              <a:ext uri="{FF2B5EF4-FFF2-40B4-BE49-F238E27FC236}">
                <a16:creationId xmlns:a16="http://schemas.microsoft.com/office/drawing/2014/main" id="{F18AAE3B-8813-2AFD-F2EA-0C14AD0A4177}"/>
              </a:ext>
            </a:extLst>
          </p:cNvPr>
          <p:cNvGrpSpPr/>
          <p:nvPr/>
        </p:nvGrpSpPr>
        <p:grpSpPr>
          <a:xfrm>
            <a:off x="7699403" y="2374046"/>
            <a:ext cx="780983" cy="667344"/>
            <a:chOff x="751872" y="2017117"/>
            <a:chExt cx="780983" cy="1067943"/>
          </a:xfrm>
        </p:grpSpPr>
        <p:sp>
          <p:nvSpPr>
            <p:cNvPr id="73" name="TextBox 72">
              <a:extLst>
                <a:ext uri="{FF2B5EF4-FFF2-40B4-BE49-F238E27FC236}">
                  <a16:creationId xmlns:a16="http://schemas.microsoft.com/office/drawing/2014/main" id="{CD6214CA-97B6-95C2-7538-DB526882119B}"/>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74" name="Straight Arrow Connector 73">
              <a:extLst>
                <a:ext uri="{FF2B5EF4-FFF2-40B4-BE49-F238E27FC236}">
                  <a16:creationId xmlns:a16="http://schemas.microsoft.com/office/drawing/2014/main" id="{59194D15-3994-97BB-2522-C5E4FD264683}"/>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58974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25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par>
                          <p:cTn id="11" fill="hold">
                            <p:stCondLst>
                              <p:cond delay="750"/>
                            </p:stCondLst>
                            <p:childTnLst>
                              <p:par>
                                <p:cTn id="12" presetID="42" presetClass="path" presetSubtype="0" accel="50000" decel="50000" fill="hold" grpId="1" nodeType="afterEffect">
                                  <p:stCondLst>
                                    <p:cond delay="0"/>
                                  </p:stCondLst>
                                  <p:childTnLst>
                                    <p:animMotion origin="layout" path="M 5.55556E-7 -1.85185E-6 L 0.10052 -1.85185E-6 " pathEditMode="relative" rAng="0" ptsTypes="AA">
                                      <p:cBhvr>
                                        <p:cTn id="13" dur="750" fill="hold"/>
                                        <p:tgtEl>
                                          <p:spTgt spid="16"/>
                                        </p:tgtEl>
                                        <p:attrNameLst>
                                          <p:attrName>ppt_x</p:attrName>
                                          <p:attrName>ppt_y</p:attrName>
                                        </p:attrNameLst>
                                      </p:cBhvr>
                                      <p:rCtr x="5017" y="0"/>
                                    </p:animMotion>
                                  </p:childTnLst>
                                </p:cTn>
                              </p:par>
                            </p:childTnLst>
                          </p:cTn>
                        </p:par>
                        <p:par>
                          <p:cTn id="14" fill="hold">
                            <p:stCondLst>
                              <p:cond delay="1500"/>
                            </p:stCondLst>
                            <p:childTnLst>
                              <p:par>
                                <p:cTn id="15" presetID="42" presetClass="path" presetSubtype="0" accel="50000" decel="50000" fill="hold" nodeType="afterEffect">
                                  <p:stCondLst>
                                    <p:cond delay="0"/>
                                  </p:stCondLst>
                                  <p:childTnLst>
                                    <p:animMotion origin="layout" path="M -2.77778E-7 3.7037E-7 L 0.09566 -0.00069 " pathEditMode="relative" rAng="0" ptsTypes="AA">
                                      <p:cBhvr>
                                        <p:cTn id="16" dur="750" fill="hold"/>
                                        <p:tgtEl>
                                          <p:spTgt spid="30"/>
                                        </p:tgtEl>
                                        <p:attrNameLst>
                                          <p:attrName>ppt_x</p:attrName>
                                          <p:attrName>ppt_y</p:attrName>
                                        </p:attrNameLst>
                                      </p:cBhvr>
                                      <p:rCtr x="4774" y="-46"/>
                                    </p:animMotion>
                                  </p:childTnLst>
                                </p:cTn>
                              </p:par>
                            </p:childTnLst>
                          </p:cTn>
                        </p:par>
                        <p:par>
                          <p:cTn id="17" fill="hold">
                            <p:stCondLst>
                              <p:cond delay="2250"/>
                            </p:stCondLst>
                            <p:childTnLst>
                              <p:par>
                                <p:cTn id="18" presetID="42" presetClass="path" presetSubtype="0" accel="50000" decel="50000" fill="hold" grpId="2" nodeType="afterEffect">
                                  <p:stCondLst>
                                    <p:cond delay="0"/>
                                  </p:stCondLst>
                                  <p:childTnLst>
                                    <p:animMotion origin="layout" path="M 0.10052 -1.85185E-6 L 0.19687 -0.00185 " pathEditMode="relative" rAng="0" ptsTypes="AA">
                                      <p:cBhvr>
                                        <p:cTn id="19" dur="750" fill="hold"/>
                                        <p:tgtEl>
                                          <p:spTgt spid="16"/>
                                        </p:tgtEl>
                                        <p:attrNameLst>
                                          <p:attrName>ppt_x</p:attrName>
                                          <p:attrName>ppt_y</p:attrName>
                                        </p:attrNameLst>
                                      </p:cBhvr>
                                      <p:rCtr x="4809" y="-93"/>
                                    </p:animMotion>
                                  </p:childTnLst>
                                </p:cTn>
                              </p:par>
                            </p:childTnLst>
                          </p:cTn>
                        </p:par>
                        <p:par>
                          <p:cTn id="20" fill="hold">
                            <p:stCondLst>
                              <p:cond delay="3000"/>
                            </p:stCondLst>
                            <p:childTnLst>
                              <p:par>
                                <p:cTn id="21" presetID="42" presetClass="path" presetSubtype="0" accel="50000" decel="50000" fill="hold" nodeType="afterEffect">
                                  <p:stCondLst>
                                    <p:cond delay="0"/>
                                  </p:stCondLst>
                                  <p:childTnLst>
                                    <p:animMotion origin="layout" path="M 0.09566 -0.00069 L 0.19063 -0.00232 " pathEditMode="relative" rAng="0" ptsTypes="AA">
                                      <p:cBhvr>
                                        <p:cTn id="22" dur="750" fill="hold"/>
                                        <p:tgtEl>
                                          <p:spTgt spid="30"/>
                                        </p:tgtEl>
                                        <p:attrNameLst>
                                          <p:attrName>ppt_x</p:attrName>
                                          <p:attrName>ppt_y</p:attrName>
                                        </p:attrNameLst>
                                      </p:cBhvr>
                                      <p:rCtr x="4740" y="-93"/>
                                    </p:animMotion>
                                  </p:childTnLst>
                                </p:cTn>
                              </p:par>
                            </p:childTnLst>
                          </p:cTn>
                        </p:par>
                        <p:par>
                          <p:cTn id="23" fill="hold">
                            <p:stCondLst>
                              <p:cond delay="3750"/>
                            </p:stCondLst>
                            <p:childTnLst>
                              <p:par>
                                <p:cTn id="24" presetID="42" presetClass="path" presetSubtype="0" accel="50000" decel="50000" fill="hold" grpId="3" nodeType="afterEffect">
                                  <p:stCondLst>
                                    <p:cond delay="0"/>
                                  </p:stCondLst>
                                  <p:childTnLst>
                                    <p:animMotion origin="layout" path="M 0.19687 -0.00185 L 0.28698 -0.00092 " pathEditMode="relative" rAng="0" ptsTypes="AA">
                                      <p:cBhvr>
                                        <p:cTn id="25" dur="750" fill="hold"/>
                                        <p:tgtEl>
                                          <p:spTgt spid="16"/>
                                        </p:tgtEl>
                                        <p:attrNameLst>
                                          <p:attrName>ppt_x</p:attrName>
                                          <p:attrName>ppt_y</p:attrName>
                                        </p:attrNameLst>
                                      </p:cBhvr>
                                      <p:rCtr x="4497" y="46"/>
                                    </p:animMotion>
                                  </p:childTnLst>
                                </p:cTn>
                              </p:par>
                            </p:childTnLst>
                          </p:cTn>
                        </p:par>
                        <p:par>
                          <p:cTn id="26" fill="hold">
                            <p:stCondLst>
                              <p:cond delay="4500"/>
                            </p:stCondLst>
                            <p:childTnLst>
                              <p:par>
                                <p:cTn id="27" presetID="42" presetClass="path" presetSubtype="0" accel="50000" decel="50000" fill="hold" nodeType="afterEffect">
                                  <p:stCondLst>
                                    <p:cond delay="0"/>
                                  </p:stCondLst>
                                  <p:childTnLst>
                                    <p:animMotion origin="layout" path="M 0.19063 -0.00232 L 0.28629 -0.00162 " pathEditMode="relative" rAng="0" ptsTypes="AA">
                                      <p:cBhvr>
                                        <p:cTn id="28" dur="750" fill="hold"/>
                                        <p:tgtEl>
                                          <p:spTgt spid="30"/>
                                        </p:tgtEl>
                                        <p:attrNameLst>
                                          <p:attrName>ppt_x</p:attrName>
                                          <p:attrName>ppt_y</p:attrName>
                                        </p:attrNameLst>
                                      </p:cBhvr>
                                      <p:rCtr x="4774" y="23"/>
                                    </p:animMotion>
                                  </p:childTnLst>
                                </p:cTn>
                              </p:par>
                            </p:childTnLst>
                          </p:cTn>
                        </p:par>
                        <p:par>
                          <p:cTn id="29" fill="hold">
                            <p:stCondLst>
                              <p:cond delay="5250"/>
                            </p:stCondLst>
                            <p:childTnLst>
                              <p:par>
                                <p:cTn id="30" presetID="42" presetClass="path" presetSubtype="0" accel="50000" decel="50000" fill="hold" nodeType="afterEffect">
                                  <p:stCondLst>
                                    <p:cond delay="0"/>
                                  </p:stCondLst>
                                  <p:childTnLst>
                                    <p:animMotion origin="layout" path="M 0.28629 -0.00162 L 0.38056 -0.00162 " pathEditMode="relative" rAng="0" ptsTypes="AA">
                                      <p:cBhvr>
                                        <p:cTn id="31" dur="750" fill="hold"/>
                                        <p:tgtEl>
                                          <p:spTgt spid="30"/>
                                        </p:tgtEl>
                                        <p:attrNameLst>
                                          <p:attrName>ppt_x</p:attrName>
                                          <p:attrName>ppt_y</p:attrName>
                                        </p:attrNameLst>
                                      </p:cBhvr>
                                      <p:rCtr x="4705" y="0"/>
                                    </p:animMotion>
                                  </p:childTnLst>
                                </p:cTn>
                              </p:par>
                            </p:childTnLst>
                          </p:cTn>
                        </p:par>
                        <p:par>
                          <p:cTn id="32" fill="hold">
                            <p:stCondLst>
                              <p:cond delay="6000"/>
                            </p:stCondLst>
                            <p:childTnLst>
                              <p:par>
                                <p:cTn id="33" presetID="42" presetClass="path" presetSubtype="0" accel="50000" decel="50000" fill="hold" nodeType="afterEffect">
                                  <p:stCondLst>
                                    <p:cond delay="0"/>
                                  </p:stCondLst>
                                  <p:childTnLst>
                                    <p:animMotion origin="layout" path="M 0.38056 -0.00162 L 0.47622 -0.00556 " pathEditMode="relative" rAng="0" ptsTypes="AA">
                                      <p:cBhvr>
                                        <p:cTn id="34" dur="750" fill="hold"/>
                                        <p:tgtEl>
                                          <p:spTgt spid="30"/>
                                        </p:tgtEl>
                                        <p:attrNameLst>
                                          <p:attrName>ppt_x</p:attrName>
                                          <p:attrName>ppt_y</p:attrName>
                                        </p:attrNameLst>
                                      </p:cBhvr>
                                      <p:rCtr x="4774" y="-208"/>
                                    </p:animMotion>
                                  </p:childTnLst>
                                </p:cTn>
                              </p:par>
                            </p:childTnLst>
                          </p:cTn>
                        </p:par>
                        <p:par>
                          <p:cTn id="35" fill="hold">
                            <p:stCondLst>
                              <p:cond delay="6750"/>
                            </p:stCondLst>
                            <p:childTnLst>
                              <p:par>
                                <p:cTn id="36" presetID="42" presetClass="path" presetSubtype="0" accel="50000" decel="50000" fill="hold" nodeType="afterEffect">
                                  <p:stCondLst>
                                    <p:cond delay="0"/>
                                  </p:stCondLst>
                                  <p:childTnLst>
                                    <p:animMotion origin="layout" path="M 0.47622 -0.00556 L 0.57292 -0.00324 " pathEditMode="relative" rAng="0" ptsTypes="AA">
                                      <p:cBhvr>
                                        <p:cTn id="37" dur="750" fill="hold"/>
                                        <p:tgtEl>
                                          <p:spTgt spid="30"/>
                                        </p:tgtEl>
                                        <p:attrNameLst>
                                          <p:attrName>ppt_x</p:attrName>
                                          <p:attrName>ppt_y</p:attrName>
                                        </p:attrNameLst>
                                      </p:cBhvr>
                                      <p:rCtr x="4826" y="116"/>
                                    </p:animMotion>
                                  </p:childTnLst>
                                </p:cTn>
                              </p:par>
                            </p:childTnLst>
                          </p:cTn>
                        </p:par>
                        <p:par>
                          <p:cTn id="38" fill="hold">
                            <p:stCondLst>
                              <p:cond delay="7500"/>
                            </p:stCondLst>
                            <p:childTnLst>
                              <p:par>
                                <p:cTn id="39" presetID="42" presetClass="path" presetSubtype="0" accel="50000" decel="50000" fill="hold" nodeType="afterEffect">
                                  <p:stCondLst>
                                    <p:cond delay="0"/>
                                  </p:stCondLst>
                                  <p:childTnLst>
                                    <p:animMotion origin="layout" path="M 0.57292 -0.00324 L 0.66458 -0.00324 " pathEditMode="relative" rAng="0" ptsTypes="AA">
                                      <p:cBhvr>
                                        <p:cTn id="40" dur="750" fill="hold"/>
                                        <p:tgtEl>
                                          <p:spTgt spid="30"/>
                                        </p:tgtEl>
                                        <p:attrNameLst>
                                          <p:attrName>ppt_x</p:attrName>
                                          <p:attrName>ppt_y</p:attrName>
                                        </p:attrNameLst>
                                      </p:cBhvr>
                                      <p:rCtr x="4583" y="0"/>
                                    </p:animMotion>
                                  </p:childTnLst>
                                </p:cTn>
                              </p:par>
                            </p:childTnLst>
                          </p:cTn>
                        </p:par>
                        <p:par>
                          <p:cTn id="41" fill="hold">
                            <p:stCondLst>
                              <p:cond delay="8250"/>
                            </p:stCondLst>
                            <p:childTnLst>
                              <p:par>
                                <p:cTn id="42" presetID="42" presetClass="path" presetSubtype="0" accel="50000" decel="50000" fill="hold" grpId="4" nodeType="afterEffect">
                                  <p:stCondLst>
                                    <p:cond delay="0"/>
                                  </p:stCondLst>
                                  <p:childTnLst>
                                    <p:animMotion origin="layout" path="M 0.28698 -0.00092 L 0.77205 -1.85185E-6 " pathEditMode="relative" rAng="0" ptsTypes="AA">
                                      <p:cBhvr>
                                        <p:cTn id="43" dur="750" fill="hold"/>
                                        <p:tgtEl>
                                          <p:spTgt spid="16"/>
                                        </p:tgtEl>
                                        <p:attrNameLst>
                                          <p:attrName>ppt_x</p:attrName>
                                          <p:attrName>ppt_y</p:attrName>
                                        </p:attrNameLst>
                                      </p:cBhvr>
                                      <p:rCtr x="24253" y="46"/>
                                    </p:animMotion>
                                  </p:childTnLst>
                                </p:cTn>
                              </p:par>
                            </p:childTnLst>
                          </p:cTn>
                        </p:par>
                        <p:par>
                          <p:cTn id="44" fill="hold">
                            <p:stCondLst>
                              <p:cond delay="9000"/>
                            </p:stCondLst>
                            <p:childTnLst>
                              <p:par>
                                <p:cTn id="45" presetID="44" presetClass="path" presetSubtype="0" accel="50000" decel="50000" fill="hold" grpId="0" nodeType="afterEffect">
                                  <p:stCondLst>
                                    <p:cond delay="0"/>
                                  </p:stCondLst>
                                  <p:childTnLst>
                                    <p:animMotion origin="layout" path="M 1.66667E-6 1.11111E-6 L 0.20451 -0.06227 C 0.24757 -0.07616 0.31163 -0.08357 0.37847 -0.08357 C 0.45469 -0.08357 0.5158 -0.07616 0.55885 -0.06227 L 0.76354 1.11111E-6 " pathEditMode="relative" rAng="0" ptsTypes="AAAAA">
                                      <p:cBhvr>
                                        <p:cTn id="46" dur="1500" fill="hold"/>
                                        <p:tgtEl>
                                          <p:spTgt spid="7"/>
                                        </p:tgtEl>
                                        <p:attrNameLst>
                                          <p:attrName>ppt_x</p:attrName>
                                          <p:attrName>ppt_y</p:attrName>
                                        </p:attrNameLst>
                                      </p:cBhvr>
                                      <p:rCtr x="38177" y="-4190"/>
                                    </p:animMotion>
                                  </p:childTnLst>
                                </p:cTn>
                              </p:par>
                              <p:par>
                                <p:cTn id="47" presetID="44" presetClass="path" presetSubtype="0" accel="50000" decel="50000" fill="hold" grpId="0" nodeType="withEffect">
                                  <p:stCondLst>
                                    <p:cond delay="0"/>
                                  </p:stCondLst>
                                  <p:childTnLst>
                                    <p:animMotion origin="layout" path="M 0.00035 1.11111E-6 L -0.20486 -0.06227 C -0.24739 -0.07639 -0.31163 -0.08357 -0.3783 -0.08357 C -0.45468 -0.08357 -0.5158 -0.07639 -0.55868 -0.06227 L -0.76319 1.11111E-6 " pathEditMode="relative" rAng="0" ptsTypes="AAAAA">
                                      <p:cBhvr>
                                        <p:cTn id="48" dur="1500" fill="hold"/>
                                        <p:tgtEl>
                                          <p:spTgt spid="15"/>
                                        </p:tgtEl>
                                        <p:attrNameLst>
                                          <p:attrName>ppt_x</p:attrName>
                                          <p:attrName>ppt_y</p:attrName>
                                        </p:attrNameLst>
                                      </p:cBhvr>
                                      <p:rCtr x="-38177" y="-4190"/>
                                    </p:animMotion>
                                  </p:childTnLst>
                                </p:cTn>
                              </p:par>
                            </p:childTnLst>
                          </p:cTn>
                        </p:par>
                        <p:par>
                          <p:cTn id="49" fill="hold">
                            <p:stCondLst>
                              <p:cond delay="10500"/>
                            </p:stCondLst>
                            <p:childTnLst>
                              <p:par>
                                <p:cTn id="50" presetID="10" presetClass="exit" presetSubtype="0" fill="hold" nodeType="afterEffect">
                                  <p:stCondLst>
                                    <p:cond delay="0"/>
                                  </p:stCondLst>
                                  <p:childTnLst>
                                    <p:animEffect transition="out" filter="fade">
                                      <p:cBhvr>
                                        <p:cTn id="51" dur="500"/>
                                        <p:tgtEl>
                                          <p:spTgt spid="30"/>
                                        </p:tgtEl>
                                      </p:cBhvr>
                                    </p:animEffect>
                                    <p:set>
                                      <p:cBhvr>
                                        <p:cTn id="52" dur="1" fill="hold">
                                          <p:stCondLst>
                                            <p:cond delay="499"/>
                                          </p:stCondLst>
                                        </p:cTn>
                                        <p:tgtEl>
                                          <p:spTgt spid="30"/>
                                        </p:tgtEl>
                                        <p:attrNameLst>
                                          <p:attrName>style.visibility</p:attrName>
                                        </p:attrNameLst>
                                      </p:cBhvr>
                                      <p:to>
                                        <p:strVal val="hidden"/>
                                      </p:to>
                                    </p:set>
                                  </p:childTnLst>
                                </p:cTn>
                              </p:par>
                              <p:par>
                                <p:cTn id="53" presetID="10" presetClass="exit" presetSubtype="0" fill="hold" grpId="5" nodeType="withEffect">
                                  <p:stCondLst>
                                    <p:cond delay="0"/>
                                  </p:stCondLst>
                                  <p:childTnLst>
                                    <p:animEffect transition="out" filter="fade">
                                      <p:cBhvr>
                                        <p:cTn id="54" dur="500"/>
                                        <p:tgtEl>
                                          <p:spTgt spid="16"/>
                                        </p:tgtEl>
                                      </p:cBhvr>
                                    </p:animEffect>
                                    <p:set>
                                      <p:cBhvr>
                                        <p:cTn id="55" dur="1" fill="hold">
                                          <p:stCondLst>
                                            <p:cond delay="499"/>
                                          </p:stCondLst>
                                        </p:cTn>
                                        <p:tgtEl>
                                          <p:spTgt spid="16"/>
                                        </p:tgtEl>
                                        <p:attrNameLst>
                                          <p:attrName>style.visibility</p:attrName>
                                        </p:attrNameLst>
                                      </p:cBhvr>
                                      <p:to>
                                        <p:strVal val="hidden"/>
                                      </p:to>
                                    </p:set>
                                  </p:childTnLst>
                                </p:cTn>
                              </p:par>
                              <p:par>
                                <p:cTn id="56" presetID="7" presetClass="emph" presetSubtype="2" fill="hold" nodeType="withEffect">
                                  <p:stCondLst>
                                    <p:cond delay="0"/>
                                  </p:stCondLst>
                                  <p:childTnLst>
                                    <p:animClr clrSpc="rgb" dir="cw">
                                      <p:cBhvr>
                                        <p:cTn id="57" dur="500" fill="hold"/>
                                        <p:tgtEl>
                                          <p:spTgt spid="15"/>
                                        </p:tgtEl>
                                        <p:attrNameLst>
                                          <p:attrName>stroke.color</p:attrName>
                                        </p:attrNameLst>
                                      </p:cBhvr>
                                      <p:to>
                                        <a:srgbClr val="00B050"/>
                                      </p:to>
                                    </p:animClr>
                                    <p:set>
                                      <p:cBhvr>
                                        <p:cTn id="58" dur="500" fill="hold"/>
                                        <p:tgtEl>
                                          <p:spTgt spid="15"/>
                                        </p:tgtEl>
                                        <p:attrNameLst>
                                          <p:attrName>stroke.on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nodeType="clickEffect">
                                  <p:stCondLst>
                                    <p:cond delay="0"/>
                                  </p:stCondLst>
                                  <p:childTnLst>
                                    <p:animMotion origin="layout" path="M 1.66667E-6 3.7037E-6 L 0.09566 -0.0007 " pathEditMode="relative" rAng="0" ptsTypes="AA">
                                      <p:cBhvr>
                                        <p:cTn id="62" dur="750" fill="hold"/>
                                        <p:tgtEl>
                                          <p:spTgt spid="25"/>
                                        </p:tgtEl>
                                        <p:attrNameLst>
                                          <p:attrName>ppt_x</p:attrName>
                                          <p:attrName>ppt_y</p:attrName>
                                        </p:attrNameLst>
                                      </p:cBhvr>
                                      <p:rCtr x="4774" y="-46"/>
                                    </p:animMotion>
                                  </p:childTnLst>
                                </p:cTn>
                              </p:par>
                            </p:childTnLst>
                          </p:cTn>
                        </p:par>
                        <p:par>
                          <p:cTn id="63" fill="hold">
                            <p:stCondLst>
                              <p:cond delay="750"/>
                            </p:stCondLst>
                            <p:childTnLst>
                              <p:par>
                                <p:cTn id="64" presetID="10" presetClass="entr" presetSubtype="0" fill="hold" grpId="0" nodeType="after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500"/>
                                        <p:tgtEl>
                                          <p:spTgt spid="53"/>
                                        </p:tgtEl>
                                      </p:cBhvr>
                                    </p:animEffect>
                                  </p:childTnLst>
                                </p:cTn>
                              </p:par>
                              <p:par>
                                <p:cTn id="67" presetID="10" presetClass="entr" presetSubtype="0" fill="hold" nodeType="withEffect">
                                  <p:stCondLst>
                                    <p:cond delay="25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500"/>
                                        <p:tgtEl>
                                          <p:spTgt spid="37"/>
                                        </p:tgtEl>
                                      </p:cBhvr>
                                    </p:animEffect>
                                  </p:childTnLst>
                                </p:cTn>
                              </p:par>
                            </p:childTnLst>
                          </p:cTn>
                        </p:par>
                        <p:par>
                          <p:cTn id="70" fill="hold">
                            <p:stCondLst>
                              <p:cond delay="1500"/>
                            </p:stCondLst>
                            <p:childTnLst>
                              <p:par>
                                <p:cTn id="71" presetID="42" presetClass="path" presetSubtype="0" accel="50000" decel="50000" fill="hold" grpId="1" nodeType="afterEffect">
                                  <p:stCondLst>
                                    <p:cond delay="0"/>
                                  </p:stCondLst>
                                  <p:childTnLst>
                                    <p:animMotion origin="layout" path="M -2.77778E-7 -2.96296E-6 L 0.10052 -2.96296E-6 " pathEditMode="relative" rAng="0" ptsTypes="AA">
                                      <p:cBhvr>
                                        <p:cTn id="72" dur="750" fill="hold"/>
                                        <p:tgtEl>
                                          <p:spTgt spid="53"/>
                                        </p:tgtEl>
                                        <p:attrNameLst>
                                          <p:attrName>ppt_x</p:attrName>
                                          <p:attrName>ppt_y</p:attrName>
                                        </p:attrNameLst>
                                      </p:cBhvr>
                                      <p:rCtr x="5017" y="0"/>
                                    </p:animMotion>
                                  </p:childTnLst>
                                </p:cTn>
                              </p:par>
                            </p:childTnLst>
                          </p:cTn>
                        </p:par>
                        <p:par>
                          <p:cTn id="73" fill="hold">
                            <p:stCondLst>
                              <p:cond delay="2250"/>
                            </p:stCondLst>
                            <p:childTnLst>
                              <p:par>
                                <p:cTn id="74" presetID="42" presetClass="path" presetSubtype="0" accel="50000" decel="50000" fill="hold" nodeType="afterEffect">
                                  <p:stCondLst>
                                    <p:cond delay="0"/>
                                  </p:stCondLst>
                                  <p:childTnLst>
                                    <p:animMotion origin="layout" path="M 3.61111E-6 4.07407E-6 L 0.09566 -0.0007 " pathEditMode="relative" rAng="0" ptsTypes="AA">
                                      <p:cBhvr>
                                        <p:cTn id="75" dur="750" fill="hold"/>
                                        <p:tgtEl>
                                          <p:spTgt spid="37"/>
                                        </p:tgtEl>
                                        <p:attrNameLst>
                                          <p:attrName>ppt_x</p:attrName>
                                          <p:attrName>ppt_y</p:attrName>
                                        </p:attrNameLst>
                                      </p:cBhvr>
                                      <p:rCtr x="4774" y="-46"/>
                                    </p:animMotion>
                                  </p:childTnLst>
                                </p:cTn>
                              </p:par>
                            </p:childTnLst>
                          </p:cTn>
                        </p:par>
                        <p:par>
                          <p:cTn id="76" fill="hold">
                            <p:stCondLst>
                              <p:cond delay="3000"/>
                            </p:stCondLst>
                            <p:childTnLst>
                              <p:par>
                                <p:cTn id="77" presetID="42" presetClass="path" presetSubtype="0" accel="50000" decel="50000" fill="hold" grpId="2" nodeType="afterEffect">
                                  <p:stCondLst>
                                    <p:cond delay="0"/>
                                  </p:stCondLst>
                                  <p:childTnLst>
                                    <p:animMotion origin="layout" path="M 0.10052 -2.96296E-6 L 0.19688 -0.00185 " pathEditMode="relative" rAng="0" ptsTypes="AA">
                                      <p:cBhvr>
                                        <p:cTn id="78" dur="750" fill="hold"/>
                                        <p:tgtEl>
                                          <p:spTgt spid="53"/>
                                        </p:tgtEl>
                                        <p:attrNameLst>
                                          <p:attrName>ppt_x</p:attrName>
                                          <p:attrName>ppt_y</p:attrName>
                                        </p:attrNameLst>
                                      </p:cBhvr>
                                      <p:rCtr x="4809" y="-93"/>
                                    </p:animMotion>
                                  </p:childTnLst>
                                </p:cTn>
                              </p:par>
                            </p:childTnLst>
                          </p:cTn>
                        </p:par>
                        <p:par>
                          <p:cTn id="79" fill="hold">
                            <p:stCondLst>
                              <p:cond delay="3750"/>
                            </p:stCondLst>
                            <p:childTnLst>
                              <p:par>
                                <p:cTn id="80" presetID="42" presetClass="path" presetSubtype="0" accel="50000" decel="50000" fill="hold" nodeType="afterEffect">
                                  <p:stCondLst>
                                    <p:cond delay="0"/>
                                  </p:stCondLst>
                                  <p:childTnLst>
                                    <p:animMotion origin="layout" path="M 0.09566 -0.0007 L 0.19062 -0.00232 " pathEditMode="relative" rAng="0" ptsTypes="AA">
                                      <p:cBhvr>
                                        <p:cTn id="81" dur="750" fill="hold"/>
                                        <p:tgtEl>
                                          <p:spTgt spid="37"/>
                                        </p:tgtEl>
                                        <p:attrNameLst>
                                          <p:attrName>ppt_x</p:attrName>
                                          <p:attrName>ppt_y</p:attrName>
                                        </p:attrNameLst>
                                      </p:cBhvr>
                                      <p:rCtr x="4740" y="-93"/>
                                    </p:animMotion>
                                  </p:childTnLst>
                                </p:cTn>
                              </p:par>
                            </p:childTnLst>
                          </p:cTn>
                        </p:par>
                        <p:par>
                          <p:cTn id="82" fill="hold">
                            <p:stCondLst>
                              <p:cond delay="4500"/>
                            </p:stCondLst>
                            <p:childTnLst>
                              <p:par>
                                <p:cTn id="83" presetID="42" presetClass="path" presetSubtype="0" accel="50000" decel="50000" fill="hold" nodeType="afterEffect">
                                  <p:stCondLst>
                                    <p:cond delay="0"/>
                                  </p:stCondLst>
                                  <p:childTnLst>
                                    <p:animMotion origin="layout" path="M 0.19062 -0.00232 L 0.28628 -0.00162 " pathEditMode="relative" rAng="0" ptsTypes="AA">
                                      <p:cBhvr>
                                        <p:cTn id="84" dur="750" fill="hold"/>
                                        <p:tgtEl>
                                          <p:spTgt spid="37"/>
                                        </p:tgtEl>
                                        <p:attrNameLst>
                                          <p:attrName>ppt_x</p:attrName>
                                          <p:attrName>ppt_y</p:attrName>
                                        </p:attrNameLst>
                                      </p:cBhvr>
                                      <p:rCtr x="4774" y="23"/>
                                    </p:animMotion>
                                  </p:childTnLst>
                                </p:cTn>
                              </p:par>
                            </p:childTnLst>
                          </p:cTn>
                        </p:par>
                        <p:par>
                          <p:cTn id="85" fill="hold">
                            <p:stCondLst>
                              <p:cond delay="5250"/>
                            </p:stCondLst>
                            <p:childTnLst>
                              <p:par>
                                <p:cTn id="86" presetID="42" presetClass="path" presetSubtype="0" accel="50000" decel="50000" fill="hold" nodeType="afterEffect">
                                  <p:stCondLst>
                                    <p:cond delay="0"/>
                                  </p:stCondLst>
                                  <p:childTnLst>
                                    <p:animMotion origin="layout" path="M 0.28628 -0.00162 L 0.38055 -0.00162 " pathEditMode="relative" rAng="0" ptsTypes="AA">
                                      <p:cBhvr>
                                        <p:cTn id="87" dur="750" fill="hold"/>
                                        <p:tgtEl>
                                          <p:spTgt spid="37"/>
                                        </p:tgtEl>
                                        <p:attrNameLst>
                                          <p:attrName>ppt_x</p:attrName>
                                          <p:attrName>ppt_y</p:attrName>
                                        </p:attrNameLst>
                                      </p:cBhvr>
                                      <p:rCtr x="4705" y="0"/>
                                    </p:animMotion>
                                  </p:childTnLst>
                                </p:cTn>
                              </p:par>
                            </p:childTnLst>
                          </p:cTn>
                        </p:par>
                        <p:par>
                          <p:cTn id="88" fill="hold">
                            <p:stCondLst>
                              <p:cond delay="6000"/>
                            </p:stCondLst>
                            <p:childTnLst>
                              <p:par>
                                <p:cTn id="89" presetID="42" presetClass="path" presetSubtype="0" accel="50000" decel="50000" fill="hold" nodeType="afterEffect">
                                  <p:stCondLst>
                                    <p:cond delay="0"/>
                                  </p:stCondLst>
                                  <p:childTnLst>
                                    <p:animMotion origin="layout" path="M 0.38055 -0.00162 L 0.47621 -0.00556 " pathEditMode="relative" rAng="0" ptsTypes="AA">
                                      <p:cBhvr>
                                        <p:cTn id="90" dur="750" fill="hold"/>
                                        <p:tgtEl>
                                          <p:spTgt spid="37"/>
                                        </p:tgtEl>
                                        <p:attrNameLst>
                                          <p:attrName>ppt_x</p:attrName>
                                          <p:attrName>ppt_y</p:attrName>
                                        </p:attrNameLst>
                                      </p:cBhvr>
                                      <p:rCtr x="4774" y="-208"/>
                                    </p:animMotion>
                                  </p:childTnLst>
                                </p:cTn>
                              </p:par>
                            </p:childTnLst>
                          </p:cTn>
                        </p:par>
                        <p:par>
                          <p:cTn id="91" fill="hold">
                            <p:stCondLst>
                              <p:cond delay="6750"/>
                            </p:stCondLst>
                            <p:childTnLst>
                              <p:par>
                                <p:cTn id="92" presetID="42" presetClass="path" presetSubtype="0" accel="50000" decel="50000" fill="hold" nodeType="afterEffect">
                                  <p:stCondLst>
                                    <p:cond delay="0"/>
                                  </p:stCondLst>
                                  <p:childTnLst>
                                    <p:animMotion origin="layout" path="M 0.47621 -0.00556 L 0.57291 -0.00324 " pathEditMode="relative" rAng="0" ptsTypes="AA">
                                      <p:cBhvr>
                                        <p:cTn id="93" dur="750" fill="hold"/>
                                        <p:tgtEl>
                                          <p:spTgt spid="37"/>
                                        </p:tgtEl>
                                        <p:attrNameLst>
                                          <p:attrName>ppt_x</p:attrName>
                                          <p:attrName>ppt_y</p:attrName>
                                        </p:attrNameLst>
                                      </p:cBhvr>
                                      <p:rCtr x="4826" y="116"/>
                                    </p:animMotion>
                                  </p:childTnLst>
                                </p:cTn>
                              </p:par>
                            </p:childTnLst>
                          </p:cTn>
                        </p:par>
                        <p:par>
                          <p:cTn id="94" fill="hold">
                            <p:stCondLst>
                              <p:cond delay="7500"/>
                            </p:stCondLst>
                            <p:childTnLst>
                              <p:par>
                                <p:cTn id="95" presetID="44" presetClass="path" presetSubtype="0" accel="50000" decel="50000" fill="hold" grpId="0" nodeType="afterEffect">
                                  <p:stCondLst>
                                    <p:cond delay="0"/>
                                  </p:stCondLst>
                                  <p:childTnLst>
                                    <p:animMotion origin="layout" path="M 5.55556E-7 7.40741E-7 L -0.05191 -0.04028 C -0.06267 -0.04931 -0.07882 -0.05394 -0.09566 -0.05394 C -0.11493 -0.05394 -0.13038 -0.04931 -0.14115 -0.04028 L -0.19271 7.40741E-7 " pathEditMode="relative" rAng="0" ptsTypes="AAAAA">
                                      <p:cBhvr>
                                        <p:cTn id="96" dur="2000" fill="hold"/>
                                        <p:tgtEl>
                                          <p:spTgt spid="10"/>
                                        </p:tgtEl>
                                        <p:attrNameLst>
                                          <p:attrName>ppt_x</p:attrName>
                                          <p:attrName>ppt_y</p:attrName>
                                        </p:attrNameLst>
                                      </p:cBhvr>
                                      <p:rCtr x="-9635" y="-2708"/>
                                    </p:animMotion>
                                  </p:childTnLst>
                                </p:cTn>
                              </p:par>
                              <p:par>
                                <p:cTn id="97" presetID="44" presetClass="path" presetSubtype="0" accel="50000" decel="50000" fill="hold" grpId="0" nodeType="withEffect">
                                  <p:stCondLst>
                                    <p:cond delay="0"/>
                                  </p:stCondLst>
                                  <p:childTnLst>
                                    <p:animMotion origin="layout" path="M 0.00052 1.11111E-6 L 0.05139 -0.04005 C 0.06215 -0.04908 0.07813 -0.05394 0.09479 -0.05394 C 0.11389 -0.05394 0.12899 -0.04908 0.13976 -0.04005 L 0.1908 1.11111E-6 " pathEditMode="relative" rAng="0" ptsTypes="AAAAA">
                                      <p:cBhvr>
                                        <p:cTn id="98" dur="2000" fill="hold"/>
                                        <p:tgtEl>
                                          <p:spTgt spid="8"/>
                                        </p:tgtEl>
                                        <p:attrNameLst>
                                          <p:attrName>ppt_x</p:attrName>
                                          <p:attrName>ppt_y</p:attrName>
                                        </p:attrNameLst>
                                      </p:cBhvr>
                                      <p:rCtr x="9514" y="-2708"/>
                                    </p:animMotion>
                                  </p:childTnLst>
                                </p:cTn>
                              </p:par>
                            </p:childTnLst>
                          </p:cTn>
                        </p:par>
                        <p:par>
                          <p:cTn id="99" fill="hold">
                            <p:stCondLst>
                              <p:cond delay="9500"/>
                            </p:stCondLst>
                            <p:childTnLst>
                              <p:par>
                                <p:cTn id="100" presetID="10" presetClass="exit" presetSubtype="0" fill="hold" nodeType="afterEffect">
                                  <p:stCondLst>
                                    <p:cond delay="0"/>
                                  </p:stCondLst>
                                  <p:childTnLst>
                                    <p:animEffect transition="out" filter="fade">
                                      <p:cBhvr>
                                        <p:cTn id="101" dur="500"/>
                                        <p:tgtEl>
                                          <p:spTgt spid="37"/>
                                        </p:tgtEl>
                                      </p:cBhvr>
                                    </p:animEffect>
                                    <p:set>
                                      <p:cBhvr>
                                        <p:cTn id="102" dur="1" fill="hold">
                                          <p:stCondLst>
                                            <p:cond delay="499"/>
                                          </p:stCondLst>
                                        </p:cTn>
                                        <p:tgtEl>
                                          <p:spTgt spid="37"/>
                                        </p:tgtEl>
                                        <p:attrNameLst>
                                          <p:attrName>style.visibility</p:attrName>
                                        </p:attrNameLst>
                                      </p:cBhvr>
                                      <p:to>
                                        <p:strVal val="hidden"/>
                                      </p:to>
                                    </p:set>
                                  </p:childTnLst>
                                </p:cTn>
                              </p:par>
                              <p:par>
                                <p:cTn id="103" presetID="10" presetClass="exit" presetSubtype="0" fill="hold" grpId="5" nodeType="withEffect">
                                  <p:stCondLst>
                                    <p:cond delay="0"/>
                                  </p:stCondLst>
                                  <p:childTnLst>
                                    <p:animEffect transition="out" filter="fade">
                                      <p:cBhvr>
                                        <p:cTn id="104" dur="500"/>
                                        <p:tgtEl>
                                          <p:spTgt spid="53"/>
                                        </p:tgtEl>
                                      </p:cBhvr>
                                    </p:animEffect>
                                    <p:set>
                                      <p:cBhvr>
                                        <p:cTn id="105" dur="1" fill="hold">
                                          <p:stCondLst>
                                            <p:cond delay="499"/>
                                          </p:stCondLst>
                                        </p:cTn>
                                        <p:tgtEl>
                                          <p:spTgt spid="53"/>
                                        </p:tgtEl>
                                        <p:attrNameLst>
                                          <p:attrName>style.visibility</p:attrName>
                                        </p:attrNameLst>
                                      </p:cBhvr>
                                      <p:to>
                                        <p:strVal val="hidden"/>
                                      </p:to>
                                    </p:set>
                                  </p:childTnLst>
                                </p:cTn>
                              </p:par>
                              <p:par>
                                <p:cTn id="106" presetID="7" presetClass="emph" presetSubtype="2" fill="hold" nodeType="withEffect">
                                  <p:stCondLst>
                                    <p:cond delay="0"/>
                                  </p:stCondLst>
                                  <p:childTnLst>
                                    <p:animClr clrSpc="rgb" dir="cw">
                                      <p:cBhvr>
                                        <p:cTn id="107" dur="500" fill="hold"/>
                                        <p:tgtEl>
                                          <p:spTgt spid="10"/>
                                        </p:tgtEl>
                                        <p:attrNameLst>
                                          <p:attrName>stroke.color</p:attrName>
                                        </p:attrNameLst>
                                      </p:cBhvr>
                                      <p:to>
                                        <a:srgbClr val="00B050"/>
                                      </p:to>
                                    </p:animClr>
                                    <p:set>
                                      <p:cBhvr>
                                        <p:cTn id="108" dur="500" fill="hold"/>
                                        <p:tgtEl>
                                          <p:spTgt spid="10"/>
                                        </p:tgtEl>
                                        <p:attrNameLst>
                                          <p:attrName>stroke.on</p:attrName>
                                        </p:attrNameLst>
                                      </p:cBhvr>
                                      <p:to>
                                        <p:strVal val="true"/>
                                      </p:to>
                                    </p:set>
                                  </p:childTnLst>
                                </p:cTn>
                              </p:par>
                            </p:childTnLst>
                          </p:cTn>
                        </p:par>
                      </p:childTnLst>
                    </p:cTn>
                  </p:par>
                  <p:par>
                    <p:cTn id="109" fill="hold">
                      <p:stCondLst>
                        <p:cond delay="indefinite"/>
                      </p:stCondLst>
                      <p:childTnLst>
                        <p:par>
                          <p:cTn id="110" fill="hold">
                            <p:stCondLst>
                              <p:cond delay="0"/>
                            </p:stCondLst>
                            <p:childTnLst>
                              <p:par>
                                <p:cTn id="111" presetID="42" presetClass="path" presetSubtype="0" accel="50000" decel="50000" fill="hold" nodeType="clickEffect">
                                  <p:stCondLst>
                                    <p:cond delay="0"/>
                                  </p:stCondLst>
                                  <p:childTnLst>
                                    <p:animMotion origin="layout" path="M 0.09566 -0.0007 L 0.19062 -0.00232 " pathEditMode="relative" rAng="0" ptsTypes="AA">
                                      <p:cBhvr>
                                        <p:cTn id="112" dur="750" fill="hold"/>
                                        <p:tgtEl>
                                          <p:spTgt spid="25"/>
                                        </p:tgtEl>
                                        <p:attrNameLst>
                                          <p:attrName>ppt_x</p:attrName>
                                          <p:attrName>ppt_y</p:attrName>
                                        </p:attrNameLst>
                                      </p:cBhvr>
                                      <p:rCtr x="4740" y="-93"/>
                                    </p:animMotion>
                                  </p:childTnLst>
                                </p:cTn>
                              </p:par>
                            </p:childTnLst>
                          </p:cTn>
                        </p:par>
                        <p:par>
                          <p:cTn id="113" fill="hold">
                            <p:stCondLst>
                              <p:cond delay="750"/>
                            </p:stCondLst>
                            <p:childTnLst>
                              <p:par>
                                <p:cTn id="114" presetID="10" presetClass="entr" presetSubtype="0" fill="hold" grpId="0" nodeType="afterEffect">
                                  <p:stCondLst>
                                    <p:cond delay="0"/>
                                  </p:stCondLst>
                                  <p:childTnLst>
                                    <p:set>
                                      <p:cBhvr>
                                        <p:cTn id="115" dur="1" fill="hold">
                                          <p:stCondLst>
                                            <p:cond delay="0"/>
                                          </p:stCondLst>
                                        </p:cTn>
                                        <p:tgtEl>
                                          <p:spTgt spid="58"/>
                                        </p:tgtEl>
                                        <p:attrNameLst>
                                          <p:attrName>style.visibility</p:attrName>
                                        </p:attrNameLst>
                                      </p:cBhvr>
                                      <p:to>
                                        <p:strVal val="visible"/>
                                      </p:to>
                                    </p:set>
                                    <p:animEffect transition="in" filter="fade">
                                      <p:cBhvr>
                                        <p:cTn id="116" dur="500"/>
                                        <p:tgtEl>
                                          <p:spTgt spid="58"/>
                                        </p:tgtEl>
                                      </p:cBhvr>
                                    </p:animEffect>
                                  </p:childTnLst>
                                </p:cTn>
                              </p:par>
                              <p:par>
                                <p:cTn id="117" presetID="10" presetClass="entr" presetSubtype="0" fill="hold" nodeType="withEffect">
                                  <p:stCondLst>
                                    <p:cond delay="25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500"/>
                                        <p:tgtEl>
                                          <p:spTgt spid="40"/>
                                        </p:tgtEl>
                                      </p:cBhvr>
                                    </p:animEffect>
                                  </p:childTnLst>
                                </p:cTn>
                              </p:par>
                            </p:childTnLst>
                          </p:cTn>
                        </p:par>
                        <p:par>
                          <p:cTn id="120" fill="hold">
                            <p:stCondLst>
                              <p:cond delay="1500"/>
                            </p:stCondLst>
                            <p:childTnLst>
                              <p:par>
                                <p:cTn id="121" presetID="42" presetClass="path" presetSubtype="0" accel="50000" decel="50000" fill="hold" nodeType="afterEffect">
                                  <p:stCondLst>
                                    <p:cond delay="0"/>
                                  </p:stCondLst>
                                  <p:childTnLst>
                                    <p:animMotion origin="layout" path="M 3.05556E-6 4.07407E-6 L 0.09566 -0.0007 " pathEditMode="relative" rAng="0" ptsTypes="AA">
                                      <p:cBhvr>
                                        <p:cTn id="122" dur="750" fill="hold"/>
                                        <p:tgtEl>
                                          <p:spTgt spid="40"/>
                                        </p:tgtEl>
                                        <p:attrNameLst>
                                          <p:attrName>ppt_x</p:attrName>
                                          <p:attrName>ppt_y</p:attrName>
                                        </p:attrNameLst>
                                      </p:cBhvr>
                                      <p:rCtr x="4774" y="-46"/>
                                    </p:animMotion>
                                  </p:childTnLst>
                                </p:cTn>
                              </p:par>
                            </p:childTnLst>
                          </p:cTn>
                        </p:par>
                        <p:par>
                          <p:cTn id="123" fill="hold">
                            <p:stCondLst>
                              <p:cond delay="2250"/>
                            </p:stCondLst>
                            <p:childTnLst>
                              <p:par>
                                <p:cTn id="124" presetID="42" presetClass="path" presetSubtype="0" accel="50000" decel="50000" fill="hold" nodeType="afterEffect">
                                  <p:stCondLst>
                                    <p:cond delay="0"/>
                                  </p:stCondLst>
                                  <p:childTnLst>
                                    <p:animMotion origin="layout" path="M 0.09566 -0.0007 L 0.19062 -0.00232 " pathEditMode="relative" rAng="0" ptsTypes="AA">
                                      <p:cBhvr>
                                        <p:cTn id="125" dur="750" fill="hold"/>
                                        <p:tgtEl>
                                          <p:spTgt spid="40"/>
                                        </p:tgtEl>
                                        <p:attrNameLst>
                                          <p:attrName>ppt_x</p:attrName>
                                          <p:attrName>ppt_y</p:attrName>
                                        </p:attrNameLst>
                                      </p:cBhvr>
                                      <p:rCtr x="4740" y="-93"/>
                                    </p:animMotion>
                                  </p:childTnLst>
                                </p:cTn>
                              </p:par>
                            </p:childTnLst>
                          </p:cTn>
                        </p:par>
                        <p:par>
                          <p:cTn id="126" fill="hold">
                            <p:stCondLst>
                              <p:cond delay="3000"/>
                            </p:stCondLst>
                            <p:childTnLst>
                              <p:par>
                                <p:cTn id="127" presetID="42" presetClass="path" presetSubtype="0" accel="50000" decel="50000" fill="hold" nodeType="afterEffect">
                                  <p:stCondLst>
                                    <p:cond delay="0"/>
                                  </p:stCondLst>
                                  <p:childTnLst>
                                    <p:animMotion origin="layout" path="M 0.19062 -0.00232 L 0.28628 -0.00162 " pathEditMode="relative" rAng="0" ptsTypes="AA">
                                      <p:cBhvr>
                                        <p:cTn id="128" dur="750" fill="hold"/>
                                        <p:tgtEl>
                                          <p:spTgt spid="40"/>
                                        </p:tgtEl>
                                        <p:attrNameLst>
                                          <p:attrName>ppt_x</p:attrName>
                                          <p:attrName>ppt_y</p:attrName>
                                        </p:attrNameLst>
                                      </p:cBhvr>
                                      <p:rCtr x="4774" y="23"/>
                                    </p:animMotion>
                                  </p:childTnLst>
                                </p:cTn>
                              </p:par>
                            </p:childTnLst>
                          </p:cTn>
                        </p:par>
                        <p:par>
                          <p:cTn id="129" fill="hold">
                            <p:stCondLst>
                              <p:cond delay="3750"/>
                            </p:stCondLst>
                            <p:childTnLst>
                              <p:par>
                                <p:cTn id="130" presetID="42" presetClass="path" presetSubtype="0" accel="50000" decel="50000" fill="hold" nodeType="afterEffect">
                                  <p:stCondLst>
                                    <p:cond delay="0"/>
                                  </p:stCondLst>
                                  <p:childTnLst>
                                    <p:animMotion origin="layout" path="M 0.28628 -0.00162 L 0.38055 -0.00162 " pathEditMode="relative" rAng="0" ptsTypes="AA">
                                      <p:cBhvr>
                                        <p:cTn id="131" dur="750" fill="hold"/>
                                        <p:tgtEl>
                                          <p:spTgt spid="40"/>
                                        </p:tgtEl>
                                        <p:attrNameLst>
                                          <p:attrName>ppt_x</p:attrName>
                                          <p:attrName>ppt_y</p:attrName>
                                        </p:attrNameLst>
                                      </p:cBhvr>
                                      <p:rCtr x="4705" y="0"/>
                                    </p:animMotion>
                                  </p:childTnLst>
                                </p:cTn>
                              </p:par>
                            </p:childTnLst>
                          </p:cTn>
                        </p:par>
                        <p:par>
                          <p:cTn id="132" fill="hold">
                            <p:stCondLst>
                              <p:cond delay="4500"/>
                            </p:stCondLst>
                            <p:childTnLst>
                              <p:par>
                                <p:cTn id="133" presetID="42" presetClass="path" presetSubtype="0" accel="50000" decel="50000" fill="hold" nodeType="afterEffect">
                                  <p:stCondLst>
                                    <p:cond delay="0"/>
                                  </p:stCondLst>
                                  <p:childTnLst>
                                    <p:animMotion origin="layout" path="M 0.38055 -0.00162 L 0.47621 -0.00556 " pathEditMode="relative" rAng="0" ptsTypes="AA">
                                      <p:cBhvr>
                                        <p:cTn id="134" dur="750" fill="hold"/>
                                        <p:tgtEl>
                                          <p:spTgt spid="40"/>
                                        </p:tgtEl>
                                        <p:attrNameLst>
                                          <p:attrName>ppt_x</p:attrName>
                                          <p:attrName>ppt_y</p:attrName>
                                        </p:attrNameLst>
                                      </p:cBhvr>
                                      <p:rCtr x="4774" y="-208"/>
                                    </p:animMotion>
                                  </p:childTnLst>
                                </p:cTn>
                              </p:par>
                            </p:childTnLst>
                          </p:cTn>
                        </p:par>
                        <p:par>
                          <p:cTn id="135" fill="hold">
                            <p:stCondLst>
                              <p:cond delay="5250"/>
                            </p:stCondLst>
                            <p:childTnLst>
                              <p:par>
                                <p:cTn id="136" presetID="10" presetClass="exit" presetSubtype="0" fill="hold" nodeType="afterEffect">
                                  <p:stCondLst>
                                    <p:cond delay="0"/>
                                  </p:stCondLst>
                                  <p:childTnLst>
                                    <p:animEffect transition="out" filter="fade">
                                      <p:cBhvr>
                                        <p:cTn id="137" dur="500"/>
                                        <p:tgtEl>
                                          <p:spTgt spid="40"/>
                                        </p:tgtEl>
                                      </p:cBhvr>
                                    </p:animEffect>
                                    <p:set>
                                      <p:cBhvr>
                                        <p:cTn id="138" dur="1" fill="hold">
                                          <p:stCondLst>
                                            <p:cond delay="499"/>
                                          </p:stCondLst>
                                        </p:cTn>
                                        <p:tgtEl>
                                          <p:spTgt spid="40"/>
                                        </p:tgtEl>
                                        <p:attrNameLst>
                                          <p:attrName>style.visibility</p:attrName>
                                        </p:attrNameLst>
                                      </p:cBhvr>
                                      <p:to>
                                        <p:strVal val="hidden"/>
                                      </p:to>
                                    </p:set>
                                  </p:childTnLst>
                                </p:cTn>
                              </p:par>
                              <p:par>
                                <p:cTn id="139" presetID="10" presetClass="exit" presetSubtype="0" fill="hold" grpId="3" nodeType="withEffect">
                                  <p:stCondLst>
                                    <p:cond delay="0"/>
                                  </p:stCondLst>
                                  <p:childTnLst>
                                    <p:animEffect transition="out" filter="fade">
                                      <p:cBhvr>
                                        <p:cTn id="140" dur="500"/>
                                        <p:tgtEl>
                                          <p:spTgt spid="58"/>
                                        </p:tgtEl>
                                      </p:cBhvr>
                                    </p:animEffect>
                                    <p:set>
                                      <p:cBhvr>
                                        <p:cTn id="141" dur="1" fill="hold">
                                          <p:stCondLst>
                                            <p:cond delay="499"/>
                                          </p:stCondLst>
                                        </p:cTn>
                                        <p:tgtEl>
                                          <p:spTgt spid="58"/>
                                        </p:tgtEl>
                                        <p:attrNameLst>
                                          <p:attrName>style.visibility</p:attrName>
                                        </p:attrNameLst>
                                      </p:cBhvr>
                                      <p:to>
                                        <p:strVal val="hidden"/>
                                      </p:to>
                                    </p:set>
                                  </p:childTnLst>
                                </p:cTn>
                              </p:par>
                              <p:par>
                                <p:cTn id="142" presetID="7" presetClass="emph" presetSubtype="2" fill="hold" nodeType="withEffect">
                                  <p:stCondLst>
                                    <p:cond delay="0"/>
                                  </p:stCondLst>
                                  <p:childTnLst>
                                    <p:animClr clrSpc="rgb" dir="cw">
                                      <p:cBhvr>
                                        <p:cTn id="143" dur="500" fill="hold"/>
                                        <p:tgtEl>
                                          <p:spTgt spid="9"/>
                                        </p:tgtEl>
                                        <p:attrNameLst>
                                          <p:attrName>stroke.color</p:attrName>
                                        </p:attrNameLst>
                                      </p:cBhvr>
                                      <p:to>
                                        <a:srgbClr val="00B050"/>
                                      </p:to>
                                    </p:animClr>
                                    <p:set>
                                      <p:cBhvr>
                                        <p:cTn id="144" dur="500" fill="hold"/>
                                        <p:tgtEl>
                                          <p:spTgt spid="9"/>
                                        </p:tgtEl>
                                        <p:attrNameLst>
                                          <p:attrName>stroke.on</p:attrName>
                                        </p:attrNameLst>
                                      </p:cBhvr>
                                      <p:to>
                                        <p:strVal val="true"/>
                                      </p:to>
                                    </p:set>
                                  </p:childTnLst>
                                </p:cTn>
                              </p:par>
                            </p:childTnLst>
                          </p:cTn>
                        </p:par>
                      </p:childTnLst>
                    </p:cTn>
                  </p:par>
                  <p:par>
                    <p:cTn id="145" fill="hold">
                      <p:stCondLst>
                        <p:cond delay="indefinite"/>
                      </p:stCondLst>
                      <p:childTnLst>
                        <p:par>
                          <p:cTn id="146" fill="hold">
                            <p:stCondLst>
                              <p:cond delay="0"/>
                            </p:stCondLst>
                            <p:childTnLst>
                              <p:par>
                                <p:cTn id="147" presetID="42" presetClass="path" presetSubtype="0" accel="50000" decel="50000" fill="hold" nodeType="clickEffect">
                                  <p:stCondLst>
                                    <p:cond delay="0"/>
                                  </p:stCondLst>
                                  <p:childTnLst>
                                    <p:animMotion origin="layout" path="M 0.19062 -0.00232 L 0.28628 -0.00162 " pathEditMode="relative" rAng="0" ptsTypes="AA">
                                      <p:cBhvr>
                                        <p:cTn id="148" dur="750" fill="hold"/>
                                        <p:tgtEl>
                                          <p:spTgt spid="25"/>
                                        </p:tgtEl>
                                        <p:attrNameLst>
                                          <p:attrName>ppt_x</p:attrName>
                                          <p:attrName>ppt_y</p:attrName>
                                        </p:attrNameLst>
                                      </p:cBhvr>
                                      <p:rCtr x="4774" y="23"/>
                                    </p:animMotion>
                                  </p:childTnLst>
                                </p:cTn>
                              </p:par>
                            </p:childTnLst>
                          </p:cTn>
                        </p:par>
                        <p:par>
                          <p:cTn id="149" fill="hold">
                            <p:stCondLst>
                              <p:cond delay="750"/>
                            </p:stCondLst>
                            <p:childTnLst>
                              <p:par>
                                <p:cTn id="150" presetID="10" presetClass="entr" presetSubtype="0" fill="hold" grpId="0" nodeType="after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500"/>
                                        <p:tgtEl>
                                          <p:spTgt spid="54"/>
                                        </p:tgtEl>
                                      </p:cBhvr>
                                    </p:animEffect>
                                  </p:childTnLst>
                                </p:cTn>
                              </p:par>
                              <p:par>
                                <p:cTn id="153" presetID="10" presetClass="entr" presetSubtype="0" fill="hold" nodeType="withEffect">
                                  <p:stCondLst>
                                    <p:cond delay="250"/>
                                  </p:stCondLst>
                                  <p:childTnLst>
                                    <p:set>
                                      <p:cBhvr>
                                        <p:cTn id="154" dur="1" fill="hold">
                                          <p:stCondLst>
                                            <p:cond delay="0"/>
                                          </p:stCondLst>
                                        </p:cTn>
                                        <p:tgtEl>
                                          <p:spTgt spid="55"/>
                                        </p:tgtEl>
                                        <p:attrNameLst>
                                          <p:attrName>style.visibility</p:attrName>
                                        </p:attrNameLst>
                                      </p:cBhvr>
                                      <p:to>
                                        <p:strVal val="visible"/>
                                      </p:to>
                                    </p:set>
                                    <p:animEffect transition="in" filter="fade">
                                      <p:cBhvr>
                                        <p:cTn id="155" dur="500"/>
                                        <p:tgtEl>
                                          <p:spTgt spid="55"/>
                                        </p:tgtEl>
                                      </p:cBhvr>
                                    </p:animEffect>
                                  </p:childTnLst>
                                </p:cTn>
                              </p:par>
                            </p:childTnLst>
                          </p:cTn>
                        </p:par>
                        <p:par>
                          <p:cTn id="156" fill="hold">
                            <p:stCondLst>
                              <p:cond delay="1500"/>
                            </p:stCondLst>
                            <p:childTnLst>
                              <p:par>
                                <p:cTn id="157" presetID="42" presetClass="path" presetSubtype="0" accel="50000" decel="50000" fill="hold" grpId="1" nodeType="afterEffect">
                                  <p:stCondLst>
                                    <p:cond delay="0"/>
                                  </p:stCondLst>
                                  <p:childTnLst>
                                    <p:animMotion origin="layout" path="M 5.55556E-7 2.22222E-6 L 0.10052 2.22222E-6 " pathEditMode="relative" rAng="0" ptsTypes="AA">
                                      <p:cBhvr>
                                        <p:cTn id="158" dur="750" fill="hold"/>
                                        <p:tgtEl>
                                          <p:spTgt spid="54"/>
                                        </p:tgtEl>
                                        <p:attrNameLst>
                                          <p:attrName>ppt_x</p:attrName>
                                          <p:attrName>ppt_y</p:attrName>
                                        </p:attrNameLst>
                                      </p:cBhvr>
                                      <p:rCtr x="5017" y="0"/>
                                    </p:animMotion>
                                  </p:childTnLst>
                                </p:cTn>
                              </p:par>
                            </p:childTnLst>
                          </p:cTn>
                        </p:par>
                        <p:par>
                          <p:cTn id="159" fill="hold">
                            <p:stCondLst>
                              <p:cond delay="2250"/>
                            </p:stCondLst>
                            <p:childTnLst>
                              <p:par>
                                <p:cTn id="160" presetID="42" presetClass="path" presetSubtype="0" accel="50000" decel="50000" fill="hold" nodeType="afterEffect">
                                  <p:stCondLst>
                                    <p:cond delay="0"/>
                                  </p:stCondLst>
                                  <p:childTnLst>
                                    <p:animMotion origin="layout" path="M 4.44444E-6 4.07407E-6 L 0.09566 -0.0007 " pathEditMode="relative" rAng="0" ptsTypes="AA">
                                      <p:cBhvr>
                                        <p:cTn id="161" dur="750" fill="hold"/>
                                        <p:tgtEl>
                                          <p:spTgt spid="55"/>
                                        </p:tgtEl>
                                        <p:attrNameLst>
                                          <p:attrName>ppt_x</p:attrName>
                                          <p:attrName>ppt_y</p:attrName>
                                        </p:attrNameLst>
                                      </p:cBhvr>
                                      <p:rCtr x="4774" y="-46"/>
                                    </p:animMotion>
                                  </p:childTnLst>
                                </p:cTn>
                              </p:par>
                            </p:childTnLst>
                          </p:cTn>
                        </p:par>
                        <p:par>
                          <p:cTn id="162" fill="hold">
                            <p:stCondLst>
                              <p:cond delay="3000"/>
                            </p:stCondLst>
                            <p:childTnLst>
                              <p:par>
                                <p:cTn id="163" presetID="42" presetClass="path" presetSubtype="0" accel="50000" decel="50000" fill="hold" nodeType="afterEffect">
                                  <p:stCondLst>
                                    <p:cond delay="0"/>
                                  </p:stCondLst>
                                  <p:childTnLst>
                                    <p:animMotion origin="layout" path="M 0.09566 -0.0007 L 0.19062 -0.00232 " pathEditMode="relative" rAng="0" ptsTypes="AA">
                                      <p:cBhvr>
                                        <p:cTn id="164" dur="750" fill="hold"/>
                                        <p:tgtEl>
                                          <p:spTgt spid="55"/>
                                        </p:tgtEl>
                                        <p:attrNameLst>
                                          <p:attrName>ppt_x</p:attrName>
                                          <p:attrName>ppt_y</p:attrName>
                                        </p:attrNameLst>
                                      </p:cBhvr>
                                      <p:rCtr x="4740" y="-93"/>
                                    </p:animMotion>
                                  </p:childTnLst>
                                </p:cTn>
                              </p:par>
                            </p:childTnLst>
                          </p:cTn>
                        </p:par>
                        <p:par>
                          <p:cTn id="165" fill="hold">
                            <p:stCondLst>
                              <p:cond delay="3750"/>
                            </p:stCondLst>
                            <p:childTnLst>
                              <p:par>
                                <p:cTn id="166" presetID="42" presetClass="path" presetSubtype="0" accel="50000" decel="50000" fill="hold" grpId="2" nodeType="afterEffect">
                                  <p:stCondLst>
                                    <p:cond delay="0"/>
                                  </p:stCondLst>
                                  <p:childTnLst>
                                    <p:animMotion origin="layout" path="M 0.10052 2.22222E-6 L 0.28611 -0.00162 " pathEditMode="relative" rAng="0" ptsTypes="AA">
                                      <p:cBhvr>
                                        <p:cTn id="167" dur="750" fill="hold"/>
                                        <p:tgtEl>
                                          <p:spTgt spid="54"/>
                                        </p:tgtEl>
                                        <p:attrNameLst>
                                          <p:attrName>ppt_x</p:attrName>
                                          <p:attrName>ppt_y</p:attrName>
                                        </p:attrNameLst>
                                      </p:cBhvr>
                                      <p:rCtr x="9271" y="-93"/>
                                    </p:animMotion>
                                  </p:childTnLst>
                                </p:cTn>
                              </p:par>
                            </p:childTnLst>
                          </p:cTn>
                        </p:par>
                        <p:par>
                          <p:cTn id="168" fill="hold">
                            <p:stCondLst>
                              <p:cond delay="4500"/>
                            </p:stCondLst>
                            <p:childTnLst>
                              <p:par>
                                <p:cTn id="169" presetID="42" presetClass="path" presetSubtype="0" accel="50000" decel="50000" fill="hold" nodeType="afterEffect">
                                  <p:stCondLst>
                                    <p:cond delay="0"/>
                                  </p:stCondLst>
                                  <p:childTnLst>
                                    <p:animMotion origin="layout" path="M 0.19062 -0.00232 L 0.28628 -0.00162 " pathEditMode="relative" rAng="0" ptsTypes="AA">
                                      <p:cBhvr>
                                        <p:cTn id="170" dur="750" fill="hold"/>
                                        <p:tgtEl>
                                          <p:spTgt spid="55"/>
                                        </p:tgtEl>
                                        <p:attrNameLst>
                                          <p:attrName>ppt_x</p:attrName>
                                          <p:attrName>ppt_y</p:attrName>
                                        </p:attrNameLst>
                                      </p:cBhvr>
                                      <p:rCtr x="4774" y="23"/>
                                    </p:animMotion>
                                  </p:childTnLst>
                                </p:cTn>
                              </p:par>
                            </p:childTnLst>
                          </p:cTn>
                        </p:par>
                        <p:par>
                          <p:cTn id="171" fill="hold">
                            <p:stCondLst>
                              <p:cond delay="5250"/>
                            </p:stCondLst>
                            <p:childTnLst>
                              <p:par>
                                <p:cTn id="172" presetID="42" presetClass="path" presetSubtype="0" accel="50000" decel="50000" fill="hold" nodeType="afterEffect">
                                  <p:stCondLst>
                                    <p:cond delay="0"/>
                                  </p:stCondLst>
                                  <p:childTnLst>
                                    <p:animMotion origin="layout" path="M 0.28628 -0.00162 L 0.38055 -0.00162 " pathEditMode="relative" rAng="0" ptsTypes="AA">
                                      <p:cBhvr>
                                        <p:cTn id="173" dur="750" fill="hold"/>
                                        <p:tgtEl>
                                          <p:spTgt spid="55"/>
                                        </p:tgtEl>
                                        <p:attrNameLst>
                                          <p:attrName>ppt_x</p:attrName>
                                          <p:attrName>ppt_y</p:attrName>
                                        </p:attrNameLst>
                                      </p:cBhvr>
                                      <p:rCtr x="4705" y="0"/>
                                    </p:animMotion>
                                  </p:childTnLst>
                                </p:cTn>
                              </p:par>
                            </p:childTnLst>
                          </p:cTn>
                        </p:par>
                        <p:par>
                          <p:cTn id="174" fill="hold">
                            <p:stCondLst>
                              <p:cond delay="6000"/>
                            </p:stCondLst>
                            <p:childTnLst>
                              <p:par>
                                <p:cTn id="175" presetID="44" presetClass="path" presetSubtype="0" accel="50000" decel="50000" fill="hold" grpId="0" nodeType="afterEffect">
                                  <p:stCondLst>
                                    <p:cond delay="0"/>
                                  </p:stCondLst>
                                  <p:childTnLst>
                                    <p:animMotion origin="layout" path="M 0.00053 1.11111E-6 L -0.07638 -0.04769 C -0.09253 -0.05857 -0.11666 -0.06389 -0.14184 -0.06389 C -0.17048 -0.06389 -0.1934 -0.05857 -0.20954 -0.04769 L -0.28628 1.11111E-6 " pathEditMode="relative" rAng="0" ptsTypes="AAAAA">
                                      <p:cBhvr>
                                        <p:cTn id="176" dur="2000" fill="hold"/>
                                        <p:tgtEl>
                                          <p:spTgt spid="13"/>
                                        </p:tgtEl>
                                        <p:attrNameLst>
                                          <p:attrName>ppt_x</p:attrName>
                                          <p:attrName>ppt_y</p:attrName>
                                        </p:attrNameLst>
                                      </p:cBhvr>
                                      <p:rCtr x="-14340" y="-3194"/>
                                    </p:animMotion>
                                  </p:childTnLst>
                                </p:cTn>
                              </p:par>
                              <p:par>
                                <p:cTn id="177" presetID="44" presetClass="path" presetSubtype="0" accel="50000" decel="50000" fill="hold" grpId="1" nodeType="withEffect">
                                  <p:stCondLst>
                                    <p:cond delay="0"/>
                                  </p:stCondLst>
                                  <p:childTnLst>
                                    <p:animMotion origin="layout" path="M 0.1908 -2.59259E-6 L 0.26736 -0.03796 C 0.28351 -0.04653 0.30747 -0.05092 0.33247 -0.05092 C 0.36094 -0.05092 0.38385 -0.04653 0.4 -0.03796 L 0.47674 -2.59259E-6 " pathEditMode="relative" rAng="0" ptsTypes="AAAAA">
                                      <p:cBhvr>
                                        <p:cTn id="178" dur="2000" fill="hold"/>
                                        <p:tgtEl>
                                          <p:spTgt spid="8"/>
                                        </p:tgtEl>
                                        <p:attrNameLst>
                                          <p:attrName>ppt_x</p:attrName>
                                          <p:attrName>ppt_y</p:attrName>
                                        </p:attrNameLst>
                                      </p:cBhvr>
                                      <p:rCtr x="14288" y="-2546"/>
                                    </p:animMotion>
                                  </p:childTnLst>
                                </p:cTn>
                              </p:par>
                            </p:childTnLst>
                          </p:cTn>
                        </p:par>
                        <p:par>
                          <p:cTn id="179" fill="hold">
                            <p:stCondLst>
                              <p:cond delay="8000"/>
                            </p:stCondLst>
                            <p:childTnLst>
                              <p:par>
                                <p:cTn id="180" presetID="10" presetClass="exit" presetSubtype="0" fill="hold" nodeType="afterEffect">
                                  <p:stCondLst>
                                    <p:cond delay="0"/>
                                  </p:stCondLst>
                                  <p:childTnLst>
                                    <p:animEffect transition="out" filter="fade">
                                      <p:cBhvr>
                                        <p:cTn id="181" dur="500"/>
                                        <p:tgtEl>
                                          <p:spTgt spid="55"/>
                                        </p:tgtEl>
                                      </p:cBhvr>
                                    </p:animEffect>
                                    <p:set>
                                      <p:cBhvr>
                                        <p:cTn id="182" dur="1" fill="hold">
                                          <p:stCondLst>
                                            <p:cond delay="499"/>
                                          </p:stCondLst>
                                        </p:cTn>
                                        <p:tgtEl>
                                          <p:spTgt spid="55"/>
                                        </p:tgtEl>
                                        <p:attrNameLst>
                                          <p:attrName>style.visibility</p:attrName>
                                        </p:attrNameLst>
                                      </p:cBhvr>
                                      <p:to>
                                        <p:strVal val="hidden"/>
                                      </p:to>
                                    </p:set>
                                  </p:childTnLst>
                                </p:cTn>
                              </p:par>
                              <p:par>
                                <p:cTn id="183" presetID="10" presetClass="exit" presetSubtype="0" fill="hold" grpId="3" nodeType="withEffect">
                                  <p:stCondLst>
                                    <p:cond delay="0"/>
                                  </p:stCondLst>
                                  <p:childTnLst>
                                    <p:animEffect transition="out" filter="fade">
                                      <p:cBhvr>
                                        <p:cTn id="184" dur="500"/>
                                        <p:tgtEl>
                                          <p:spTgt spid="54"/>
                                        </p:tgtEl>
                                      </p:cBhvr>
                                    </p:animEffect>
                                    <p:set>
                                      <p:cBhvr>
                                        <p:cTn id="185" dur="1" fill="hold">
                                          <p:stCondLst>
                                            <p:cond delay="499"/>
                                          </p:stCondLst>
                                        </p:cTn>
                                        <p:tgtEl>
                                          <p:spTgt spid="54"/>
                                        </p:tgtEl>
                                        <p:attrNameLst>
                                          <p:attrName>style.visibility</p:attrName>
                                        </p:attrNameLst>
                                      </p:cBhvr>
                                      <p:to>
                                        <p:strVal val="hidden"/>
                                      </p:to>
                                    </p:set>
                                  </p:childTnLst>
                                </p:cTn>
                              </p:par>
                              <p:par>
                                <p:cTn id="186" presetID="7" presetClass="emph" presetSubtype="2" fill="hold" nodeType="withEffect">
                                  <p:stCondLst>
                                    <p:cond delay="0"/>
                                  </p:stCondLst>
                                  <p:childTnLst>
                                    <p:animClr clrSpc="rgb" dir="cw">
                                      <p:cBhvr>
                                        <p:cTn id="187" dur="500" fill="hold"/>
                                        <p:tgtEl>
                                          <p:spTgt spid="13"/>
                                        </p:tgtEl>
                                        <p:attrNameLst>
                                          <p:attrName>stroke.color</p:attrName>
                                        </p:attrNameLst>
                                      </p:cBhvr>
                                      <p:to>
                                        <a:srgbClr val="00B050"/>
                                      </p:to>
                                    </p:animClr>
                                    <p:set>
                                      <p:cBhvr>
                                        <p:cTn id="188" dur="500" fill="hold"/>
                                        <p:tgtEl>
                                          <p:spTgt spid="13"/>
                                        </p:tgtEl>
                                        <p:attrNameLst>
                                          <p:attrName>stroke.on</p:attrName>
                                        </p:attrNameLst>
                                      </p:cBhvr>
                                      <p:to>
                                        <p:strVal val="true"/>
                                      </p:to>
                                    </p:set>
                                  </p:childTnLst>
                                </p:cTn>
                              </p:par>
                            </p:childTnLst>
                          </p:cTn>
                        </p:par>
                      </p:childTnLst>
                    </p:cTn>
                  </p:par>
                  <p:par>
                    <p:cTn id="189" fill="hold">
                      <p:stCondLst>
                        <p:cond delay="indefinite"/>
                      </p:stCondLst>
                      <p:childTnLst>
                        <p:par>
                          <p:cTn id="190" fill="hold">
                            <p:stCondLst>
                              <p:cond delay="0"/>
                            </p:stCondLst>
                            <p:childTnLst>
                              <p:par>
                                <p:cTn id="191" presetID="42" presetClass="path" presetSubtype="0" accel="50000" decel="50000" fill="hold" nodeType="clickEffect">
                                  <p:stCondLst>
                                    <p:cond delay="0"/>
                                  </p:stCondLst>
                                  <p:childTnLst>
                                    <p:animMotion origin="layout" path="M 0.28628 -0.00162 L 0.38055 -0.00162 " pathEditMode="relative" rAng="0" ptsTypes="AA">
                                      <p:cBhvr>
                                        <p:cTn id="192" dur="500" fill="hold"/>
                                        <p:tgtEl>
                                          <p:spTgt spid="25"/>
                                        </p:tgtEl>
                                        <p:attrNameLst>
                                          <p:attrName>ppt_x</p:attrName>
                                          <p:attrName>ppt_y</p:attrName>
                                        </p:attrNameLst>
                                      </p:cBhvr>
                                      <p:rCtr x="4705" y="0"/>
                                    </p:animMotion>
                                  </p:childTnLst>
                                </p:cTn>
                              </p:par>
                            </p:childTnLst>
                          </p:cTn>
                        </p:par>
                        <p:par>
                          <p:cTn id="193" fill="hold">
                            <p:stCondLst>
                              <p:cond delay="500"/>
                            </p:stCondLst>
                            <p:childTnLst>
                              <p:par>
                                <p:cTn id="194" presetID="10" presetClass="entr" presetSubtype="0" fill="hold" grpId="0" nodeType="afterEffect">
                                  <p:stCondLst>
                                    <p:cond delay="0"/>
                                  </p:stCondLst>
                                  <p:childTnLst>
                                    <p:set>
                                      <p:cBhvr>
                                        <p:cTn id="195" dur="1" fill="hold">
                                          <p:stCondLst>
                                            <p:cond delay="0"/>
                                          </p:stCondLst>
                                        </p:cTn>
                                        <p:tgtEl>
                                          <p:spTgt spid="59"/>
                                        </p:tgtEl>
                                        <p:attrNameLst>
                                          <p:attrName>style.visibility</p:attrName>
                                        </p:attrNameLst>
                                      </p:cBhvr>
                                      <p:to>
                                        <p:strVal val="visible"/>
                                      </p:to>
                                    </p:set>
                                    <p:animEffect transition="in" filter="fade">
                                      <p:cBhvr>
                                        <p:cTn id="196" dur="500"/>
                                        <p:tgtEl>
                                          <p:spTgt spid="59"/>
                                        </p:tgtEl>
                                      </p:cBhvr>
                                    </p:animEffect>
                                  </p:childTnLst>
                                </p:cTn>
                              </p:par>
                              <p:par>
                                <p:cTn id="197" presetID="10" presetClass="entr" presetSubtype="0" fill="hold" nodeType="withEffect">
                                  <p:stCondLst>
                                    <p:cond delay="250"/>
                                  </p:stCondLst>
                                  <p:childTnLst>
                                    <p:set>
                                      <p:cBhvr>
                                        <p:cTn id="198" dur="1" fill="hold">
                                          <p:stCondLst>
                                            <p:cond delay="0"/>
                                          </p:stCondLst>
                                        </p:cTn>
                                        <p:tgtEl>
                                          <p:spTgt spid="63"/>
                                        </p:tgtEl>
                                        <p:attrNameLst>
                                          <p:attrName>style.visibility</p:attrName>
                                        </p:attrNameLst>
                                      </p:cBhvr>
                                      <p:to>
                                        <p:strVal val="visible"/>
                                      </p:to>
                                    </p:set>
                                    <p:animEffect transition="in" filter="fade">
                                      <p:cBhvr>
                                        <p:cTn id="199" dur="500"/>
                                        <p:tgtEl>
                                          <p:spTgt spid="63"/>
                                        </p:tgtEl>
                                      </p:cBhvr>
                                    </p:animEffect>
                                  </p:childTnLst>
                                </p:cTn>
                              </p:par>
                            </p:childTnLst>
                          </p:cTn>
                        </p:par>
                        <p:par>
                          <p:cTn id="200" fill="hold">
                            <p:stCondLst>
                              <p:cond delay="1250"/>
                            </p:stCondLst>
                            <p:childTnLst>
                              <p:par>
                                <p:cTn id="201" presetID="42" presetClass="path" presetSubtype="0" accel="50000" decel="50000" fill="hold" nodeType="afterEffect">
                                  <p:stCondLst>
                                    <p:cond delay="0"/>
                                  </p:stCondLst>
                                  <p:childTnLst>
                                    <p:animMotion origin="layout" path="M -4.16667E-6 7.40741E-7 L 0.09566 -0.0007 " pathEditMode="relative" rAng="0" ptsTypes="AA">
                                      <p:cBhvr>
                                        <p:cTn id="202" dur="500" fill="hold"/>
                                        <p:tgtEl>
                                          <p:spTgt spid="63"/>
                                        </p:tgtEl>
                                        <p:attrNameLst>
                                          <p:attrName>ppt_x</p:attrName>
                                          <p:attrName>ppt_y</p:attrName>
                                        </p:attrNameLst>
                                      </p:cBhvr>
                                      <p:rCtr x="4774" y="-46"/>
                                    </p:animMotion>
                                  </p:childTnLst>
                                </p:cTn>
                              </p:par>
                            </p:childTnLst>
                          </p:cTn>
                        </p:par>
                        <p:par>
                          <p:cTn id="203" fill="hold">
                            <p:stCondLst>
                              <p:cond delay="1750"/>
                            </p:stCondLst>
                            <p:childTnLst>
                              <p:par>
                                <p:cTn id="204" presetID="42" presetClass="path" presetSubtype="0" accel="50000" decel="50000" fill="hold" nodeType="afterEffect">
                                  <p:stCondLst>
                                    <p:cond delay="0"/>
                                  </p:stCondLst>
                                  <p:childTnLst>
                                    <p:animMotion origin="layout" path="M 0.09566 -0.0007 L 0.19063 -0.00232 " pathEditMode="relative" rAng="0" ptsTypes="AA">
                                      <p:cBhvr>
                                        <p:cTn id="205" dur="500" fill="hold"/>
                                        <p:tgtEl>
                                          <p:spTgt spid="63"/>
                                        </p:tgtEl>
                                        <p:attrNameLst>
                                          <p:attrName>ppt_x</p:attrName>
                                          <p:attrName>ppt_y</p:attrName>
                                        </p:attrNameLst>
                                      </p:cBhvr>
                                      <p:rCtr x="4740" y="-93"/>
                                    </p:animMotion>
                                  </p:childTnLst>
                                </p:cTn>
                              </p:par>
                            </p:childTnLst>
                          </p:cTn>
                        </p:par>
                        <p:par>
                          <p:cTn id="206" fill="hold">
                            <p:stCondLst>
                              <p:cond delay="2250"/>
                            </p:stCondLst>
                            <p:childTnLst>
                              <p:par>
                                <p:cTn id="207" presetID="42" presetClass="path" presetSubtype="0" accel="50000" decel="50000" fill="hold" nodeType="afterEffect">
                                  <p:stCondLst>
                                    <p:cond delay="0"/>
                                  </p:stCondLst>
                                  <p:childTnLst>
                                    <p:animMotion origin="layout" path="M 0.19063 -0.00232 L 0.28629 -0.00162 " pathEditMode="relative" rAng="0" ptsTypes="AA">
                                      <p:cBhvr>
                                        <p:cTn id="208" dur="500" fill="hold"/>
                                        <p:tgtEl>
                                          <p:spTgt spid="63"/>
                                        </p:tgtEl>
                                        <p:attrNameLst>
                                          <p:attrName>ppt_x</p:attrName>
                                          <p:attrName>ppt_y</p:attrName>
                                        </p:attrNameLst>
                                      </p:cBhvr>
                                      <p:rCtr x="4774" y="23"/>
                                    </p:animMotion>
                                  </p:childTnLst>
                                </p:cTn>
                              </p:par>
                            </p:childTnLst>
                          </p:cTn>
                        </p:par>
                        <p:par>
                          <p:cTn id="209" fill="hold">
                            <p:stCondLst>
                              <p:cond delay="2750"/>
                            </p:stCondLst>
                            <p:childTnLst>
                              <p:par>
                                <p:cTn id="210" presetID="10" presetClass="exit" presetSubtype="0" fill="hold" nodeType="afterEffect">
                                  <p:stCondLst>
                                    <p:cond delay="0"/>
                                  </p:stCondLst>
                                  <p:childTnLst>
                                    <p:animEffect transition="out" filter="fade">
                                      <p:cBhvr>
                                        <p:cTn id="211" dur="500"/>
                                        <p:tgtEl>
                                          <p:spTgt spid="63"/>
                                        </p:tgtEl>
                                      </p:cBhvr>
                                    </p:animEffect>
                                    <p:set>
                                      <p:cBhvr>
                                        <p:cTn id="212" dur="1" fill="hold">
                                          <p:stCondLst>
                                            <p:cond delay="499"/>
                                          </p:stCondLst>
                                        </p:cTn>
                                        <p:tgtEl>
                                          <p:spTgt spid="63"/>
                                        </p:tgtEl>
                                        <p:attrNameLst>
                                          <p:attrName>style.visibility</p:attrName>
                                        </p:attrNameLst>
                                      </p:cBhvr>
                                      <p:to>
                                        <p:strVal val="hidden"/>
                                      </p:to>
                                    </p:set>
                                  </p:childTnLst>
                                </p:cTn>
                              </p:par>
                              <p:par>
                                <p:cTn id="213" presetID="10" presetClass="exit" presetSubtype="0" fill="hold" grpId="3" nodeType="withEffect">
                                  <p:stCondLst>
                                    <p:cond delay="0"/>
                                  </p:stCondLst>
                                  <p:childTnLst>
                                    <p:animEffect transition="out" filter="fade">
                                      <p:cBhvr>
                                        <p:cTn id="214" dur="500"/>
                                        <p:tgtEl>
                                          <p:spTgt spid="59"/>
                                        </p:tgtEl>
                                      </p:cBhvr>
                                    </p:animEffect>
                                    <p:set>
                                      <p:cBhvr>
                                        <p:cTn id="215" dur="1" fill="hold">
                                          <p:stCondLst>
                                            <p:cond delay="499"/>
                                          </p:stCondLst>
                                        </p:cTn>
                                        <p:tgtEl>
                                          <p:spTgt spid="59"/>
                                        </p:tgtEl>
                                        <p:attrNameLst>
                                          <p:attrName>style.visibility</p:attrName>
                                        </p:attrNameLst>
                                      </p:cBhvr>
                                      <p:to>
                                        <p:strVal val="hidden"/>
                                      </p:to>
                                    </p:set>
                                  </p:childTnLst>
                                </p:cTn>
                              </p:par>
                              <p:par>
                                <p:cTn id="216" presetID="7" presetClass="emph" presetSubtype="2" fill="hold" nodeType="withEffect">
                                  <p:stCondLst>
                                    <p:cond delay="0"/>
                                  </p:stCondLst>
                                  <p:childTnLst>
                                    <p:animClr clrSpc="rgb" dir="cw">
                                      <p:cBhvr>
                                        <p:cTn id="217" dur="500" fill="hold"/>
                                        <p:tgtEl>
                                          <p:spTgt spid="11"/>
                                        </p:tgtEl>
                                        <p:attrNameLst>
                                          <p:attrName>stroke.color</p:attrName>
                                        </p:attrNameLst>
                                      </p:cBhvr>
                                      <p:to>
                                        <a:srgbClr val="00B050"/>
                                      </p:to>
                                    </p:animClr>
                                    <p:set>
                                      <p:cBhvr>
                                        <p:cTn id="218" dur="500" fill="hold"/>
                                        <p:tgtEl>
                                          <p:spTgt spid="11"/>
                                        </p:tgtEl>
                                        <p:attrNameLst>
                                          <p:attrName>stroke.on</p:attrName>
                                        </p:attrNameLst>
                                      </p:cBhvr>
                                      <p:to>
                                        <p:strVal val="true"/>
                                      </p:to>
                                    </p:set>
                                  </p:childTnLst>
                                </p:cTn>
                              </p:par>
                            </p:childTnLst>
                          </p:cTn>
                        </p:par>
                      </p:childTnLst>
                    </p:cTn>
                  </p:par>
                  <p:par>
                    <p:cTn id="219" fill="hold">
                      <p:stCondLst>
                        <p:cond delay="indefinite"/>
                      </p:stCondLst>
                      <p:childTnLst>
                        <p:par>
                          <p:cTn id="220" fill="hold">
                            <p:stCondLst>
                              <p:cond delay="0"/>
                            </p:stCondLst>
                            <p:childTnLst>
                              <p:par>
                                <p:cTn id="221" presetID="42" presetClass="path" presetSubtype="0" accel="50000" decel="50000" fill="hold" nodeType="clickEffect">
                                  <p:stCondLst>
                                    <p:cond delay="0"/>
                                  </p:stCondLst>
                                  <p:childTnLst>
                                    <p:animMotion origin="layout" path="M 0.38055 -0.00162 L 0.47621 -0.00556 " pathEditMode="relative" rAng="0" ptsTypes="AA">
                                      <p:cBhvr>
                                        <p:cTn id="222" dur="500" fill="hold"/>
                                        <p:tgtEl>
                                          <p:spTgt spid="25"/>
                                        </p:tgtEl>
                                        <p:attrNameLst>
                                          <p:attrName>ppt_x</p:attrName>
                                          <p:attrName>ppt_y</p:attrName>
                                        </p:attrNameLst>
                                      </p:cBhvr>
                                      <p:rCtr x="4774" y="-208"/>
                                    </p:animMotion>
                                  </p:childTnLst>
                                </p:cTn>
                              </p:par>
                            </p:childTnLst>
                          </p:cTn>
                        </p:par>
                        <p:par>
                          <p:cTn id="223" fill="hold">
                            <p:stCondLst>
                              <p:cond delay="500"/>
                            </p:stCondLst>
                            <p:childTnLst>
                              <p:par>
                                <p:cTn id="224" presetID="10" presetClass="entr" presetSubtype="0" fill="hold" grpId="0" nodeType="afterEffect">
                                  <p:stCondLst>
                                    <p:cond delay="0"/>
                                  </p:stCondLst>
                                  <p:childTnLst>
                                    <p:set>
                                      <p:cBhvr>
                                        <p:cTn id="225" dur="1" fill="hold">
                                          <p:stCondLst>
                                            <p:cond delay="0"/>
                                          </p:stCondLst>
                                        </p:cTn>
                                        <p:tgtEl>
                                          <p:spTgt spid="60"/>
                                        </p:tgtEl>
                                        <p:attrNameLst>
                                          <p:attrName>style.visibility</p:attrName>
                                        </p:attrNameLst>
                                      </p:cBhvr>
                                      <p:to>
                                        <p:strVal val="visible"/>
                                      </p:to>
                                    </p:set>
                                    <p:animEffect transition="in" filter="fade">
                                      <p:cBhvr>
                                        <p:cTn id="226" dur="500"/>
                                        <p:tgtEl>
                                          <p:spTgt spid="60"/>
                                        </p:tgtEl>
                                      </p:cBhvr>
                                    </p:animEffect>
                                  </p:childTnLst>
                                </p:cTn>
                              </p:par>
                              <p:par>
                                <p:cTn id="227" presetID="10" presetClass="entr" presetSubtype="0" fill="hold" nodeType="withEffect">
                                  <p:stCondLst>
                                    <p:cond delay="250"/>
                                  </p:stCondLst>
                                  <p:childTnLst>
                                    <p:set>
                                      <p:cBhvr>
                                        <p:cTn id="228" dur="1" fill="hold">
                                          <p:stCondLst>
                                            <p:cond delay="0"/>
                                          </p:stCondLst>
                                        </p:cTn>
                                        <p:tgtEl>
                                          <p:spTgt spid="66"/>
                                        </p:tgtEl>
                                        <p:attrNameLst>
                                          <p:attrName>style.visibility</p:attrName>
                                        </p:attrNameLst>
                                      </p:cBhvr>
                                      <p:to>
                                        <p:strVal val="visible"/>
                                      </p:to>
                                    </p:set>
                                    <p:animEffect transition="in" filter="fade">
                                      <p:cBhvr>
                                        <p:cTn id="229" dur="500"/>
                                        <p:tgtEl>
                                          <p:spTgt spid="66"/>
                                        </p:tgtEl>
                                      </p:cBhvr>
                                    </p:animEffect>
                                  </p:childTnLst>
                                </p:cTn>
                              </p:par>
                            </p:childTnLst>
                          </p:cTn>
                        </p:par>
                        <p:par>
                          <p:cTn id="230" fill="hold">
                            <p:stCondLst>
                              <p:cond delay="1250"/>
                            </p:stCondLst>
                            <p:childTnLst>
                              <p:par>
                                <p:cTn id="231" presetID="42" presetClass="path" presetSubtype="0" accel="50000" decel="50000" fill="hold" nodeType="afterEffect">
                                  <p:stCondLst>
                                    <p:cond delay="0"/>
                                  </p:stCondLst>
                                  <p:childTnLst>
                                    <p:animMotion origin="layout" path="M -4.16667E-6 4.07407E-6 L 0.09566 -0.0007 " pathEditMode="relative" rAng="0" ptsTypes="AA">
                                      <p:cBhvr>
                                        <p:cTn id="232" dur="500" fill="hold"/>
                                        <p:tgtEl>
                                          <p:spTgt spid="66"/>
                                        </p:tgtEl>
                                        <p:attrNameLst>
                                          <p:attrName>ppt_x</p:attrName>
                                          <p:attrName>ppt_y</p:attrName>
                                        </p:attrNameLst>
                                      </p:cBhvr>
                                      <p:rCtr x="4774" y="-46"/>
                                    </p:animMotion>
                                  </p:childTnLst>
                                </p:cTn>
                              </p:par>
                            </p:childTnLst>
                          </p:cTn>
                        </p:par>
                        <p:par>
                          <p:cTn id="233" fill="hold">
                            <p:stCondLst>
                              <p:cond delay="1750"/>
                            </p:stCondLst>
                            <p:childTnLst>
                              <p:par>
                                <p:cTn id="234" presetID="42" presetClass="path" presetSubtype="0" accel="50000" decel="50000" fill="hold" nodeType="afterEffect">
                                  <p:stCondLst>
                                    <p:cond delay="0"/>
                                  </p:stCondLst>
                                  <p:childTnLst>
                                    <p:animMotion origin="layout" path="M 0.09566 -0.0007 L 0.19063 -0.00232 " pathEditMode="relative" rAng="0" ptsTypes="AA">
                                      <p:cBhvr>
                                        <p:cTn id="235" dur="500" fill="hold"/>
                                        <p:tgtEl>
                                          <p:spTgt spid="66"/>
                                        </p:tgtEl>
                                        <p:attrNameLst>
                                          <p:attrName>ppt_x</p:attrName>
                                          <p:attrName>ppt_y</p:attrName>
                                        </p:attrNameLst>
                                      </p:cBhvr>
                                      <p:rCtr x="4740" y="-93"/>
                                    </p:animMotion>
                                  </p:childTnLst>
                                </p:cTn>
                              </p:par>
                            </p:childTnLst>
                          </p:cTn>
                        </p:par>
                        <p:par>
                          <p:cTn id="236" fill="hold">
                            <p:stCondLst>
                              <p:cond delay="2250"/>
                            </p:stCondLst>
                            <p:childTnLst>
                              <p:par>
                                <p:cTn id="237" presetID="10" presetClass="exit" presetSubtype="0" fill="hold" nodeType="afterEffect">
                                  <p:stCondLst>
                                    <p:cond delay="0"/>
                                  </p:stCondLst>
                                  <p:childTnLst>
                                    <p:animEffect transition="out" filter="fade">
                                      <p:cBhvr>
                                        <p:cTn id="238" dur="500"/>
                                        <p:tgtEl>
                                          <p:spTgt spid="66"/>
                                        </p:tgtEl>
                                      </p:cBhvr>
                                    </p:animEffect>
                                    <p:set>
                                      <p:cBhvr>
                                        <p:cTn id="239" dur="1" fill="hold">
                                          <p:stCondLst>
                                            <p:cond delay="499"/>
                                          </p:stCondLst>
                                        </p:cTn>
                                        <p:tgtEl>
                                          <p:spTgt spid="66"/>
                                        </p:tgtEl>
                                        <p:attrNameLst>
                                          <p:attrName>style.visibility</p:attrName>
                                        </p:attrNameLst>
                                      </p:cBhvr>
                                      <p:to>
                                        <p:strVal val="hidden"/>
                                      </p:to>
                                    </p:set>
                                  </p:childTnLst>
                                </p:cTn>
                              </p:par>
                              <p:par>
                                <p:cTn id="240" presetID="10" presetClass="exit" presetSubtype="0" fill="hold" grpId="1" nodeType="withEffect">
                                  <p:stCondLst>
                                    <p:cond delay="0"/>
                                  </p:stCondLst>
                                  <p:childTnLst>
                                    <p:animEffect transition="out" filter="fade">
                                      <p:cBhvr>
                                        <p:cTn id="241" dur="500"/>
                                        <p:tgtEl>
                                          <p:spTgt spid="60"/>
                                        </p:tgtEl>
                                      </p:cBhvr>
                                    </p:animEffect>
                                    <p:set>
                                      <p:cBhvr>
                                        <p:cTn id="242" dur="1" fill="hold">
                                          <p:stCondLst>
                                            <p:cond delay="499"/>
                                          </p:stCondLst>
                                        </p:cTn>
                                        <p:tgtEl>
                                          <p:spTgt spid="60"/>
                                        </p:tgtEl>
                                        <p:attrNameLst>
                                          <p:attrName>style.visibility</p:attrName>
                                        </p:attrNameLst>
                                      </p:cBhvr>
                                      <p:to>
                                        <p:strVal val="hidden"/>
                                      </p:to>
                                    </p:set>
                                  </p:childTnLst>
                                </p:cTn>
                              </p:par>
                              <p:par>
                                <p:cTn id="243" presetID="7" presetClass="emph" presetSubtype="2" fill="hold" nodeType="withEffect">
                                  <p:stCondLst>
                                    <p:cond delay="0"/>
                                  </p:stCondLst>
                                  <p:childTnLst>
                                    <p:animClr clrSpc="rgb" dir="cw">
                                      <p:cBhvr>
                                        <p:cTn id="244" dur="500" fill="hold"/>
                                        <p:tgtEl>
                                          <p:spTgt spid="12"/>
                                        </p:tgtEl>
                                        <p:attrNameLst>
                                          <p:attrName>stroke.color</p:attrName>
                                        </p:attrNameLst>
                                      </p:cBhvr>
                                      <p:to>
                                        <a:srgbClr val="00B050"/>
                                      </p:to>
                                    </p:animClr>
                                    <p:set>
                                      <p:cBhvr>
                                        <p:cTn id="245" dur="500" fill="hold"/>
                                        <p:tgtEl>
                                          <p:spTgt spid="12"/>
                                        </p:tgtEl>
                                        <p:attrNameLst>
                                          <p:attrName>stroke.on</p:attrName>
                                        </p:attrNameLst>
                                      </p:cBhvr>
                                      <p:to>
                                        <p:strVal val="true"/>
                                      </p:to>
                                    </p:set>
                                  </p:childTnLst>
                                </p:cTn>
                              </p:par>
                            </p:childTnLst>
                          </p:cTn>
                        </p:par>
                      </p:childTnLst>
                    </p:cTn>
                  </p:par>
                  <p:par>
                    <p:cTn id="246" fill="hold">
                      <p:stCondLst>
                        <p:cond delay="indefinite"/>
                      </p:stCondLst>
                      <p:childTnLst>
                        <p:par>
                          <p:cTn id="247" fill="hold">
                            <p:stCondLst>
                              <p:cond delay="0"/>
                            </p:stCondLst>
                            <p:childTnLst>
                              <p:par>
                                <p:cTn id="248" presetID="42" presetClass="path" presetSubtype="0" accel="50000" decel="50000" fill="hold" nodeType="clickEffect">
                                  <p:stCondLst>
                                    <p:cond delay="0"/>
                                  </p:stCondLst>
                                  <p:childTnLst>
                                    <p:animMotion origin="layout" path="M 0.47621 -0.00555 L 0.57292 -0.00324 " pathEditMode="relative" rAng="0" ptsTypes="AA">
                                      <p:cBhvr>
                                        <p:cTn id="249" dur="500" fill="hold"/>
                                        <p:tgtEl>
                                          <p:spTgt spid="25"/>
                                        </p:tgtEl>
                                        <p:attrNameLst>
                                          <p:attrName>ppt_x</p:attrName>
                                          <p:attrName>ppt_y</p:attrName>
                                        </p:attrNameLst>
                                      </p:cBhvr>
                                      <p:rCtr x="5052" y="0"/>
                                    </p:animMotion>
                                  </p:childTnLst>
                                </p:cTn>
                              </p:par>
                            </p:childTnLst>
                          </p:cTn>
                        </p:par>
                        <p:par>
                          <p:cTn id="250" fill="hold">
                            <p:stCondLst>
                              <p:cond delay="500"/>
                            </p:stCondLst>
                            <p:childTnLst>
                              <p:par>
                                <p:cTn id="251" presetID="10" presetClass="entr" presetSubtype="0" fill="hold" grpId="0" nodeType="afterEffect">
                                  <p:stCondLst>
                                    <p:cond delay="0"/>
                                  </p:stCondLst>
                                  <p:childTnLst>
                                    <p:set>
                                      <p:cBhvr>
                                        <p:cTn id="252" dur="1" fill="hold">
                                          <p:stCondLst>
                                            <p:cond delay="0"/>
                                          </p:stCondLst>
                                        </p:cTn>
                                        <p:tgtEl>
                                          <p:spTgt spid="61"/>
                                        </p:tgtEl>
                                        <p:attrNameLst>
                                          <p:attrName>style.visibility</p:attrName>
                                        </p:attrNameLst>
                                      </p:cBhvr>
                                      <p:to>
                                        <p:strVal val="visible"/>
                                      </p:to>
                                    </p:set>
                                    <p:animEffect transition="in" filter="fade">
                                      <p:cBhvr>
                                        <p:cTn id="253" dur="500"/>
                                        <p:tgtEl>
                                          <p:spTgt spid="61"/>
                                        </p:tgtEl>
                                      </p:cBhvr>
                                    </p:animEffect>
                                  </p:childTnLst>
                                </p:cTn>
                              </p:par>
                              <p:par>
                                <p:cTn id="254" presetID="10" presetClass="entr" presetSubtype="0" fill="hold" nodeType="withEffect">
                                  <p:stCondLst>
                                    <p:cond delay="250"/>
                                  </p:stCondLst>
                                  <p:childTnLst>
                                    <p:set>
                                      <p:cBhvr>
                                        <p:cTn id="255" dur="1" fill="hold">
                                          <p:stCondLst>
                                            <p:cond delay="0"/>
                                          </p:stCondLst>
                                        </p:cTn>
                                        <p:tgtEl>
                                          <p:spTgt spid="69"/>
                                        </p:tgtEl>
                                        <p:attrNameLst>
                                          <p:attrName>style.visibility</p:attrName>
                                        </p:attrNameLst>
                                      </p:cBhvr>
                                      <p:to>
                                        <p:strVal val="visible"/>
                                      </p:to>
                                    </p:set>
                                    <p:animEffect transition="in" filter="fade">
                                      <p:cBhvr>
                                        <p:cTn id="256" dur="500"/>
                                        <p:tgtEl>
                                          <p:spTgt spid="69"/>
                                        </p:tgtEl>
                                      </p:cBhvr>
                                    </p:animEffect>
                                  </p:childTnLst>
                                </p:cTn>
                              </p:par>
                            </p:childTnLst>
                          </p:cTn>
                        </p:par>
                        <p:par>
                          <p:cTn id="257" fill="hold">
                            <p:stCondLst>
                              <p:cond delay="1250"/>
                            </p:stCondLst>
                            <p:childTnLst>
                              <p:par>
                                <p:cTn id="258" presetID="42" presetClass="path" presetSubtype="0" accel="50000" decel="50000" fill="hold" nodeType="afterEffect">
                                  <p:stCondLst>
                                    <p:cond delay="0"/>
                                  </p:stCondLst>
                                  <p:childTnLst>
                                    <p:animMotion origin="layout" path="M 2.22222E-6 7.40741E-7 L 0.09566 -0.0007 " pathEditMode="relative" rAng="0" ptsTypes="AA">
                                      <p:cBhvr>
                                        <p:cTn id="259" dur="500" fill="hold"/>
                                        <p:tgtEl>
                                          <p:spTgt spid="69"/>
                                        </p:tgtEl>
                                        <p:attrNameLst>
                                          <p:attrName>ppt_x</p:attrName>
                                          <p:attrName>ppt_y</p:attrName>
                                        </p:attrNameLst>
                                      </p:cBhvr>
                                      <p:rCtr x="4774" y="-46"/>
                                    </p:animMotion>
                                  </p:childTnLst>
                                </p:cTn>
                              </p:par>
                            </p:childTnLst>
                          </p:cTn>
                        </p:par>
                        <p:par>
                          <p:cTn id="260" fill="hold">
                            <p:stCondLst>
                              <p:cond delay="1750"/>
                            </p:stCondLst>
                            <p:childTnLst>
                              <p:par>
                                <p:cTn id="261" presetID="10" presetClass="exit" presetSubtype="0" fill="hold" nodeType="afterEffect">
                                  <p:stCondLst>
                                    <p:cond delay="0"/>
                                  </p:stCondLst>
                                  <p:childTnLst>
                                    <p:animEffect transition="out" filter="fade">
                                      <p:cBhvr>
                                        <p:cTn id="262" dur="500"/>
                                        <p:tgtEl>
                                          <p:spTgt spid="69"/>
                                        </p:tgtEl>
                                      </p:cBhvr>
                                    </p:animEffect>
                                    <p:set>
                                      <p:cBhvr>
                                        <p:cTn id="263" dur="1" fill="hold">
                                          <p:stCondLst>
                                            <p:cond delay="499"/>
                                          </p:stCondLst>
                                        </p:cTn>
                                        <p:tgtEl>
                                          <p:spTgt spid="69"/>
                                        </p:tgtEl>
                                        <p:attrNameLst>
                                          <p:attrName>style.visibility</p:attrName>
                                        </p:attrNameLst>
                                      </p:cBhvr>
                                      <p:to>
                                        <p:strVal val="hidden"/>
                                      </p:to>
                                    </p:set>
                                  </p:childTnLst>
                                </p:cTn>
                              </p:par>
                              <p:par>
                                <p:cTn id="264" presetID="10" presetClass="exit" presetSubtype="0" fill="hold" grpId="1" nodeType="withEffect">
                                  <p:stCondLst>
                                    <p:cond delay="0"/>
                                  </p:stCondLst>
                                  <p:childTnLst>
                                    <p:animEffect transition="out" filter="fade">
                                      <p:cBhvr>
                                        <p:cTn id="265" dur="500"/>
                                        <p:tgtEl>
                                          <p:spTgt spid="61"/>
                                        </p:tgtEl>
                                      </p:cBhvr>
                                    </p:animEffect>
                                    <p:set>
                                      <p:cBhvr>
                                        <p:cTn id="266" dur="1" fill="hold">
                                          <p:stCondLst>
                                            <p:cond delay="499"/>
                                          </p:stCondLst>
                                        </p:cTn>
                                        <p:tgtEl>
                                          <p:spTgt spid="61"/>
                                        </p:tgtEl>
                                        <p:attrNameLst>
                                          <p:attrName>style.visibility</p:attrName>
                                        </p:attrNameLst>
                                      </p:cBhvr>
                                      <p:to>
                                        <p:strVal val="hidden"/>
                                      </p:to>
                                    </p:set>
                                  </p:childTnLst>
                                </p:cTn>
                              </p:par>
                            </p:childTnLst>
                          </p:cTn>
                        </p:par>
                        <p:par>
                          <p:cTn id="267" fill="hold">
                            <p:stCondLst>
                              <p:cond delay="2250"/>
                            </p:stCondLst>
                            <p:childTnLst>
                              <p:par>
                                <p:cTn id="268" presetID="7" presetClass="emph" presetSubtype="2" fill="hold" nodeType="afterEffect">
                                  <p:stCondLst>
                                    <p:cond delay="0"/>
                                  </p:stCondLst>
                                  <p:childTnLst>
                                    <p:animClr clrSpc="rgb" dir="cw">
                                      <p:cBhvr>
                                        <p:cTn id="269" dur="500" fill="hold"/>
                                        <p:tgtEl>
                                          <p:spTgt spid="8"/>
                                        </p:tgtEl>
                                        <p:attrNameLst>
                                          <p:attrName>stroke.color</p:attrName>
                                        </p:attrNameLst>
                                      </p:cBhvr>
                                      <p:to>
                                        <a:srgbClr val="00B050"/>
                                      </p:to>
                                    </p:animClr>
                                    <p:set>
                                      <p:cBhvr>
                                        <p:cTn id="270" dur="500" fill="hold"/>
                                        <p:tgtEl>
                                          <p:spTgt spid="8"/>
                                        </p:tgtEl>
                                        <p:attrNameLst>
                                          <p:attrName>stroke.on</p:attrName>
                                        </p:attrNameLst>
                                      </p:cBhvr>
                                      <p:to>
                                        <p:strVal val="true"/>
                                      </p:to>
                                    </p:set>
                                  </p:childTnLst>
                                </p:cTn>
                              </p:par>
                            </p:childTnLst>
                          </p:cTn>
                        </p:par>
                      </p:childTnLst>
                    </p:cTn>
                  </p:par>
                  <p:par>
                    <p:cTn id="271" fill="hold">
                      <p:stCondLst>
                        <p:cond delay="indefinite"/>
                      </p:stCondLst>
                      <p:childTnLst>
                        <p:par>
                          <p:cTn id="272" fill="hold">
                            <p:stCondLst>
                              <p:cond delay="0"/>
                            </p:stCondLst>
                            <p:childTnLst>
                              <p:par>
                                <p:cTn id="273" presetID="42" presetClass="path" presetSubtype="0" accel="50000" decel="50000" fill="hold" nodeType="clickEffect">
                                  <p:stCondLst>
                                    <p:cond delay="0"/>
                                  </p:stCondLst>
                                  <p:childTnLst>
                                    <p:animMotion origin="layout" path="M 0.57292 -0.00324 L 0.66458 -0.00324 " pathEditMode="relative" rAng="0" ptsTypes="AA">
                                      <p:cBhvr>
                                        <p:cTn id="274" dur="500" fill="hold"/>
                                        <p:tgtEl>
                                          <p:spTgt spid="25"/>
                                        </p:tgtEl>
                                        <p:attrNameLst>
                                          <p:attrName>ppt_x</p:attrName>
                                          <p:attrName>ppt_y</p:attrName>
                                        </p:attrNameLst>
                                      </p:cBhvr>
                                      <p:rCtr x="4583" y="0"/>
                                    </p:animMotion>
                                  </p:childTnLst>
                                </p:cTn>
                              </p:par>
                            </p:childTnLst>
                          </p:cTn>
                        </p:par>
                        <p:par>
                          <p:cTn id="275" fill="hold">
                            <p:stCondLst>
                              <p:cond delay="500"/>
                            </p:stCondLst>
                            <p:childTnLst>
                              <p:par>
                                <p:cTn id="276" presetID="10" presetClass="entr" presetSubtype="0" fill="hold" grpId="0" nodeType="afterEffect">
                                  <p:stCondLst>
                                    <p:cond delay="0"/>
                                  </p:stCondLst>
                                  <p:childTnLst>
                                    <p:set>
                                      <p:cBhvr>
                                        <p:cTn id="277" dur="1" fill="hold">
                                          <p:stCondLst>
                                            <p:cond delay="0"/>
                                          </p:stCondLst>
                                        </p:cTn>
                                        <p:tgtEl>
                                          <p:spTgt spid="62"/>
                                        </p:tgtEl>
                                        <p:attrNameLst>
                                          <p:attrName>style.visibility</p:attrName>
                                        </p:attrNameLst>
                                      </p:cBhvr>
                                      <p:to>
                                        <p:strVal val="visible"/>
                                      </p:to>
                                    </p:set>
                                    <p:animEffect transition="in" filter="fade">
                                      <p:cBhvr>
                                        <p:cTn id="278" dur="500"/>
                                        <p:tgtEl>
                                          <p:spTgt spid="62"/>
                                        </p:tgtEl>
                                      </p:cBhvr>
                                    </p:animEffect>
                                  </p:childTnLst>
                                </p:cTn>
                              </p:par>
                              <p:par>
                                <p:cTn id="279" presetID="10" presetClass="entr" presetSubtype="0" fill="hold" nodeType="withEffect">
                                  <p:stCondLst>
                                    <p:cond delay="250"/>
                                  </p:stCondLst>
                                  <p:childTnLst>
                                    <p:set>
                                      <p:cBhvr>
                                        <p:cTn id="280" dur="1" fill="hold">
                                          <p:stCondLst>
                                            <p:cond delay="0"/>
                                          </p:stCondLst>
                                        </p:cTn>
                                        <p:tgtEl>
                                          <p:spTgt spid="72"/>
                                        </p:tgtEl>
                                        <p:attrNameLst>
                                          <p:attrName>style.visibility</p:attrName>
                                        </p:attrNameLst>
                                      </p:cBhvr>
                                      <p:to>
                                        <p:strVal val="visible"/>
                                      </p:to>
                                    </p:set>
                                    <p:animEffect transition="in" filter="fade">
                                      <p:cBhvr>
                                        <p:cTn id="281" dur="500"/>
                                        <p:tgtEl>
                                          <p:spTgt spid="72"/>
                                        </p:tgtEl>
                                      </p:cBhvr>
                                    </p:animEffect>
                                  </p:childTnLst>
                                </p:cTn>
                              </p:par>
                              <p:par>
                                <p:cTn id="282" presetID="10" presetClass="exit" presetSubtype="0" fill="hold" grpId="1" nodeType="withEffect">
                                  <p:stCondLst>
                                    <p:cond delay="500"/>
                                  </p:stCondLst>
                                  <p:childTnLst>
                                    <p:animEffect transition="out" filter="fade">
                                      <p:cBhvr>
                                        <p:cTn id="283" dur="500"/>
                                        <p:tgtEl>
                                          <p:spTgt spid="62"/>
                                        </p:tgtEl>
                                      </p:cBhvr>
                                    </p:animEffect>
                                    <p:set>
                                      <p:cBhvr>
                                        <p:cTn id="284" dur="1" fill="hold">
                                          <p:stCondLst>
                                            <p:cond delay="499"/>
                                          </p:stCondLst>
                                        </p:cTn>
                                        <p:tgtEl>
                                          <p:spTgt spid="62"/>
                                        </p:tgtEl>
                                        <p:attrNameLst>
                                          <p:attrName>style.visibility</p:attrName>
                                        </p:attrNameLst>
                                      </p:cBhvr>
                                      <p:to>
                                        <p:strVal val="hidden"/>
                                      </p:to>
                                    </p:set>
                                  </p:childTnLst>
                                </p:cTn>
                              </p:par>
                              <p:par>
                                <p:cTn id="285" presetID="10" presetClass="exit" presetSubtype="0" fill="hold" nodeType="withEffect">
                                  <p:stCondLst>
                                    <p:cond delay="500"/>
                                  </p:stCondLst>
                                  <p:childTnLst>
                                    <p:animEffect transition="out" filter="fade">
                                      <p:cBhvr>
                                        <p:cTn id="286" dur="500"/>
                                        <p:tgtEl>
                                          <p:spTgt spid="72"/>
                                        </p:tgtEl>
                                      </p:cBhvr>
                                    </p:animEffect>
                                    <p:set>
                                      <p:cBhvr>
                                        <p:cTn id="287" dur="1" fill="hold">
                                          <p:stCondLst>
                                            <p:cond delay="499"/>
                                          </p:stCondLst>
                                        </p:cTn>
                                        <p:tgtEl>
                                          <p:spTgt spid="72"/>
                                        </p:tgtEl>
                                        <p:attrNameLst>
                                          <p:attrName>style.visibility</p:attrName>
                                        </p:attrNameLst>
                                      </p:cBhvr>
                                      <p:to>
                                        <p:strVal val="hidden"/>
                                      </p:to>
                                    </p:set>
                                  </p:childTnLst>
                                </p:cTn>
                              </p:par>
                              <p:par>
                                <p:cTn id="288" presetID="7" presetClass="emph" presetSubtype="2" fill="hold" nodeType="withEffect">
                                  <p:stCondLst>
                                    <p:cond delay="500"/>
                                  </p:stCondLst>
                                  <p:childTnLst>
                                    <p:animClr clrSpc="rgb" dir="cw">
                                      <p:cBhvr>
                                        <p:cTn id="289" dur="500" fill="hold"/>
                                        <p:tgtEl>
                                          <p:spTgt spid="14"/>
                                        </p:tgtEl>
                                        <p:attrNameLst>
                                          <p:attrName>stroke.color</p:attrName>
                                        </p:attrNameLst>
                                      </p:cBhvr>
                                      <p:to>
                                        <a:srgbClr val="00B050"/>
                                      </p:to>
                                    </p:animClr>
                                    <p:set>
                                      <p:cBhvr>
                                        <p:cTn id="290" dur="500" fill="hold"/>
                                        <p:tgtEl>
                                          <p:spTgt spid="14"/>
                                        </p:tgtEl>
                                        <p:attrNameLst>
                                          <p:attrName>stroke.on</p:attrName>
                                        </p:attrNameLst>
                                      </p:cBhvr>
                                      <p:to>
                                        <p:strVal val="true"/>
                                      </p:to>
                                    </p:set>
                                  </p:childTnLst>
                                </p:cTn>
                              </p:par>
                              <p:par>
                                <p:cTn id="291" presetID="7" presetClass="emph" presetSubtype="2" fill="hold" nodeType="withEffect">
                                  <p:stCondLst>
                                    <p:cond delay="500"/>
                                  </p:stCondLst>
                                  <p:childTnLst>
                                    <p:animClr clrSpc="rgb" dir="cw">
                                      <p:cBhvr>
                                        <p:cTn id="292" dur="500" fill="hold"/>
                                        <p:tgtEl>
                                          <p:spTgt spid="7"/>
                                        </p:tgtEl>
                                        <p:attrNameLst>
                                          <p:attrName>stroke.color</p:attrName>
                                        </p:attrNameLst>
                                      </p:cBhvr>
                                      <p:to>
                                        <a:srgbClr val="00B050"/>
                                      </p:to>
                                    </p:animClr>
                                    <p:set>
                                      <p:cBhvr>
                                        <p:cTn id="293" dur="500" fill="hold"/>
                                        <p:tgtEl>
                                          <p:spTgt spid="7"/>
                                        </p:tgtEl>
                                        <p:attrNameLst>
                                          <p:attrName>stroke.on</p:attrName>
                                        </p:attrNameLst>
                                      </p:cBhvr>
                                      <p:to>
                                        <p:strVal val="true"/>
                                      </p:to>
                                    </p:set>
                                  </p:childTnLst>
                                </p:cTn>
                              </p:par>
                              <p:par>
                                <p:cTn id="294" presetID="10" presetClass="exit" presetSubtype="0" fill="hold" nodeType="withEffect">
                                  <p:stCondLst>
                                    <p:cond delay="500"/>
                                  </p:stCondLst>
                                  <p:childTnLst>
                                    <p:animEffect transition="out" filter="fade">
                                      <p:cBhvr>
                                        <p:cTn id="295" dur="500"/>
                                        <p:tgtEl>
                                          <p:spTgt spid="25"/>
                                        </p:tgtEl>
                                      </p:cBhvr>
                                    </p:animEffect>
                                    <p:set>
                                      <p:cBhvr>
                                        <p:cTn id="296"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8" grpId="1" animBg="1"/>
      <p:bldP spid="10" grpId="0" animBg="1"/>
      <p:bldP spid="13" grpId="0" animBg="1"/>
      <p:bldP spid="15" grpId="0" animBg="1"/>
      <p:bldP spid="16" grpId="0"/>
      <p:bldP spid="16" grpId="1"/>
      <p:bldP spid="16" grpId="2"/>
      <p:bldP spid="16" grpId="3"/>
      <p:bldP spid="16" grpId="4"/>
      <p:bldP spid="16" grpId="5"/>
      <p:bldP spid="53" grpId="0"/>
      <p:bldP spid="53" grpId="1"/>
      <p:bldP spid="53" grpId="2"/>
      <p:bldP spid="53" grpId="5"/>
      <p:bldP spid="54" grpId="0"/>
      <p:bldP spid="54" grpId="1"/>
      <p:bldP spid="54" grpId="2"/>
      <p:bldP spid="54" grpId="3"/>
      <p:bldP spid="58" grpId="0"/>
      <p:bldP spid="58" grpId="3"/>
      <p:bldP spid="59" grpId="0"/>
      <p:bldP spid="59" grpId="3"/>
      <p:bldP spid="60" grpId="0"/>
      <p:bldP spid="60" grpId="1"/>
      <p:bldP spid="61" grpId="0"/>
      <p:bldP spid="61" grpId="1"/>
      <p:bldP spid="62" grpId="0"/>
      <p:bldP spid="62"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024A2A-F7B6-4638-BF65-EA4E49002D3D}"/>
              </a:ext>
            </a:extLst>
          </p:cNvPr>
          <p:cNvSpPr>
            <a:spLocks noGrp="1"/>
          </p:cNvSpPr>
          <p:nvPr>
            <p:ph type="sldNum" sz="quarter" idx="12"/>
          </p:nvPr>
        </p:nvSpPr>
        <p:spPr/>
        <p:txBody>
          <a:bodyPr/>
          <a:lstStyle/>
          <a:p>
            <a:fld id="{F6728BC2-ACA3-447C-A909-F3F49211C066}" type="slidenum">
              <a:rPr lang="en-US" smtClean="0"/>
              <a:pPr/>
              <a:t>32</a:t>
            </a:fld>
            <a:endParaRPr lang="en-US" dirty="0"/>
          </a:p>
        </p:txBody>
      </p:sp>
      <p:sp>
        <p:nvSpPr>
          <p:cNvPr id="8" name="Content Placeholder 7">
            <a:extLst>
              <a:ext uri="{FF2B5EF4-FFF2-40B4-BE49-F238E27FC236}">
                <a16:creationId xmlns:a16="http://schemas.microsoft.com/office/drawing/2014/main" id="{17F952FD-B524-449D-BCA9-02674D0411D5}"/>
              </a:ext>
            </a:extLst>
          </p:cNvPr>
          <p:cNvSpPr>
            <a:spLocks noGrp="1"/>
          </p:cNvSpPr>
          <p:nvPr>
            <p:ph sz="quarter" idx="13"/>
          </p:nvPr>
        </p:nvSpPr>
        <p:spPr>
          <a:xfrm>
            <a:off x="157928" y="1795244"/>
            <a:ext cx="8826500" cy="3925564"/>
          </a:xfrm>
        </p:spPr>
        <p:txBody>
          <a:bodyPr>
            <a:normAutofit/>
          </a:bodyPr>
          <a:lstStyle/>
          <a:p>
            <a:pPr algn="ctr"/>
            <a:r>
              <a:rPr lang="en-US" sz="8800" dirty="0"/>
              <a:t>Recursive Sort</a:t>
            </a:r>
          </a:p>
        </p:txBody>
      </p:sp>
    </p:spTree>
    <p:extLst>
      <p:ext uri="{BB962C8B-B14F-4D97-AF65-F5344CB8AC3E}">
        <p14:creationId xmlns:p14="http://schemas.microsoft.com/office/powerpoint/2010/main" val="3266332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6"/>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What is Recursion?</a:t>
            </a:r>
            <a:endParaRPr/>
          </a:p>
        </p:txBody>
      </p:sp>
      <p:sp>
        <p:nvSpPr>
          <p:cNvPr id="219" name="Google Shape;219;p16"/>
          <p:cNvSpPr txBox="1">
            <a:spLocks noGrp="1"/>
          </p:cNvSpPr>
          <p:nvPr>
            <p:ph type="body" idx="1"/>
          </p:nvPr>
        </p:nvSpPr>
        <p:spPr>
          <a:xfrm>
            <a:off x="380010" y="1479470"/>
            <a:ext cx="8383980" cy="2759156"/>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SzPts val="2800"/>
              <a:buChar char="•"/>
            </a:pPr>
            <a:r>
              <a:rPr lang="en-US" sz="2400" dirty="0"/>
              <a:t>A recursive function is another method to repeat functionality by creating a function which calls itself, and returns the output</a:t>
            </a:r>
          </a:p>
          <a:p>
            <a:pPr marL="800100" lvl="1" indent="-342900">
              <a:spcBef>
                <a:spcPts val="0"/>
              </a:spcBef>
              <a:buSzPts val="2800"/>
              <a:buChar char="•"/>
            </a:pPr>
            <a:r>
              <a:rPr lang="en-US" sz="2000" dirty="0"/>
              <a:t>Successive executions are added to the execution stack</a:t>
            </a:r>
            <a:endParaRPr sz="2000" dirty="0"/>
          </a:p>
          <a:p>
            <a:pPr marL="342900" lvl="0" indent="-342900" algn="l" rtl="0">
              <a:spcBef>
                <a:spcPts val="560"/>
              </a:spcBef>
              <a:spcAft>
                <a:spcPts val="0"/>
              </a:spcAft>
              <a:buSzPts val="2800"/>
              <a:buChar char="•"/>
            </a:pPr>
            <a:r>
              <a:rPr lang="en-US" sz="2400" dirty="0"/>
              <a:t>There must exist a </a:t>
            </a:r>
            <a:r>
              <a:rPr lang="en-US" sz="2400" i="1" dirty="0"/>
              <a:t>base case</a:t>
            </a:r>
            <a:r>
              <a:rPr lang="en-US" sz="2400" dirty="0"/>
              <a:t> at which the recursion stops, otherwise you will get a </a:t>
            </a:r>
            <a:r>
              <a:rPr lang="en-US" sz="2400" i="1" dirty="0"/>
              <a:t>stack overflow</a:t>
            </a:r>
            <a:endParaRPr sz="2400" dirty="0"/>
          </a:p>
          <a:p>
            <a:pPr marL="342900" lvl="0" indent="-342900" algn="l" rtl="0">
              <a:spcBef>
                <a:spcPts val="560"/>
              </a:spcBef>
              <a:spcAft>
                <a:spcPts val="0"/>
              </a:spcAft>
              <a:buSzPts val="2800"/>
              <a:buChar char="•"/>
            </a:pPr>
            <a:r>
              <a:rPr lang="en-US" sz="2400" dirty="0"/>
              <a:t>When the base case is found, values are returned down the execution stack, potentially being transformed along the way.</a:t>
            </a:r>
            <a:endParaRPr sz="2400" dirty="0"/>
          </a:p>
        </p:txBody>
      </p:sp>
      <p:sp>
        <p:nvSpPr>
          <p:cNvPr id="3" name="Google Shape;219;p16">
            <a:extLst>
              <a:ext uri="{FF2B5EF4-FFF2-40B4-BE49-F238E27FC236}">
                <a16:creationId xmlns:a16="http://schemas.microsoft.com/office/drawing/2014/main" id="{255BBA99-6649-AC90-378D-627AF19F6500}"/>
              </a:ext>
            </a:extLst>
          </p:cNvPr>
          <p:cNvSpPr txBox="1">
            <a:spLocks/>
          </p:cNvSpPr>
          <p:nvPr/>
        </p:nvSpPr>
        <p:spPr>
          <a:xfrm>
            <a:off x="2301949" y="4498896"/>
            <a:ext cx="4540102" cy="2017317"/>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marR="0" lvl="0" indent="0" defTabSz="914400" rtl="0" eaLnBrk="1" fontAlgn="auto" latinLnBrk="0" hangingPunct="1">
              <a:lnSpc>
                <a:spcPct val="90000"/>
              </a:lnSpc>
              <a:spcBef>
                <a:spcPts val="0"/>
              </a:spcBef>
              <a:spcAft>
                <a:spcPts val="0"/>
              </a:spcAft>
              <a:buClrTx/>
              <a:buSzPts val="2400"/>
              <a:buFontTx/>
              <a:buNone/>
              <a:tabLst/>
              <a:defRPr/>
            </a:pPr>
            <a:r>
              <a:rPr kumimoji="0" lang="en-US" sz="2000" b="1" i="0" u="none" strike="noStrike" kern="1200" cap="none" spc="0" normalizeH="0" baseline="0" noProof="0" dirty="0">
                <a:ln>
                  <a:noFill/>
                </a:ln>
                <a:solidFill>
                  <a:srgbClr val="9966FF"/>
                </a:solidFill>
                <a:effectLst/>
                <a:uLnTx/>
                <a:uFillTx/>
                <a:latin typeface="Courier New"/>
                <a:ea typeface="Courier New"/>
                <a:cs typeface="Courier New"/>
                <a:sym typeface="Courier New"/>
              </a:rPr>
              <a:t>int</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recursion(int n ) {</a:t>
            </a:r>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0" marR="0" lvl="0" indent="0" defTabSz="914400" rtl="0" eaLnBrk="1" fontAlgn="auto" latinLnBrk="0" hangingPunct="1">
              <a:lnSpc>
                <a:spcPct val="90000"/>
              </a:lnSpc>
              <a:spcBef>
                <a:spcPts val="480"/>
              </a:spcBef>
              <a:spcAft>
                <a:spcPts val="0"/>
              </a:spcAft>
              <a:buClrTx/>
              <a:buSzPts val="2400"/>
              <a:buFontTx/>
              <a:buNone/>
              <a:tabLst/>
              <a:defRPr/>
            </a:pP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a:t>
            </a:r>
            <a:r>
              <a:rPr kumimoji="0" lang="en-US" sz="2000" b="1" i="0" u="none" strike="noStrike" kern="1200" cap="none" spc="0" normalizeH="0" baseline="0" noProof="0" dirty="0">
                <a:ln>
                  <a:noFill/>
                </a:ln>
                <a:solidFill>
                  <a:srgbClr val="9966FF"/>
                </a:solidFill>
                <a:effectLst/>
                <a:uLnTx/>
                <a:uFillTx/>
                <a:latin typeface="Courier New"/>
                <a:ea typeface="Courier New"/>
                <a:cs typeface="Courier New"/>
                <a:sym typeface="Courier New"/>
              </a:rPr>
              <a:t>if</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(n &lt;= 0)</a:t>
            </a:r>
          </a:p>
          <a:p>
            <a:pPr marL="0" marR="0" lvl="0" indent="0" defTabSz="914400" rtl="0" eaLnBrk="1" fontAlgn="auto" latinLnBrk="0" hangingPunct="1">
              <a:lnSpc>
                <a:spcPct val="90000"/>
              </a:lnSpc>
              <a:spcBef>
                <a:spcPts val="480"/>
              </a:spcBef>
              <a:spcAft>
                <a:spcPts val="0"/>
              </a:spcAft>
              <a:buClrTx/>
              <a:buSzPts val="2400"/>
              <a:buFontTx/>
              <a:buNone/>
              <a:tabLst/>
              <a:defRPr/>
            </a:pP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return 0;</a:t>
            </a:r>
            <a:b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b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a:t>
            </a:r>
            <a:r>
              <a:rPr kumimoji="0" lang="en-US" sz="2000" b="1" i="0" u="none" strike="noStrike" kern="1200" cap="none" spc="0" normalizeH="0" baseline="0" noProof="0" dirty="0">
                <a:ln>
                  <a:noFill/>
                </a:ln>
                <a:solidFill>
                  <a:srgbClr val="9966FF"/>
                </a:solidFill>
                <a:effectLst/>
                <a:uLnTx/>
                <a:uFillTx/>
                <a:latin typeface="Courier New"/>
                <a:ea typeface="Courier New"/>
                <a:cs typeface="Courier New"/>
                <a:sym typeface="Courier New"/>
              </a:rPr>
              <a:t>else</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a:t>
            </a:r>
          </a:p>
          <a:p>
            <a:pPr marL="0" marR="0" lvl="0" indent="0" defTabSz="914400" rtl="0" eaLnBrk="1" fontAlgn="auto" latinLnBrk="0" hangingPunct="1">
              <a:lnSpc>
                <a:spcPct val="90000"/>
              </a:lnSpc>
              <a:spcBef>
                <a:spcPts val="480"/>
              </a:spcBef>
              <a:spcAft>
                <a:spcPts val="0"/>
              </a:spcAft>
              <a:buClrTx/>
              <a:buSzPts val="2400"/>
              <a:buFontTx/>
              <a:buNone/>
              <a:tabLst/>
              <a:defRPr/>
            </a:pPr>
            <a:r>
              <a:rPr lang="en-US" sz="2000" dirty="0">
                <a:solidFill>
                  <a:srgbClr val="000000"/>
                </a:solidFill>
                <a:latin typeface="Courier New"/>
                <a:ea typeface="Courier New"/>
                <a:cs typeface="Courier New"/>
                <a:sym typeface="Courier New"/>
              </a:rPr>
              <a:t>	</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return recursion(</a:t>
            </a:r>
            <a:r>
              <a:rPr lang="en-US" sz="2000" dirty="0">
                <a:solidFill>
                  <a:srgbClr val="000000"/>
                </a:solidFill>
                <a:latin typeface="Courier New"/>
                <a:ea typeface="Courier New"/>
                <a:cs typeface="Courier New"/>
                <a:sym typeface="Courier New"/>
              </a:rPr>
              <a:t>--n)</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a:t>
            </a:r>
          </a:p>
          <a:p>
            <a:pPr marL="0" marR="0" lvl="0" indent="0" defTabSz="914400" rtl="0" eaLnBrk="1" fontAlgn="auto" latinLnBrk="0" hangingPunct="1">
              <a:lnSpc>
                <a:spcPct val="90000"/>
              </a:lnSpc>
              <a:spcBef>
                <a:spcPts val="480"/>
              </a:spcBef>
              <a:spcAft>
                <a:spcPts val="0"/>
              </a:spcAft>
              <a:buClrTx/>
              <a:buSzPts val="2400"/>
              <a:buFontTx/>
              <a:buNone/>
              <a:tabLst/>
              <a:defRPr/>
            </a:pPr>
            <a:r>
              <a:rPr lang="en-US" sz="2000" dirty="0">
                <a:solidFill>
                  <a:srgbClr val="000000"/>
                </a:solidFill>
                <a:latin typeface="Courier New"/>
                <a:cs typeface="Courier New"/>
                <a:sym typeface="Courier New"/>
              </a:rPr>
              <a:t>}</a:t>
            </a:r>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Merge Sort</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a:bodyPr>
          <a:lstStyle/>
          <a:p>
            <a:r>
              <a:rPr lang="en-US" dirty="0"/>
              <a:t>The Merge Sort is a more complex sorting algorithm that organizes elements of a collection by dividing continually dividing a collection into two halves, and then merging the split collections back together in sorted order.</a:t>
            </a:r>
          </a:p>
          <a:p>
            <a:r>
              <a:rPr lang="en-US" dirty="0"/>
              <a:t>The Merge sort relies on using recursion to repeatedly partition data into auxiliary collections before combining the values back together into a single collection. </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34</a:t>
            </a:fld>
            <a:endParaRPr lang="en-US" dirty="0"/>
          </a:p>
        </p:txBody>
      </p:sp>
    </p:spTree>
    <p:extLst>
      <p:ext uri="{BB962C8B-B14F-4D97-AF65-F5344CB8AC3E}">
        <p14:creationId xmlns:p14="http://schemas.microsoft.com/office/powerpoint/2010/main" val="978653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Merge Sort</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35</a:t>
            </a:fld>
            <a:endParaRPr lang="en-US" dirty="0"/>
          </a:p>
        </p:txBody>
      </p:sp>
      <p:sp>
        <p:nvSpPr>
          <p:cNvPr id="7" name="Google Shape;219;p16">
            <a:extLst>
              <a:ext uri="{FF2B5EF4-FFF2-40B4-BE49-F238E27FC236}">
                <a16:creationId xmlns:a16="http://schemas.microsoft.com/office/drawing/2014/main" id="{4622B9B4-B6C3-37FD-3D47-2A5D7DF690AE}"/>
              </a:ext>
            </a:extLst>
          </p:cNvPr>
          <p:cNvSpPr txBox="1">
            <a:spLocks/>
          </p:cNvSpPr>
          <p:nvPr/>
        </p:nvSpPr>
        <p:spPr>
          <a:xfrm>
            <a:off x="98156" y="1256084"/>
            <a:ext cx="4241831" cy="5554149"/>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fontScale="55000" lnSpcReduction="2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void</a:t>
            </a:r>
            <a:r>
              <a:rPr lang="en-US" sz="1400" dirty="0">
                <a:latin typeface="Courier New" panose="02070309020205020404" pitchFamily="49" charset="0"/>
                <a:cs typeface="Courier New" panose="02070309020205020404" pitchFamily="49" charset="0"/>
              </a:rPr>
              <a:t> merge(Integer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l,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m,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r)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Find Sizes of two sub-arrays to be merged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n1 = m - l + 1;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n2 = r - m;</a:t>
            </a:r>
          </a:p>
          <a:p>
            <a:pPr marL="182880" lvl="1" indent="0" defTabSz="457200">
              <a:lnSpc>
                <a:spcPct val="90000"/>
              </a:lnSpc>
              <a:spcBef>
                <a:spcPts val="480"/>
              </a:spcBef>
              <a:buSzPts val="2400"/>
              <a:buFont typeface="Arial" panose="020B0604020202020204" pitchFamily="34" charset="0"/>
              <a:buNone/>
            </a:pPr>
            <a:r>
              <a:rPr lang="en-US" sz="1400" dirty="0">
                <a:solidFill>
                  <a:srgbClr val="00B050"/>
                </a:solidFill>
                <a:latin typeface="Courier New" panose="02070309020205020404" pitchFamily="49" charset="0"/>
                <a:cs typeface="Courier New" panose="02070309020205020404" pitchFamily="49" charset="0"/>
              </a:rPr>
              <a:t>	/* Create temp arrays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L = new int[n1];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R = new int[n2];</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Copy data to temp arrays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for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0;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n1;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[l +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for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j = 0; j &lt; n2; ++j) R[j] =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[m + 1 + j];</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Merge the temp arrays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0, j = 0; </a:t>
            </a:r>
            <a:r>
              <a:rPr lang="en-US" sz="1400" dirty="0">
                <a:solidFill>
                  <a:srgbClr val="00B050"/>
                </a:solidFill>
                <a:latin typeface="Courier New" panose="02070309020205020404" pitchFamily="49" charset="0"/>
                <a:cs typeface="Courier New" panose="02070309020205020404" pitchFamily="49" charset="0"/>
              </a:rPr>
              <a:t>// Initial indexes of first and second subarrays</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k = l; </a:t>
            </a:r>
            <a:r>
              <a:rPr lang="en-US" sz="1400" dirty="0">
                <a:solidFill>
                  <a:srgbClr val="00B050"/>
                </a:solidFill>
                <a:latin typeface="Courier New" panose="02070309020205020404" pitchFamily="49" charset="0"/>
                <a:cs typeface="Courier New" panose="02070309020205020404" pitchFamily="49" charset="0"/>
              </a:rPr>
              <a:t>// Initial index of merged </a:t>
            </a:r>
            <a:r>
              <a:rPr lang="en-US" sz="1400" dirty="0" err="1">
                <a:solidFill>
                  <a:srgbClr val="00B050"/>
                </a:solidFill>
                <a:latin typeface="Courier New" panose="02070309020205020404" pitchFamily="49" charset="0"/>
                <a:cs typeface="Courier New" panose="02070309020205020404" pitchFamily="49" charset="0"/>
              </a:rPr>
              <a:t>subarry</a:t>
            </a:r>
            <a:r>
              <a:rPr lang="en-US" sz="1400" dirty="0">
                <a:solidFill>
                  <a:srgbClr val="00B050"/>
                </a:solidFill>
                <a:latin typeface="Courier New" panose="02070309020205020404" pitchFamily="49" charset="0"/>
                <a:cs typeface="Courier New" panose="02070309020205020404" pitchFamily="49" charset="0"/>
              </a:rPr>
              <a:t> array</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while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n1 &amp;&amp; j &lt; n2)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(L[</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R[j])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[k] = L[</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a:t>
            </a:r>
            <a:r>
              <a:rPr lang="en-US" sz="1400" b="1" dirty="0">
                <a:solidFill>
                  <a:srgbClr val="9966FF"/>
                </a:solidFill>
                <a:latin typeface="Courier New" panose="02070309020205020404" pitchFamily="49" charset="0"/>
                <a:cs typeface="Courier New" panose="02070309020205020404" pitchFamily="49" charset="0"/>
              </a:rPr>
              <a:t>else</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[k] = R[j];</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j++</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k++;</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Copy remaining elements of L[] if any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while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n1)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[k] = L[</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k++;</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Copy remaining elements of R[] if any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while</a:t>
            </a:r>
            <a:r>
              <a:rPr lang="en-US" sz="1400" dirty="0">
                <a:latin typeface="Courier New" panose="02070309020205020404" pitchFamily="49" charset="0"/>
                <a:cs typeface="Courier New" panose="02070309020205020404" pitchFamily="49" charset="0"/>
              </a:rPr>
              <a:t> (j &lt; n2)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[k] = R[j];</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j++</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k++;</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a:t>
            </a:r>
          </a:p>
        </p:txBody>
      </p:sp>
      <p:sp>
        <p:nvSpPr>
          <p:cNvPr id="8" name="Google Shape;219;p16">
            <a:extLst>
              <a:ext uri="{FF2B5EF4-FFF2-40B4-BE49-F238E27FC236}">
                <a16:creationId xmlns:a16="http://schemas.microsoft.com/office/drawing/2014/main" id="{FFCE06FC-5F15-A016-1A2D-7F7A90F0527D}"/>
              </a:ext>
            </a:extLst>
          </p:cNvPr>
          <p:cNvSpPr txBox="1">
            <a:spLocks/>
          </p:cNvSpPr>
          <p:nvPr/>
        </p:nvSpPr>
        <p:spPr>
          <a:xfrm>
            <a:off x="4454468" y="1941394"/>
            <a:ext cx="4529960" cy="2975211"/>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fontScale="85000" lnSpcReduction="1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void</a:t>
            </a:r>
            <a:r>
              <a:rPr lang="en-US" sz="1400" dirty="0">
                <a:latin typeface="Courier New" panose="02070309020205020404" pitchFamily="49" charset="0"/>
                <a:cs typeface="Courier New" panose="02070309020205020404" pitchFamily="49" charset="0"/>
              </a:rPr>
              <a:t> sort(Integer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l,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r)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(l &lt; r)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Find the middle point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m = l + (r - l) / 2;</a:t>
            </a:r>
          </a:p>
          <a:p>
            <a:pPr marL="182880" lvl="1" indent="0" defTabSz="457200">
              <a:lnSpc>
                <a:spcPct val="90000"/>
              </a:lnSpc>
              <a:spcBef>
                <a:spcPts val="480"/>
              </a:spcBef>
              <a:buSzPts val="2400"/>
              <a:buFont typeface="Arial" panose="020B0604020202020204" pitchFamily="34" charset="0"/>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Sort first and second halves</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sort(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l, m);</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sort(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m + 1, r);</a:t>
            </a:r>
          </a:p>
          <a:p>
            <a:pPr marL="182880" lvl="1" indent="0" defTabSz="457200">
              <a:lnSpc>
                <a:spcPct val="90000"/>
              </a:lnSpc>
              <a:spcBef>
                <a:spcPts val="480"/>
              </a:spcBef>
              <a:buSzPts val="2400"/>
              <a:buFont typeface="Arial" panose="020B0604020202020204" pitchFamily="34" charset="0"/>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Merge the sorted halves</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merge(</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l, m, r);</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7500206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Merge Sort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36</a:t>
            </a:fld>
            <a:endParaRPr lang="en-US"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2468454" y="1345174"/>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51</a:t>
            </a:r>
          </a:p>
        </p:txBody>
      </p:sp>
      <p:sp>
        <p:nvSpPr>
          <p:cNvPr id="16" name="Rectangle: Rounded Corners 15">
            <a:extLst>
              <a:ext uri="{FF2B5EF4-FFF2-40B4-BE49-F238E27FC236}">
                <a16:creationId xmlns:a16="http://schemas.microsoft.com/office/drawing/2014/main" id="{749CB898-2B0D-201D-1A35-2C4FB9C76BA5}"/>
              </a:ext>
            </a:extLst>
          </p:cNvPr>
          <p:cNvSpPr/>
          <p:nvPr/>
        </p:nvSpPr>
        <p:spPr>
          <a:xfrm>
            <a:off x="2999651" y="1345171"/>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17</a:t>
            </a:r>
          </a:p>
        </p:txBody>
      </p:sp>
      <p:sp>
        <p:nvSpPr>
          <p:cNvPr id="17" name="Rectangle: Rounded Corners 16">
            <a:extLst>
              <a:ext uri="{FF2B5EF4-FFF2-40B4-BE49-F238E27FC236}">
                <a16:creationId xmlns:a16="http://schemas.microsoft.com/office/drawing/2014/main" id="{03CE63B4-7821-72A6-5BAB-1E923DEFB5F1}"/>
              </a:ext>
            </a:extLst>
          </p:cNvPr>
          <p:cNvSpPr/>
          <p:nvPr/>
        </p:nvSpPr>
        <p:spPr>
          <a:xfrm>
            <a:off x="3528916" y="1345170"/>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22</a:t>
            </a:r>
          </a:p>
        </p:txBody>
      </p:sp>
      <p:sp>
        <p:nvSpPr>
          <p:cNvPr id="18" name="Rectangle: Rounded Corners 17">
            <a:extLst>
              <a:ext uri="{FF2B5EF4-FFF2-40B4-BE49-F238E27FC236}">
                <a16:creationId xmlns:a16="http://schemas.microsoft.com/office/drawing/2014/main" id="{5E2A5E5F-0D56-C685-756B-BE8BAA41CDB5}"/>
              </a:ext>
            </a:extLst>
          </p:cNvPr>
          <p:cNvSpPr/>
          <p:nvPr/>
        </p:nvSpPr>
        <p:spPr>
          <a:xfrm>
            <a:off x="4053492" y="1345169"/>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45</a:t>
            </a:r>
          </a:p>
        </p:txBody>
      </p:sp>
      <p:sp>
        <p:nvSpPr>
          <p:cNvPr id="19" name="Rectangle: Rounded Corners 18">
            <a:extLst>
              <a:ext uri="{FF2B5EF4-FFF2-40B4-BE49-F238E27FC236}">
                <a16:creationId xmlns:a16="http://schemas.microsoft.com/office/drawing/2014/main" id="{6483678B-1F13-531C-CBD9-8ECDEE3C42D6}"/>
              </a:ext>
            </a:extLst>
          </p:cNvPr>
          <p:cNvSpPr/>
          <p:nvPr/>
        </p:nvSpPr>
        <p:spPr>
          <a:xfrm>
            <a:off x="4574959" y="1345168"/>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37</a:t>
            </a:r>
          </a:p>
        </p:txBody>
      </p:sp>
      <p:sp>
        <p:nvSpPr>
          <p:cNvPr id="20" name="Rectangle: Rounded Corners 19">
            <a:extLst>
              <a:ext uri="{FF2B5EF4-FFF2-40B4-BE49-F238E27FC236}">
                <a16:creationId xmlns:a16="http://schemas.microsoft.com/office/drawing/2014/main" id="{9389CCC5-22C8-E135-9331-C0C29D6B2471}"/>
              </a:ext>
            </a:extLst>
          </p:cNvPr>
          <p:cNvSpPr/>
          <p:nvPr/>
        </p:nvSpPr>
        <p:spPr>
          <a:xfrm>
            <a:off x="5077256" y="1345168"/>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91</a:t>
            </a:r>
          </a:p>
        </p:txBody>
      </p:sp>
      <p:sp>
        <p:nvSpPr>
          <p:cNvPr id="21" name="Rectangle: Rounded Corners 20">
            <a:extLst>
              <a:ext uri="{FF2B5EF4-FFF2-40B4-BE49-F238E27FC236}">
                <a16:creationId xmlns:a16="http://schemas.microsoft.com/office/drawing/2014/main" id="{62A28BF4-CD28-AB4C-E901-4BBE0C3F513E}"/>
              </a:ext>
            </a:extLst>
          </p:cNvPr>
          <p:cNvSpPr/>
          <p:nvPr/>
        </p:nvSpPr>
        <p:spPr>
          <a:xfrm>
            <a:off x="5598723" y="1340835"/>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5</a:t>
            </a:r>
          </a:p>
        </p:txBody>
      </p:sp>
      <p:sp>
        <p:nvSpPr>
          <p:cNvPr id="22" name="Rectangle: Rounded Corners 21">
            <a:extLst>
              <a:ext uri="{FF2B5EF4-FFF2-40B4-BE49-F238E27FC236}">
                <a16:creationId xmlns:a16="http://schemas.microsoft.com/office/drawing/2014/main" id="{1FECB6AA-1F79-5744-4DEA-6217BDFF2496}"/>
              </a:ext>
            </a:extLst>
          </p:cNvPr>
          <p:cNvSpPr/>
          <p:nvPr/>
        </p:nvSpPr>
        <p:spPr>
          <a:xfrm>
            <a:off x="6120190" y="1340834"/>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72</a:t>
            </a:r>
          </a:p>
        </p:txBody>
      </p:sp>
    </p:spTree>
    <p:extLst>
      <p:ext uri="{BB962C8B-B14F-4D97-AF65-F5344CB8AC3E}">
        <p14:creationId xmlns:p14="http://schemas.microsoft.com/office/powerpoint/2010/main" val="53866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11111E-6 2.96296E-6 L -0.11423 0.09977 " pathEditMode="relative" rAng="0" ptsTypes="AA">
                                      <p:cBhvr>
                                        <p:cTn id="6" dur="1250" fill="hold"/>
                                        <p:tgtEl>
                                          <p:spTgt spid="7"/>
                                        </p:tgtEl>
                                        <p:attrNameLst>
                                          <p:attrName>ppt_x</p:attrName>
                                          <p:attrName>ppt_y</p:attrName>
                                        </p:attrNameLst>
                                      </p:cBhvr>
                                      <p:rCtr x="-5712" y="4977"/>
                                    </p:animMotion>
                                  </p:childTnLst>
                                </p:cTn>
                              </p:par>
                              <p:par>
                                <p:cTn id="7" presetID="42" presetClass="path" presetSubtype="0" accel="50000" decel="50000" fill="hold" grpId="0" nodeType="withEffect">
                                  <p:stCondLst>
                                    <p:cond delay="0"/>
                                  </p:stCondLst>
                                  <p:childTnLst>
                                    <p:animMotion origin="layout" path="M -8.33333E-7 2.96296E-6 L -0.1151 0.09977 " pathEditMode="relative" rAng="0" ptsTypes="AA">
                                      <p:cBhvr>
                                        <p:cTn id="8" dur="1250" fill="hold"/>
                                        <p:tgtEl>
                                          <p:spTgt spid="16"/>
                                        </p:tgtEl>
                                        <p:attrNameLst>
                                          <p:attrName>ppt_x</p:attrName>
                                          <p:attrName>ppt_y</p:attrName>
                                        </p:attrNameLst>
                                      </p:cBhvr>
                                      <p:rCtr x="-5764" y="4977"/>
                                    </p:animMotion>
                                  </p:childTnLst>
                                </p:cTn>
                              </p:par>
                              <p:par>
                                <p:cTn id="9" presetID="42" presetClass="path" presetSubtype="0" accel="50000" decel="50000" fill="hold" grpId="0" nodeType="withEffect">
                                  <p:stCondLst>
                                    <p:cond delay="0"/>
                                  </p:stCondLst>
                                  <p:childTnLst>
                                    <p:animMotion origin="layout" path="M -3.33333E-6 2.96296E-6 L -0.11562 0.09977 " pathEditMode="relative" rAng="0" ptsTypes="AA">
                                      <p:cBhvr>
                                        <p:cTn id="10" dur="1250" fill="hold"/>
                                        <p:tgtEl>
                                          <p:spTgt spid="17"/>
                                        </p:tgtEl>
                                        <p:attrNameLst>
                                          <p:attrName>ppt_x</p:attrName>
                                          <p:attrName>ppt_y</p:attrName>
                                        </p:attrNameLst>
                                      </p:cBhvr>
                                      <p:rCtr x="-5781" y="4977"/>
                                    </p:animMotion>
                                  </p:childTnLst>
                                </p:cTn>
                              </p:par>
                              <p:par>
                                <p:cTn id="11" presetID="42" presetClass="path" presetSubtype="0" accel="50000" decel="50000" fill="hold" grpId="0" nodeType="withEffect">
                                  <p:stCondLst>
                                    <p:cond delay="0"/>
                                  </p:stCondLst>
                                  <p:childTnLst>
                                    <p:animMotion origin="layout" path="M 5E-6 2.96296E-6 L -0.11563 0.09977 " pathEditMode="relative" rAng="0" ptsTypes="AA">
                                      <p:cBhvr>
                                        <p:cTn id="12" dur="1250" fill="hold"/>
                                        <p:tgtEl>
                                          <p:spTgt spid="18"/>
                                        </p:tgtEl>
                                        <p:attrNameLst>
                                          <p:attrName>ppt_x</p:attrName>
                                          <p:attrName>ppt_y</p:attrName>
                                        </p:attrNameLst>
                                      </p:cBhvr>
                                      <p:rCtr x="-5781" y="4977"/>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11423 0.09977 L -0.17257 0.21088 " pathEditMode="relative" rAng="0" ptsTypes="AA">
                                      <p:cBhvr>
                                        <p:cTn id="16" dur="1250" fill="hold"/>
                                        <p:tgtEl>
                                          <p:spTgt spid="7"/>
                                        </p:tgtEl>
                                        <p:attrNameLst>
                                          <p:attrName>ppt_x</p:attrName>
                                          <p:attrName>ppt_y</p:attrName>
                                        </p:attrNameLst>
                                      </p:cBhvr>
                                      <p:rCtr x="-2917" y="5556"/>
                                    </p:animMotion>
                                  </p:childTnLst>
                                </p:cTn>
                              </p:par>
                              <p:par>
                                <p:cTn id="17" presetID="42" presetClass="path" presetSubtype="0" accel="50000" decel="50000" fill="hold" grpId="1" nodeType="withEffect">
                                  <p:stCondLst>
                                    <p:cond delay="0"/>
                                  </p:stCondLst>
                                  <p:childTnLst>
                                    <p:animMotion origin="layout" path="M -0.1151 0.09977 L -0.17344 0.21088 " pathEditMode="relative" rAng="0" ptsTypes="AA">
                                      <p:cBhvr>
                                        <p:cTn id="18" dur="1250" fill="hold"/>
                                        <p:tgtEl>
                                          <p:spTgt spid="16"/>
                                        </p:tgtEl>
                                        <p:attrNameLst>
                                          <p:attrName>ppt_x</p:attrName>
                                          <p:attrName>ppt_y</p:attrName>
                                        </p:attrNameLst>
                                      </p:cBhvr>
                                      <p:rCtr x="-2917" y="5556"/>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2" nodeType="clickEffect">
                                  <p:stCondLst>
                                    <p:cond delay="0"/>
                                  </p:stCondLst>
                                  <p:childTnLst>
                                    <p:animMotion origin="layout" path="M -0.17257 0.21088 L -0.20069 0.32152 " pathEditMode="relative" rAng="0" ptsTypes="AA">
                                      <p:cBhvr>
                                        <p:cTn id="22" dur="1250" fill="hold"/>
                                        <p:tgtEl>
                                          <p:spTgt spid="7"/>
                                        </p:tgtEl>
                                        <p:attrNameLst>
                                          <p:attrName>ppt_x</p:attrName>
                                          <p:attrName>ppt_y</p:attrName>
                                        </p:attrNameLst>
                                      </p:cBhvr>
                                      <p:rCtr x="-1406" y="5532"/>
                                    </p:animMotion>
                                  </p:childTnLst>
                                </p:cTn>
                              </p:par>
                              <p:par>
                                <p:cTn id="23" presetID="42" presetClass="path" presetSubtype="0" accel="50000" decel="50000" fill="hold" grpId="2" nodeType="withEffect">
                                  <p:stCondLst>
                                    <p:cond delay="0"/>
                                  </p:stCondLst>
                                  <p:childTnLst>
                                    <p:animMotion origin="layout" path="M -0.17344 0.21088 L -0.14444 0.32152 " pathEditMode="relative" rAng="0" ptsTypes="AA">
                                      <p:cBhvr>
                                        <p:cTn id="24" dur="1250" fill="hold"/>
                                        <p:tgtEl>
                                          <p:spTgt spid="16"/>
                                        </p:tgtEl>
                                        <p:attrNameLst>
                                          <p:attrName>ppt_x</p:attrName>
                                          <p:attrName>ppt_y</p:attrName>
                                        </p:attrNameLst>
                                      </p:cBhvr>
                                      <p:rCtr x="1441" y="5532"/>
                                    </p:animMotion>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3" nodeType="clickEffect">
                                  <p:stCondLst>
                                    <p:cond delay="0"/>
                                  </p:stCondLst>
                                  <p:childTnLst>
                                    <p:animMotion origin="layout" path="M -0.14444 0.32152 L -0.23003 0.43333 " pathEditMode="relative" rAng="0" ptsTypes="AA">
                                      <p:cBhvr>
                                        <p:cTn id="28" dur="1250" fill="hold"/>
                                        <p:tgtEl>
                                          <p:spTgt spid="16"/>
                                        </p:tgtEl>
                                        <p:attrNameLst>
                                          <p:attrName>ppt_x</p:attrName>
                                          <p:attrName>ppt_y</p:attrName>
                                        </p:attrNameLst>
                                      </p:cBhvr>
                                      <p:rCtr x="-4288" y="5579"/>
                                    </p:animMotion>
                                  </p:childTnLst>
                                </p:cTn>
                              </p:par>
                            </p:childTnLst>
                          </p:cTn>
                        </p:par>
                        <p:par>
                          <p:cTn id="29" fill="hold">
                            <p:stCondLst>
                              <p:cond delay="1250"/>
                            </p:stCondLst>
                            <p:childTnLst>
                              <p:par>
                                <p:cTn id="30" presetID="42" presetClass="path" presetSubtype="0" accel="50000" decel="50000" fill="hold" grpId="3" nodeType="afterEffect">
                                  <p:stCondLst>
                                    <p:cond delay="0"/>
                                  </p:stCondLst>
                                  <p:childTnLst>
                                    <p:animMotion origin="layout" path="M -0.20069 0.32152 L -0.11389 0.43472 " pathEditMode="relative" rAng="0" ptsTypes="AA">
                                      <p:cBhvr>
                                        <p:cTn id="31" dur="1250" fill="hold"/>
                                        <p:tgtEl>
                                          <p:spTgt spid="7"/>
                                        </p:tgtEl>
                                        <p:attrNameLst>
                                          <p:attrName>ppt_x</p:attrName>
                                          <p:attrName>ppt_y</p:attrName>
                                        </p:attrNameLst>
                                      </p:cBhvr>
                                      <p:rCtr x="4340" y="5648"/>
                                    </p:animMotion>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grpId="1" nodeType="clickEffect">
                                  <p:stCondLst>
                                    <p:cond delay="0"/>
                                  </p:stCondLst>
                                  <p:childTnLst>
                                    <p:animMotion origin="layout" path="M -0.11562 0.09977 L -0.09062 0.20949 " pathEditMode="relative" rAng="0" ptsTypes="AA">
                                      <p:cBhvr>
                                        <p:cTn id="35" dur="1250" fill="hold"/>
                                        <p:tgtEl>
                                          <p:spTgt spid="17"/>
                                        </p:tgtEl>
                                        <p:attrNameLst>
                                          <p:attrName>ppt_x</p:attrName>
                                          <p:attrName>ppt_y</p:attrName>
                                        </p:attrNameLst>
                                      </p:cBhvr>
                                      <p:rCtr x="1250" y="5486"/>
                                    </p:animMotion>
                                  </p:childTnLst>
                                </p:cTn>
                              </p:par>
                              <p:par>
                                <p:cTn id="36" presetID="42" presetClass="path" presetSubtype="0" accel="50000" decel="50000" fill="hold" grpId="1" nodeType="withEffect">
                                  <p:stCondLst>
                                    <p:cond delay="0"/>
                                  </p:stCondLst>
                                  <p:childTnLst>
                                    <p:animMotion origin="layout" path="M -0.11563 0.09977 L -0.09097 0.21088 " pathEditMode="relative" rAng="0" ptsTypes="AA">
                                      <p:cBhvr>
                                        <p:cTn id="37" dur="1250" fill="hold"/>
                                        <p:tgtEl>
                                          <p:spTgt spid="18"/>
                                        </p:tgtEl>
                                        <p:attrNameLst>
                                          <p:attrName>ppt_x</p:attrName>
                                          <p:attrName>ppt_y</p:attrName>
                                        </p:attrNameLst>
                                      </p:cBhvr>
                                      <p:rCtr x="1233" y="5625"/>
                                    </p:animMotion>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grpId="2" nodeType="clickEffect">
                                  <p:stCondLst>
                                    <p:cond delay="0"/>
                                  </p:stCondLst>
                                  <p:childTnLst>
                                    <p:animMotion origin="layout" path="M -0.09062 0.20949 L -0.11614 0.32245 " pathEditMode="relative" rAng="0" ptsTypes="AA">
                                      <p:cBhvr>
                                        <p:cTn id="41" dur="1250" fill="hold"/>
                                        <p:tgtEl>
                                          <p:spTgt spid="17"/>
                                        </p:tgtEl>
                                        <p:attrNameLst>
                                          <p:attrName>ppt_x</p:attrName>
                                          <p:attrName>ppt_y</p:attrName>
                                        </p:attrNameLst>
                                      </p:cBhvr>
                                      <p:rCtr x="-1285" y="5648"/>
                                    </p:animMotion>
                                  </p:childTnLst>
                                </p:cTn>
                              </p:par>
                              <p:par>
                                <p:cTn id="42" presetID="42" presetClass="path" presetSubtype="0" accel="50000" decel="50000" fill="hold" grpId="2" nodeType="withEffect">
                                  <p:stCondLst>
                                    <p:cond delay="0"/>
                                  </p:stCondLst>
                                  <p:childTnLst>
                                    <p:animMotion origin="layout" path="M -0.09097 0.21088 L -0.05764 0.32245 " pathEditMode="relative" rAng="0" ptsTypes="AA">
                                      <p:cBhvr>
                                        <p:cTn id="43" dur="1250" fill="hold"/>
                                        <p:tgtEl>
                                          <p:spTgt spid="18"/>
                                        </p:tgtEl>
                                        <p:attrNameLst>
                                          <p:attrName>ppt_x</p:attrName>
                                          <p:attrName>ppt_y</p:attrName>
                                        </p:attrNameLst>
                                      </p:cBhvr>
                                      <p:rCtr x="1667" y="5579"/>
                                    </p:animMotion>
                                  </p:childTnLst>
                                </p:cTn>
                              </p:par>
                            </p:childTnLst>
                          </p:cTn>
                        </p:par>
                      </p:childTnLst>
                    </p:cTn>
                  </p:par>
                  <p:par>
                    <p:cTn id="44" fill="hold">
                      <p:stCondLst>
                        <p:cond delay="indefinite"/>
                      </p:stCondLst>
                      <p:childTnLst>
                        <p:par>
                          <p:cTn id="45" fill="hold">
                            <p:stCondLst>
                              <p:cond delay="0"/>
                            </p:stCondLst>
                            <p:childTnLst>
                              <p:par>
                                <p:cTn id="46" presetID="42" presetClass="path" presetSubtype="0" accel="50000" decel="50000" fill="hold" grpId="3" nodeType="clickEffect">
                                  <p:stCondLst>
                                    <p:cond delay="0"/>
                                  </p:stCondLst>
                                  <p:childTnLst>
                                    <p:animMotion origin="layout" path="M -0.11615 0.32245 L -0.09062 0.43333 " pathEditMode="relative" rAng="0" ptsTypes="AA">
                                      <p:cBhvr>
                                        <p:cTn id="47" dur="1250" fill="hold"/>
                                        <p:tgtEl>
                                          <p:spTgt spid="17"/>
                                        </p:tgtEl>
                                        <p:attrNameLst>
                                          <p:attrName>ppt_x</p:attrName>
                                          <p:attrName>ppt_y</p:attrName>
                                        </p:attrNameLst>
                                      </p:cBhvr>
                                      <p:rCtr x="1233" y="5579"/>
                                    </p:animMotion>
                                  </p:childTnLst>
                                </p:cTn>
                              </p:par>
                            </p:childTnLst>
                          </p:cTn>
                        </p:par>
                        <p:par>
                          <p:cTn id="48" fill="hold">
                            <p:stCondLst>
                              <p:cond delay="1250"/>
                            </p:stCondLst>
                            <p:childTnLst>
                              <p:par>
                                <p:cTn id="49" presetID="42" presetClass="path" presetSubtype="0" accel="50000" decel="50000" fill="hold" grpId="3" nodeType="afterEffect">
                                  <p:stCondLst>
                                    <p:cond delay="0"/>
                                  </p:stCondLst>
                                  <p:childTnLst>
                                    <p:animMotion origin="layout" path="M -0.05764 0.32245 L -0.08924 0.43333 " pathEditMode="relative" rAng="0" ptsTypes="AA">
                                      <p:cBhvr>
                                        <p:cTn id="50" dur="1250" fill="hold"/>
                                        <p:tgtEl>
                                          <p:spTgt spid="18"/>
                                        </p:tgtEl>
                                        <p:attrNameLst>
                                          <p:attrName>ppt_x</p:attrName>
                                          <p:attrName>ppt_y</p:attrName>
                                        </p:attrNameLst>
                                      </p:cBhvr>
                                      <p:rCtr x="-1632" y="5579"/>
                                    </p:animMotion>
                                  </p:childTnLst>
                                </p:cTn>
                              </p:par>
                            </p:childTnLst>
                          </p:cTn>
                        </p:par>
                      </p:childTnLst>
                    </p:cTn>
                  </p:par>
                  <p:par>
                    <p:cTn id="51" fill="hold">
                      <p:stCondLst>
                        <p:cond delay="indefinite"/>
                      </p:stCondLst>
                      <p:childTnLst>
                        <p:par>
                          <p:cTn id="52" fill="hold">
                            <p:stCondLst>
                              <p:cond delay="0"/>
                            </p:stCondLst>
                            <p:childTnLst>
                              <p:par>
                                <p:cTn id="53" presetID="42" presetClass="path" presetSubtype="0" accel="50000" decel="50000" fill="hold" grpId="4" nodeType="clickEffect">
                                  <p:stCondLst>
                                    <p:cond delay="0"/>
                                  </p:stCondLst>
                                  <p:childTnLst>
                                    <p:animMotion origin="layout" path="M -0.23003 0.43333 L -0.17326 0.54444 " pathEditMode="relative" rAng="0" ptsTypes="AA">
                                      <p:cBhvr>
                                        <p:cTn id="54" dur="1250" fill="hold"/>
                                        <p:tgtEl>
                                          <p:spTgt spid="16"/>
                                        </p:tgtEl>
                                        <p:attrNameLst>
                                          <p:attrName>ppt_x</p:attrName>
                                          <p:attrName>ppt_y</p:attrName>
                                        </p:attrNameLst>
                                      </p:cBhvr>
                                      <p:rCtr x="2830" y="5556"/>
                                    </p:animMotion>
                                  </p:childTnLst>
                                </p:cTn>
                              </p:par>
                            </p:childTnLst>
                          </p:cTn>
                        </p:par>
                        <p:par>
                          <p:cTn id="55" fill="hold">
                            <p:stCondLst>
                              <p:cond delay="1250"/>
                            </p:stCondLst>
                            <p:childTnLst>
                              <p:par>
                                <p:cTn id="56" presetID="42" presetClass="path" presetSubtype="0" accel="50000" decel="50000" fill="hold" grpId="4" nodeType="afterEffect">
                                  <p:stCondLst>
                                    <p:cond delay="0"/>
                                  </p:stCondLst>
                                  <p:childTnLst>
                                    <p:animMotion origin="layout" path="M -0.09062 0.43333 L -0.17274 0.54444 " pathEditMode="relative" rAng="0" ptsTypes="AA">
                                      <p:cBhvr>
                                        <p:cTn id="57" dur="1250" fill="hold"/>
                                        <p:tgtEl>
                                          <p:spTgt spid="17"/>
                                        </p:tgtEl>
                                        <p:attrNameLst>
                                          <p:attrName>ppt_x</p:attrName>
                                          <p:attrName>ppt_y</p:attrName>
                                        </p:attrNameLst>
                                      </p:cBhvr>
                                      <p:rCtr x="-4115" y="5556"/>
                                    </p:animMotion>
                                  </p:childTnLst>
                                </p:cTn>
                              </p:par>
                            </p:childTnLst>
                          </p:cTn>
                        </p:par>
                        <p:par>
                          <p:cTn id="58" fill="hold">
                            <p:stCondLst>
                              <p:cond delay="2500"/>
                            </p:stCondLst>
                            <p:childTnLst>
                              <p:par>
                                <p:cTn id="59" presetID="42" presetClass="path" presetSubtype="0" accel="50000" decel="50000" fill="hold" grpId="4" nodeType="afterEffect">
                                  <p:stCondLst>
                                    <p:cond delay="0"/>
                                  </p:stCondLst>
                                  <p:childTnLst>
                                    <p:animMotion origin="layout" path="M -0.08924 0.43333 L -0.17257 0.54444 " pathEditMode="relative" rAng="0" ptsTypes="AA">
                                      <p:cBhvr>
                                        <p:cTn id="60" dur="1250" fill="hold"/>
                                        <p:tgtEl>
                                          <p:spTgt spid="18"/>
                                        </p:tgtEl>
                                        <p:attrNameLst>
                                          <p:attrName>ppt_x</p:attrName>
                                          <p:attrName>ppt_y</p:attrName>
                                        </p:attrNameLst>
                                      </p:cBhvr>
                                      <p:rCtr x="-4167" y="5556"/>
                                    </p:animMotion>
                                  </p:childTnLst>
                                </p:cTn>
                              </p:par>
                            </p:childTnLst>
                          </p:cTn>
                        </p:par>
                        <p:par>
                          <p:cTn id="61" fill="hold">
                            <p:stCondLst>
                              <p:cond delay="3750"/>
                            </p:stCondLst>
                            <p:childTnLst>
                              <p:par>
                                <p:cTn id="62" presetID="42" presetClass="path" presetSubtype="0" accel="50000" decel="50000" fill="hold" grpId="4" nodeType="afterEffect">
                                  <p:stCondLst>
                                    <p:cond delay="0"/>
                                  </p:stCondLst>
                                  <p:childTnLst>
                                    <p:animMotion origin="layout" path="M -0.11389 0.43472 L 0.05886 0.54444 " pathEditMode="relative" rAng="0" ptsTypes="AA">
                                      <p:cBhvr>
                                        <p:cTn id="63" dur="1250" fill="hold"/>
                                        <p:tgtEl>
                                          <p:spTgt spid="7"/>
                                        </p:tgtEl>
                                        <p:attrNameLst>
                                          <p:attrName>ppt_x</p:attrName>
                                          <p:attrName>ppt_y</p:attrName>
                                        </p:attrNameLst>
                                      </p:cBhvr>
                                      <p:rCtr x="8628" y="5486"/>
                                    </p:animMotion>
                                  </p:childTnLst>
                                </p:cTn>
                              </p:par>
                            </p:childTnLst>
                          </p:cTn>
                        </p:par>
                      </p:childTnLst>
                    </p:cTn>
                  </p:par>
                  <p:par>
                    <p:cTn id="64" fill="hold">
                      <p:stCondLst>
                        <p:cond delay="indefinite"/>
                      </p:stCondLst>
                      <p:childTnLst>
                        <p:par>
                          <p:cTn id="65" fill="hold">
                            <p:stCondLst>
                              <p:cond delay="0"/>
                            </p:stCondLst>
                            <p:childTnLst>
                              <p:par>
                                <p:cTn id="66" presetID="42" presetClass="path" presetSubtype="0" accel="50000" decel="50000" fill="hold" grpId="0" nodeType="clickEffect">
                                  <p:stCondLst>
                                    <p:cond delay="0"/>
                                  </p:stCondLst>
                                  <p:childTnLst>
                                    <p:animMotion origin="layout" path="M -3.05556E-6 2.96296E-6 L 0.11164 0.09977 " pathEditMode="relative" rAng="0" ptsTypes="AA">
                                      <p:cBhvr>
                                        <p:cTn id="67" dur="1250" fill="hold"/>
                                        <p:tgtEl>
                                          <p:spTgt spid="19"/>
                                        </p:tgtEl>
                                        <p:attrNameLst>
                                          <p:attrName>ppt_x</p:attrName>
                                          <p:attrName>ppt_y</p:attrName>
                                        </p:attrNameLst>
                                      </p:cBhvr>
                                      <p:rCtr x="5573" y="4977"/>
                                    </p:animMotion>
                                  </p:childTnLst>
                                </p:cTn>
                              </p:par>
                              <p:par>
                                <p:cTn id="68" presetID="42" presetClass="path" presetSubtype="0" accel="50000" decel="50000" fill="hold" grpId="0" nodeType="withEffect">
                                  <p:stCondLst>
                                    <p:cond delay="0"/>
                                  </p:stCondLst>
                                  <p:childTnLst>
                                    <p:animMotion origin="layout" path="M -4.16667E-6 2.96296E-6 L 0.11719 0.09977 " pathEditMode="relative" rAng="0" ptsTypes="AA">
                                      <p:cBhvr>
                                        <p:cTn id="69" dur="1250" fill="hold"/>
                                        <p:tgtEl>
                                          <p:spTgt spid="20"/>
                                        </p:tgtEl>
                                        <p:attrNameLst>
                                          <p:attrName>ppt_x</p:attrName>
                                          <p:attrName>ppt_y</p:attrName>
                                        </p:attrNameLst>
                                      </p:cBhvr>
                                      <p:rCtr x="5851" y="4977"/>
                                    </p:animMotion>
                                  </p:childTnLst>
                                </p:cTn>
                              </p:par>
                              <p:par>
                                <p:cTn id="70" presetID="42" presetClass="path" presetSubtype="0" accel="50000" decel="50000" fill="hold" grpId="0" nodeType="withEffect">
                                  <p:stCondLst>
                                    <p:cond delay="0"/>
                                  </p:stCondLst>
                                  <p:childTnLst>
                                    <p:animMotion origin="layout" path="M -2.22222E-6 -2.59259E-6 L 0.11736 0.10047 " pathEditMode="relative" rAng="0" ptsTypes="AA">
                                      <p:cBhvr>
                                        <p:cTn id="71" dur="1250" fill="hold"/>
                                        <p:tgtEl>
                                          <p:spTgt spid="21"/>
                                        </p:tgtEl>
                                        <p:attrNameLst>
                                          <p:attrName>ppt_x</p:attrName>
                                          <p:attrName>ppt_y</p:attrName>
                                        </p:attrNameLst>
                                      </p:cBhvr>
                                      <p:rCtr x="5868" y="5023"/>
                                    </p:animMotion>
                                  </p:childTnLst>
                                </p:cTn>
                              </p:par>
                              <p:par>
                                <p:cTn id="72" presetID="42" presetClass="path" presetSubtype="0" accel="50000" decel="50000" fill="hold" grpId="0" nodeType="withEffect">
                                  <p:stCondLst>
                                    <p:cond delay="0"/>
                                  </p:stCondLst>
                                  <p:childTnLst>
                                    <p:animMotion origin="layout" path="M 3.33333E-6 -2.59259E-6 L 0.11666 0.10047 " pathEditMode="relative" rAng="0" ptsTypes="AA">
                                      <p:cBhvr>
                                        <p:cTn id="73" dur="1250" fill="hold"/>
                                        <p:tgtEl>
                                          <p:spTgt spid="22"/>
                                        </p:tgtEl>
                                        <p:attrNameLst>
                                          <p:attrName>ppt_x</p:attrName>
                                          <p:attrName>ppt_y</p:attrName>
                                        </p:attrNameLst>
                                      </p:cBhvr>
                                      <p:rCtr x="5833" y="5023"/>
                                    </p:animMotion>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grpId="1" nodeType="clickEffect">
                                  <p:stCondLst>
                                    <p:cond delay="0"/>
                                  </p:stCondLst>
                                  <p:childTnLst>
                                    <p:animMotion origin="layout" path="M 0.11163 0.09977 L 0.08334 0.21111 " pathEditMode="relative" rAng="0" ptsTypes="AA">
                                      <p:cBhvr>
                                        <p:cTn id="77" dur="1250" fill="hold"/>
                                        <p:tgtEl>
                                          <p:spTgt spid="19"/>
                                        </p:tgtEl>
                                        <p:attrNameLst>
                                          <p:attrName>ppt_x</p:attrName>
                                          <p:attrName>ppt_y</p:attrName>
                                        </p:attrNameLst>
                                      </p:cBhvr>
                                      <p:rCtr x="-1406" y="5625"/>
                                    </p:animMotion>
                                  </p:childTnLst>
                                </p:cTn>
                              </p:par>
                              <p:par>
                                <p:cTn id="78" presetID="42" presetClass="path" presetSubtype="0" accel="50000" decel="50000" fill="hold" grpId="1" nodeType="withEffect">
                                  <p:stCondLst>
                                    <p:cond delay="0"/>
                                  </p:stCondLst>
                                  <p:childTnLst>
                                    <p:animMotion origin="layout" path="M 0.11718 0.09977 L 0.08507 0.21111 " pathEditMode="relative" rAng="0" ptsTypes="AA">
                                      <p:cBhvr>
                                        <p:cTn id="79" dur="1250" fill="hold"/>
                                        <p:tgtEl>
                                          <p:spTgt spid="20"/>
                                        </p:tgtEl>
                                        <p:attrNameLst>
                                          <p:attrName>ppt_x</p:attrName>
                                          <p:attrName>ppt_y</p:attrName>
                                        </p:attrNameLst>
                                      </p:cBhvr>
                                      <p:rCtr x="-1441" y="5625"/>
                                    </p:animMotion>
                                  </p:childTnLst>
                                </p:cTn>
                              </p:par>
                            </p:childTnLst>
                          </p:cTn>
                        </p:par>
                      </p:childTnLst>
                    </p:cTn>
                  </p:par>
                  <p:par>
                    <p:cTn id="80" fill="hold">
                      <p:stCondLst>
                        <p:cond delay="indefinite"/>
                      </p:stCondLst>
                      <p:childTnLst>
                        <p:par>
                          <p:cTn id="81" fill="hold">
                            <p:stCondLst>
                              <p:cond delay="0"/>
                            </p:stCondLst>
                            <p:childTnLst>
                              <p:par>
                                <p:cTn id="82" presetID="42" presetClass="path" presetSubtype="0" accel="50000" decel="50000" fill="hold" grpId="2" nodeType="clickEffect">
                                  <p:stCondLst>
                                    <p:cond delay="0"/>
                                  </p:stCondLst>
                                  <p:childTnLst>
                                    <p:animMotion origin="layout" path="M 0.08334 0.21111 L 0.05729 0.32152 " pathEditMode="relative" rAng="0" ptsTypes="AA">
                                      <p:cBhvr>
                                        <p:cTn id="83" dur="1250" fill="hold"/>
                                        <p:tgtEl>
                                          <p:spTgt spid="19"/>
                                        </p:tgtEl>
                                        <p:attrNameLst>
                                          <p:attrName>ppt_x</p:attrName>
                                          <p:attrName>ppt_y</p:attrName>
                                        </p:attrNameLst>
                                      </p:cBhvr>
                                      <p:rCtr x="-1302" y="5509"/>
                                    </p:animMotion>
                                  </p:childTnLst>
                                </p:cTn>
                              </p:par>
                              <p:par>
                                <p:cTn id="84" presetID="42" presetClass="path" presetSubtype="0" accel="50000" decel="50000" fill="hold" grpId="2" nodeType="withEffect">
                                  <p:stCondLst>
                                    <p:cond delay="0"/>
                                  </p:stCondLst>
                                  <p:childTnLst>
                                    <p:animMotion origin="layout" path="M 0.08507 0.21111 L 0.11459 0.32245 " pathEditMode="relative" rAng="0" ptsTypes="AA">
                                      <p:cBhvr>
                                        <p:cTn id="85" dur="1250" fill="hold"/>
                                        <p:tgtEl>
                                          <p:spTgt spid="20"/>
                                        </p:tgtEl>
                                        <p:attrNameLst>
                                          <p:attrName>ppt_x</p:attrName>
                                          <p:attrName>ppt_y</p:attrName>
                                        </p:attrNameLst>
                                      </p:cBhvr>
                                      <p:rCtr x="1476" y="5556"/>
                                    </p:animMotion>
                                  </p:childTnLst>
                                </p:cTn>
                              </p:par>
                            </p:childTnLst>
                          </p:cTn>
                        </p:par>
                      </p:childTnLst>
                    </p:cTn>
                  </p:par>
                  <p:par>
                    <p:cTn id="86" fill="hold">
                      <p:stCondLst>
                        <p:cond delay="indefinite"/>
                      </p:stCondLst>
                      <p:childTnLst>
                        <p:par>
                          <p:cTn id="87" fill="hold">
                            <p:stCondLst>
                              <p:cond delay="0"/>
                            </p:stCondLst>
                            <p:childTnLst>
                              <p:par>
                                <p:cTn id="88" presetID="42" presetClass="path" presetSubtype="0" accel="50000" decel="50000" fill="hold" grpId="3" nodeType="clickEffect">
                                  <p:stCondLst>
                                    <p:cond delay="0"/>
                                  </p:stCondLst>
                                  <p:childTnLst>
                                    <p:animMotion origin="layout" path="M 0.05729 0.32152 L 0.08334 0.43333 " pathEditMode="relative" rAng="0" ptsTypes="AA">
                                      <p:cBhvr>
                                        <p:cTn id="89" dur="1250" fill="hold"/>
                                        <p:tgtEl>
                                          <p:spTgt spid="19"/>
                                        </p:tgtEl>
                                        <p:attrNameLst>
                                          <p:attrName>ppt_x</p:attrName>
                                          <p:attrName>ppt_y</p:attrName>
                                        </p:attrNameLst>
                                      </p:cBhvr>
                                      <p:rCtr x="1302" y="5579"/>
                                    </p:animMotion>
                                  </p:childTnLst>
                                </p:cTn>
                              </p:par>
                            </p:childTnLst>
                          </p:cTn>
                        </p:par>
                        <p:par>
                          <p:cTn id="90" fill="hold">
                            <p:stCondLst>
                              <p:cond delay="1250"/>
                            </p:stCondLst>
                            <p:childTnLst>
                              <p:par>
                                <p:cTn id="91" presetID="42" presetClass="path" presetSubtype="0" accel="50000" decel="50000" fill="hold" grpId="3" nodeType="afterEffect">
                                  <p:stCondLst>
                                    <p:cond delay="0"/>
                                  </p:stCondLst>
                                  <p:childTnLst>
                                    <p:animMotion origin="layout" path="M 0.11459 0.32245 L 0.08542 0.43333 " pathEditMode="relative" rAng="0" ptsTypes="AA">
                                      <p:cBhvr>
                                        <p:cTn id="92" dur="1250" fill="hold"/>
                                        <p:tgtEl>
                                          <p:spTgt spid="20"/>
                                        </p:tgtEl>
                                        <p:attrNameLst>
                                          <p:attrName>ppt_x</p:attrName>
                                          <p:attrName>ppt_y</p:attrName>
                                        </p:attrNameLst>
                                      </p:cBhvr>
                                      <p:rCtr x="-1458" y="5532"/>
                                    </p:animMotion>
                                  </p:childTnLst>
                                </p:cTn>
                              </p:par>
                            </p:childTnLst>
                          </p:cTn>
                        </p:par>
                      </p:childTnLst>
                    </p:cTn>
                  </p:par>
                  <p:par>
                    <p:cTn id="93" fill="hold">
                      <p:stCondLst>
                        <p:cond delay="indefinite"/>
                      </p:stCondLst>
                      <p:childTnLst>
                        <p:par>
                          <p:cTn id="94" fill="hold">
                            <p:stCondLst>
                              <p:cond delay="0"/>
                            </p:stCondLst>
                            <p:childTnLst>
                              <p:par>
                                <p:cTn id="95" presetID="42" presetClass="path" presetSubtype="0" accel="50000" decel="50000" fill="hold" grpId="1" nodeType="clickEffect">
                                  <p:stCondLst>
                                    <p:cond delay="0"/>
                                  </p:stCondLst>
                                  <p:childTnLst>
                                    <p:animMotion origin="layout" path="M 0.11736 0.10046 L 0.17257 0.21158 " pathEditMode="relative" rAng="0" ptsTypes="AA">
                                      <p:cBhvr>
                                        <p:cTn id="96" dur="1250" fill="hold"/>
                                        <p:tgtEl>
                                          <p:spTgt spid="21"/>
                                        </p:tgtEl>
                                        <p:attrNameLst>
                                          <p:attrName>ppt_x</p:attrName>
                                          <p:attrName>ppt_y</p:attrName>
                                        </p:attrNameLst>
                                      </p:cBhvr>
                                      <p:rCtr x="2882" y="5602"/>
                                    </p:animMotion>
                                  </p:childTnLst>
                                </p:cTn>
                              </p:par>
                              <p:par>
                                <p:cTn id="97" presetID="42" presetClass="path" presetSubtype="0" accel="50000" decel="50000" fill="hold" grpId="1" nodeType="withEffect">
                                  <p:stCondLst>
                                    <p:cond delay="0"/>
                                  </p:stCondLst>
                                  <p:childTnLst>
                                    <p:animMotion origin="layout" path="M 0.11666 0.10047 L 0.17396 0.21158 " pathEditMode="relative" rAng="0" ptsTypes="AA">
                                      <p:cBhvr>
                                        <p:cTn id="98" dur="1250" fill="hold"/>
                                        <p:tgtEl>
                                          <p:spTgt spid="22"/>
                                        </p:tgtEl>
                                        <p:attrNameLst>
                                          <p:attrName>ppt_x</p:attrName>
                                          <p:attrName>ppt_y</p:attrName>
                                        </p:attrNameLst>
                                      </p:cBhvr>
                                      <p:rCtr x="2865" y="5625"/>
                                    </p:animMotion>
                                  </p:childTnLst>
                                </p:cTn>
                              </p:par>
                            </p:childTnLst>
                          </p:cTn>
                        </p:par>
                      </p:childTnLst>
                    </p:cTn>
                  </p:par>
                  <p:par>
                    <p:cTn id="99" fill="hold">
                      <p:stCondLst>
                        <p:cond delay="indefinite"/>
                      </p:stCondLst>
                      <p:childTnLst>
                        <p:par>
                          <p:cTn id="100" fill="hold">
                            <p:stCondLst>
                              <p:cond delay="0"/>
                            </p:stCondLst>
                            <p:childTnLst>
                              <p:par>
                                <p:cTn id="101" presetID="42" presetClass="path" presetSubtype="0" accel="50000" decel="50000" fill="hold" grpId="2" nodeType="clickEffect">
                                  <p:stCondLst>
                                    <p:cond delay="0"/>
                                  </p:stCondLst>
                                  <p:childTnLst>
                                    <p:animMotion origin="layout" path="M 0.17257 0.21157 L 0.14636 0.32315 " pathEditMode="relative" rAng="0" ptsTypes="AA">
                                      <p:cBhvr>
                                        <p:cTn id="102" dur="1250" fill="hold"/>
                                        <p:tgtEl>
                                          <p:spTgt spid="21"/>
                                        </p:tgtEl>
                                        <p:attrNameLst>
                                          <p:attrName>ppt_x</p:attrName>
                                          <p:attrName>ppt_y</p:attrName>
                                        </p:attrNameLst>
                                      </p:cBhvr>
                                      <p:rCtr x="-1354" y="5625"/>
                                    </p:animMotion>
                                  </p:childTnLst>
                                </p:cTn>
                              </p:par>
                              <p:par>
                                <p:cTn id="103" presetID="42" presetClass="path" presetSubtype="0" accel="50000" decel="50000" fill="hold" grpId="2" nodeType="withEffect">
                                  <p:stCondLst>
                                    <p:cond delay="0"/>
                                  </p:stCondLst>
                                  <p:childTnLst>
                                    <p:animMotion origin="layout" path="M 0.17396 0.21158 L 0.20416 0.32315 " pathEditMode="relative" rAng="0" ptsTypes="AA">
                                      <p:cBhvr>
                                        <p:cTn id="104" dur="1250" fill="hold"/>
                                        <p:tgtEl>
                                          <p:spTgt spid="22"/>
                                        </p:tgtEl>
                                        <p:attrNameLst>
                                          <p:attrName>ppt_x</p:attrName>
                                          <p:attrName>ppt_y</p:attrName>
                                        </p:attrNameLst>
                                      </p:cBhvr>
                                      <p:rCtr x="1563" y="5556"/>
                                    </p:animMotion>
                                  </p:childTnLst>
                                </p:cTn>
                              </p:par>
                            </p:childTnLst>
                          </p:cTn>
                        </p:par>
                      </p:childTnLst>
                    </p:cTn>
                  </p:par>
                  <p:par>
                    <p:cTn id="105" fill="hold">
                      <p:stCondLst>
                        <p:cond delay="indefinite"/>
                      </p:stCondLst>
                      <p:childTnLst>
                        <p:par>
                          <p:cTn id="106" fill="hold">
                            <p:stCondLst>
                              <p:cond delay="0"/>
                            </p:stCondLst>
                            <p:childTnLst>
                              <p:par>
                                <p:cTn id="107" presetID="42" presetClass="path" presetSubtype="0" accel="50000" decel="50000" fill="hold" grpId="3" nodeType="clickEffect">
                                  <p:stCondLst>
                                    <p:cond delay="0"/>
                                  </p:stCondLst>
                                  <p:childTnLst>
                                    <p:animMotion origin="layout" path="M 0.14635 0.32314 L 0.1724 0.43403 " pathEditMode="relative" rAng="0" ptsTypes="AA">
                                      <p:cBhvr>
                                        <p:cTn id="108" dur="1250" fill="hold"/>
                                        <p:tgtEl>
                                          <p:spTgt spid="21"/>
                                        </p:tgtEl>
                                        <p:attrNameLst>
                                          <p:attrName>ppt_x</p:attrName>
                                          <p:attrName>ppt_y</p:attrName>
                                        </p:attrNameLst>
                                      </p:cBhvr>
                                      <p:rCtr x="1406" y="5579"/>
                                    </p:animMotion>
                                  </p:childTnLst>
                                </p:cTn>
                              </p:par>
                            </p:childTnLst>
                          </p:cTn>
                        </p:par>
                        <p:par>
                          <p:cTn id="109" fill="hold">
                            <p:stCondLst>
                              <p:cond delay="1250"/>
                            </p:stCondLst>
                            <p:childTnLst>
                              <p:par>
                                <p:cTn id="110" presetID="42" presetClass="path" presetSubtype="0" accel="50000" decel="50000" fill="hold" grpId="3" nodeType="afterEffect">
                                  <p:stCondLst>
                                    <p:cond delay="0"/>
                                  </p:stCondLst>
                                  <p:childTnLst>
                                    <p:animMotion origin="layout" path="M 0.20416 0.32314 L 0.17257 0.43403 " pathEditMode="relative" rAng="0" ptsTypes="AA">
                                      <p:cBhvr>
                                        <p:cTn id="111" dur="1250" fill="hold"/>
                                        <p:tgtEl>
                                          <p:spTgt spid="22"/>
                                        </p:tgtEl>
                                        <p:attrNameLst>
                                          <p:attrName>ppt_x</p:attrName>
                                          <p:attrName>ppt_y</p:attrName>
                                        </p:attrNameLst>
                                      </p:cBhvr>
                                      <p:rCtr x="-1458" y="5579"/>
                                    </p:animMotion>
                                  </p:childTnLst>
                                </p:cTn>
                              </p:par>
                            </p:childTnLst>
                          </p:cTn>
                        </p:par>
                      </p:childTnLst>
                    </p:cTn>
                  </p:par>
                  <p:par>
                    <p:cTn id="112" fill="hold">
                      <p:stCondLst>
                        <p:cond delay="indefinite"/>
                      </p:stCondLst>
                      <p:childTnLst>
                        <p:par>
                          <p:cTn id="113" fill="hold">
                            <p:stCondLst>
                              <p:cond delay="0"/>
                            </p:stCondLst>
                            <p:childTnLst>
                              <p:par>
                                <p:cTn id="114" presetID="42" presetClass="path" presetSubtype="0" accel="50000" decel="50000" fill="hold" grpId="4" nodeType="clickEffect">
                                  <p:stCondLst>
                                    <p:cond delay="0"/>
                                  </p:stCondLst>
                                  <p:childTnLst>
                                    <p:animMotion origin="layout" path="M 0.1724 0.43403 L 0.00191 0.54445 " pathEditMode="relative" rAng="0" ptsTypes="AA">
                                      <p:cBhvr>
                                        <p:cTn id="115" dur="1250" fill="hold"/>
                                        <p:tgtEl>
                                          <p:spTgt spid="21"/>
                                        </p:tgtEl>
                                        <p:attrNameLst>
                                          <p:attrName>ppt_x</p:attrName>
                                          <p:attrName>ppt_y</p:attrName>
                                        </p:attrNameLst>
                                      </p:cBhvr>
                                      <p:rCtr x="-8576" y="5440"/>
                                    </p:animMotion>
                                  </p:childTnLst>
                                </p:cTn>
                              </p:par>
                            </p:childTnLst>
                          </p:cTn>
                        </p:par>
                        <p:par>
                          <p:cTn id="116" fill="hold">
                            <p:stCondLst>
                              <p:cond delay="1250"/>
                            </p:stCondLst>
                            <p:childTnLst>
                              <p:par>
                                <p:cTn id="117" presetID="42" presetClass="path" presetSubtype="0" accel="50000" decel="50000" fill="hold" grpId="4" nodeType="afterEffect">
                                  <p:stCondLst>
                                    <p:cond delay="0"/>
                                  </p:stCondLst>
                                  <p:childTnLst>
                                    <p:animMotion origin="layout" path="M 0.08334 0.43333 L 0.1691 0.54514 " pathEditMode="relative" rAng="0" ptsTypes="AA">
                                      <p:cBhvr>
                                        <p:cTn id="118" dur="1250" fill="hold"/>
                                        <p:tgtEl>
                                          <p:spTgt spid="19"/>
                                        </p:tgtEl>
                                        <p:attrNameLst>
                                          <p:attrName>ppt_x</p:attrName>
                                          <p:attrName>ppt_y</p:attrName>
                                        </p:attrNameLst>
                                      </p:cBhvr>
                                      <p:rCtr x="4288" y="5579"/>
                                    </p:animMotion>
                                  </p:childTnLst>
                                </p:cTn>
                              </p:par>
                            </p:childTnLst>
                          </p:cTn>
                        </p:par>
                        <p:par>
                          <p:cTn id="119" fill="hold">
                            <p:stCondLst>
                              <p:cond delay="2500"/>
                            </p:stCondLst>
                            <p:childTnLst>
                              <p:par>
                                <p:cTn id="120" presetID="42" presetClass="path" presetSubtype="0" accel="50000" decel="50000" fill="hold" grpId="4" nodeType="afterEffect">
                                  <p:stCondLst>
                                    <p:cond delay="0"/>
                                  </p:stCondLst>
                                  <p:childTnLst>
                                    <p:animMotion origin="layout" path="M 0.17257 0.43403 L 0.0592 0.54445 " pathEditMode="relative" rAng="0" ptsTypes="AA">
                                      <p:cBhvr>
                                        <p:cTn id="121" dur="1250" fill="hold"/>
                                        <p:tgtEl>
                                          <p:spTgt spid="22"/>
                                        </p:tgtEl>
                                        <p:attrNameLst>
                                          <p:attrName>ppt_x</p:attrName>
                                          <p:attrName>ppt_y</p:attrName>
                                        </p:attrNameLst>
                                      </p:cBhvr>
                                      <p:rCtr x="-5677" y="5509"/>
                                    </p:animMotion>
                                  </p:childTnLst>
                                </p:cTn>
                              </p:par>
                            </p:childTnLst>
                          </p:cTn>
                        </p:par>
                        <p:par>
                          <p:cTn id="122" fill="hold">
                            <p:stCondLst>
                              <p:cond delay="3750"/>
                            </p:stCondLst>
                            <p:childTnLst>
                              <p:par>
                                <p:cTn id="123" presetID="42" presetClass="path" presetSubtype="0" accel="50000" decel="50000" fill="hold" grpId="4" nodeType="afterEffect">
                                  <p:stCondLst>
                                    <p:cond delay="0"/>
                                  </p:stCondLst>
                                  <p:childTnLst>
                                    <p:animMotion origin="layout" path="M 0.08542 0.43333 L 0.22952 0.54514 " pathEditMode="relative" rAng="0" ptsTypes="AA">
                                      <p:cBhvr>
                                        <p:cTn id="124" dur="1250" fill="hold"/>
                                        <p:tgtEl>
                                          <p:spTgt spid="20"/>
                                        </p:tgtEl>
                                        <p:attrNameLst>
                                          <p:attrName>ppt_x</p:attrName>
                                          <p:attrName>ppt_y</p:attrName>
                                        </p:attrNameLst>
                                      </p:cBhvr>
                                      <p:rCtr x="7205" y="5579"/>
                                    </p:animMotion>
                                  </p:childTnLst>
                                </p:cTn>
                              </p:par>
                            </p:childTnLst>
                          </p:cTn>
                        </p:par>
                      </p:childTnLst>
                    </p:cTn>
                  </p:par>
                  <p:par>
                    <p:cTn id="125" fill="hold">
                      <p:stCondLst>
                        <p:cond delay="indefinite"/>
                      </p:stCondLst>
                      <p:childTnLst>
                        <p:par>
                          <p:cTn id="126" fill="hold">
                            <p:stCondLst>
                              <p:cond delay="0"/>
                            </p:stCondLst>
                            <p:childTnLst>
                              <p:par>
                                <p:cTn id="127" presetID="42" presetClass="path" presetSubtype="0" accel="50000" decel="50000" fill="hold" grpId="5" nodeType="clickEffect">
                                  <p:stCondLst>
                                    <p:cond delay="0"/>
                                  </p:stCondLst>
                                  <p:childTnLst>
                                    <p:animMotion origin="layout" path="M 0.00191 0.54445 L -0.34288 0.65764 " pathEditMode="relative" rAng="0" ptsTypes="AA">
                                      <p:cBhvr>
                                        <p:cTn id="128" dur="1250" fill="hold"/>
                                        <p:tgtEl>
                                          <p:spTgt spid="21"/>
                                        </p:tgtEl>
                                        <p:attrNameLst>
                                          <p:attrName>ppt_x</p:attrName>
                                          <p:attrName>ppt_y</p:attrName>
                                        </p:attrNameLst>
                                      </p:cBhvr>
                                      <p:rCtr x="-17153" y="5648"/>
                                    </p:animMotion>
                                  </p:childTnLst>
                                </p:cTn>
                              </p:par>
                            </p:childTnLst>
                          </p:cTn>
                        </p:par>
                        <p:par>
                          <p:cTn id="129" fill="hold">
                            <p:stCondLst>
                              <p:cond delay="1250"/>
                            </p:stCondLst>
                            <p:childTnLst>
                              <p:par>
                                <p:cTn id="130" presetID="42" presetClass="path" presetSubtype="0" accel="50000" decel="50000" fill="hold" grpId="5" nodeType="afterEffect">
                                  <p:stCondLst>
                                    <p:cond delay="0"/>
                                  </p:stCondLst>
                                  <p:childTnLst>
                                    <p:animMotion origin="layout" path="M -0.17326 0.54444 L -8.33333E-7 0.65671 " pathEditMode="relative" rAng="0" ptsTypes="AA">
                                      <p:cBhvr>
                                        <p:cTn id="131" dur="1250" fill="hold"/>
                                        <p:tgtEl>
                                          <p:spTgt spid="16"/>
                                        </p:tgtEl>
                                        <p:attrNameLst>
                                          <p:attrName>ppt_x</p:attrName>
                                          <p:attrName>ppt_y</p:attrName>
                                        </p:attrNameLst>
                                      </p:cBhvr>
                                      <p:rCtr x="8663" y="5602"/>
                                    </p:animMotion>
                                  </p:childTnLst>
                                </p:cTn>
                              </p:par>
                            </p:childTnLst>
                          </p:cTn>
                        </p:par>
                        <p:par>
                          <p:cTn id="132" fill="hold">
                            <p:stCondLst>
                              <p:cond delay="2500"/>
                            </p:stCondLst>
                            <p:childTnLst>
                              <p:par>
                                <p:cTn id="133" presetID="42" presetClass="path" presetSubtype="0" accel="50000" decel="50000" fill="hold" grpId="5" nodeType="afterEffect">
                                  <p:stCondLst>
                                    <p:cond delay="0"/>
                                  </p:stCondLst>
                                  <p:childTnLst>
                                    <p:animMotion origin="layout" path="M -0.17274 0.54444 L -0.00208 0.65671 " pathEditMode="relative" rAng="0" ptsTypes="AA">
                                      <p:cBhvr>
                                        <p:cTn id="134" dur="1250" fill="hold"/>
                                        <p:tgtEl>
                                          <p:spTgt spid="17"/>
                                        </p:tgtEl>
                                        <p:attrNameLst>
                                          <p:attrName>ppt_x</p:attrName>
                                          <p:attrName>ppt_y</p:attrName>
                                        </p:attrNameLst>
                                      </p:cBhvr>
                                      <p:rCtr x="8559" y="5579"/>
                                    </p:animMotion>
                                  </p:childTnLst>
                                </p:cTn>
                              </p:par>
                            </p:childTnLst>
                          </p:cTn>
                        </p:par>
                        <p:par>
                          <p:cTn id="135" fill="hold">
                            <p:stCondLst>
                              <p:cond delay="3750"/>
                            </p:stCondLst>
                            <p:childTnLst>
                              <p:par>
                                <p:cTn id="136" presetID="42" presetClass="path" presetSubtype="0" accel="50000" decel="50000" fill="hold" grpId="5" nodeType="afterEffect">
                                  <p:stCondLst>
                                    <p:cond delay="0"/>
                                  </p:stCondLst>
                                  <p:childTnLst>
                                    <p:animMotion origin="layout" path="M 0.1691 0.54514 L -0.05729 0.65671 " pathEditMode="relative" rAng="0" ptsTypes="AA">
                                      <p:cBhvr>
                                        <p:cTn id="137" dur="1250" fill="hold"/>
                                        <p:tgtEl>
                                          <p:spTgt spid="19"/>
                                        </p:tgtEl>
                                        <p:attrNameLst>
                                          <p:attrName>ppt_x</p:attrName>
                                          <p:attrName>ppt_y</p:attrName>
                                        </p:attrNameLst>
                                      </p:cBhvr>
                                      <p:rCtr x="-11319" y="5579"/>
                                    </p:animMotion>
                                  </p:childTnLst>
                                </p:cTn>
                              </p:par>
                            </p:childTnLst>
                          </p:cTn>
                        </p:par>
                        <p:par>
                          <p:cTn id="138" fill="hold">
                            <p:stCondLst>
                              <p:cond delay="5000"/>
                            </p:stCondLst>
                            <p:childTnLst>
                              <p:par>
                                <p:cTn id="139" presetID="42" presetClass="path" presetSubtype="0" accel="50000" decel="50000" fill="hold" grpId="5" nodeType="afterEffect">
                                  <p:stCondLst>
                                    <p:cond delay="0"/>
                                  </p:stCondLst>
                                  <p:childTnLst>
                                    <p:animMotion origin="layout" path="M -0.17257 0.54444 L 0.0573 0.65671 " pathEditMode="relative" rAng="0" ptsTypes="AA">
                                      <p:cBhvr>
                                        <p:cTn id="140" dur="1250" fill="hold"/>
                                        <p:tgtEl>
                                          <p:spTgt spid="18"/>
                                        </p:tgtEl>
                                        <p:attrNameLst>
                                          <p:attrName>ppt_x</p:attrName>
                                          <p:attrName>ppt_y</p:attrName>
                                        </p:attrNameLst>
                                      </p:cBhvr>
                                      <p:rCtr x="11493" y="5602"/>
                                    </p:animMotion>
                                  </p:childTnLst>
                                </p:cTn>
                              </p:par>
                            </p:childTnLst>
                          </p:cTn>
                        </p:par>
                        <p:par>
                          <p:cTn id="141" fill="hold">
                            <p:stCondLst>
                              <p:cond delay="6250"/>
                            </p:stCondLst>
                            <p:childTnLst>
                              <p:par>
                                <p:cTn id="142" presetID="42" presetClass="path" presetSubtype="0" accel="50000" decel="50000" fill="hold" grpId="5" nodeType="afterEffect">
                                  <p:stCondLst>
                                    <p:cond delay="0"/>
                                  </p:stCondLst>
                                  <p:childTnLst>
                                    <p:animMotion origin="layout" path="M 0.05886 0.54444 L 0.2842 0.65671 " pathEditMode="relative" rAng="0" ptsTypes="AA">
                                      <p:cBhvr>
                                        <p:cTn id="143" dur="1250" fill="hold"/>
                                        <p:tgtEl>
                                          <p:spTgt spid="7"/>
                                        </p:tgtEl>
                                        <p:attrNameLst>
                                          <p:attrName>ppt_x</p:attrName>
                                          <p:attrName>ppt_y</p:attrName>
                                        </p:attrNameLst>
                                      </p:cBhvr>
                                      <p:rCtr x="11267" y="5602"/>
                                    </p:animMotion>
                                  </p:childTnLst>
                                </p:cTn>
                              </p:par>
                            </p:childTnLst>
                          </p:cTn>
                        </p:par>
                        <p:par>
                          <p:cTn id="144" fill="hold">
                            <p:stCondLst>
                              <p:cond delay="7500"/>
                            </p:stCondLst>
                            <p:childTnLst>
                              <p:par>
                                <p:cTn id="145" presetID="42" presetClass="path" presetSubtype="0" accel="50000" decel="50000" fill="hold" grpId="5" nodeType="afterEffect">
                                  <p:stCondLst>
                                    <p:cond delay="0"/>
                                  </p:stCondLst>
                                  <p:childTnLst>
                                    <p:animMotion origin="layout" path="M 0.0592 0.54445 L -0.05764 0.65741 " pathEditMode="relative" rAng="0" ptsTypes="AA">
                                      <p:cBhvr>
                                        <p:cTn id="146" dur="1250" fill="hold"/>
                                        <p:tgtEl>
                                          <p:spTgt spid="22"/>
                                        </p:tgtEl>
                                        <p:attrNameLst>
                                          <p:attrName>ppt_x</p:attrName>
                                          <p:attrName>ppt_y</p:attrName>
                                        </p:attrNameLst>
                                      </p:cBhvr>
                                      <p:rCtr x="-5851" y="5648"/>
                                    </p:animMotion>
                                  </p:childTnLst>
                                </p:cTn>
                              </p:par>
                            </p:childTnLst>
                          </p:cTn>
                        </p:par>
                        <p:par>
                          <p:cTn id="147" fill="hold">
                            <p:stCondLst>
                              <p:cond delay="8750"/>
                            </p:stCondLst>
                            <p:childTnLst>
                              <p:par>
                                <p:cTn id="148" presetID="42" presetClass="path" presetSubtype="0" accel="50000" decel="50000" fill="hold" grpId="5" nodeType="afterEffect">
                                  <p:stCondLst>
                                    <p:cond delay="0"/>
                                  </p:stCondLst>
                                  <p:childTnLst>
                                    <p:animMotion origin="layout" path="M 0.22951 0.54514 L 0.11389 0.65578 " pathEditMode="relative" rAng="0" ptsTypes="AA">
                                      <p:cBhvr>
                                        <p:cTn id="149" dur="1250" fill="hold"/>
                                        <p:tgtEl>
                                          <p:spTgt spid="20"/>
                                        </p:tgtEl>
                                        <p:attrNameLst>
                                          <p:attrName>ppt_x</p:attrName>
                                          <p:attrName>ppt_y</p:attrName>
                                        </p:attrNameLst>
                                      </p:cBhvr>
                                      <p:rCtr x="-5747" y="55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16" grpId="0" animBg="1"/>
      <p:bldP spid="16" grpId="1" animBg="1"/>
      <p:bldP spid="16" grpId="2" animBg="1"/>
      <p:bldP spid="16" grpId="3" animBg="1"/>
      <p:bldP spid="16" grpId="4" animBg="1"/>
      <p:bldP spid="16" grpId="5" animBg="1"/>
      <p:bldP spid="17" grpId="0" animBg="1"/>
      <p:bldP spid="17" grpId="1" animBg="1"/>
      <p:bldP spid="17" grpId="2" animBg="1"/>
      <p:bldP spid="17" grpId="3" animBg="1"/>
      <p:bldP spid="17" grpId="4" animBg="1"/>
      <p:bldP spid="17" grpId="5" animBg="1"/>
      <p:bldP spid="18" grpId="0" animBg="1"/>
      <p:bldP spid="18" grpId="1" animBg="1"/>
      <p:bldP spid="18" grpId="2" animBg="1"/>
      <p:bldP spid="18" grpId="3" animBg="1"/>
      <p:bldP spid="18" grpId="4" animBg="1"/>
      <p:bldP spid="18" grpId="5" animBg="1"/>
      <p:bldP spid="19" grpId="0" animBg="1"/>
      <p:bldP spid="19" grpId="1" animBg="1"/>
      <p:bldP spid="19" grpId="2" animBg="1"/>
      <p:bldP spid="19" grpId="3" animBg="1"/>
      <p:bldP spid="19" grpId="4" animBg="1"/>
      <p:bldP spid="19" grpId="5" animBg="1"/>
      <p:bldP spid="20" grpId="0" animBg="1"/>
      <p:bldP spid="20" grpId="1" animBg="1"/>
      <p:bldP spid="20" grpId="2" animBg="1"/>
      <p:bldP spid="20" grpId="3" animBg="1"/>
      <p:bldP spid="20" grpId="4" animBg="1"/>
      <p:bldP spid="20" grpId="5" animBg="1"/>
      <p:bldP spid="21" grpId="0" animBg="1"/>
      <p:bldP spid="21" grpId="1" animBg="1"/>
      <p:bldP spid="21" grpId="2" animBg="1"/>
      <p:bldP spid="21" grpId="3" animBg="1"/>
      <p:bldP spid="21" grpId="4" animBg="1"/>
      <p:bldP spid="21" grpId="5" animBg="1"/>
      <p:bldP spid="22" grpId="0" animBg="1"/>
      <p:bldP spid="22" grpId="1" animBg="1"/>
      <p:bldP spid="22" grpId="2" animBg="1"/>
      <p:bldP spid="22" grpId="3" animBg="1"/>
      <p:bldP spid="22" grpId="4" animBg="1"/>
      <p:bldP spid="22" grpId="5"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Merge Sort (visualization)</a:t>
            </a:r>
          </a:p>
        </p:txBody>
      </p:sp>
      <p:pic>
        <p:nvPicPr>
          <p:cNvPr id="3" name="Content Placeholder 5" descr="Diagram, schematic&#10;&#10;Description automatically generated">
            <a:extLst>
              <a:ext uri="{FF2B5EF4-FFF2-40B4-BE49-F238E27FC236}">
                <a16:creationId xmlns:a16="http://schemas.microsoft.com/office/drawing/2014/main" id="{39372BDA-D5A1-D775-D7E0-9FCA7DD078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1543" y="1481138"/>
            <a:ext cx="4700915" cy="4525962"/>
          </a:xfrm>
        </p:spPr>
      </p:pic>
    </p:spTree>
    <p:extLst>
      <p:ext uri="{BB962C8B-B14F-4D97-AF65-F5344CB8AC3E}">
        <p14:creationId xmlns:p14="http://schemas.microsoft.com/office/powerpoint/2010/main" val="280888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F3A10-6D96-43CE-9911-C70556DADC8E}"/>
              </a:ext>
            </a:extLst>
          </p:cNvPr>
          <p:cNvSpPr>
            <a:spLocks noGrp="1"/>
          </p:cNvSpPr>
          <p:nvPr>
            <p:ph type="title"/>
          </p:nvPr>
        </p:nvSpPr>
        <p:spPr/>
        <p:txBody>
          <a:bodyPr/>
          <a:lstStyle/>
          <a:p>
            <a:r>
              <a:rPr lang="en-US" dirty="0"/>
              <a:t>More Algorithms…</a:t>
            </a:r>
          </a:p>
        </p:txBody>
      </p:sp>
      <p:sp>
        <p:nvSpPr>
          <p:cNvPr id="3" name="Content Placeholder 2">
            <a:extLst>
              <a:ext uri="{FF2B5EF4-FFF2-40B4-BE49-F238E27FC236}">
                <a16:creationId xmlns:a16="http://schemas.microsoft.com/office/drawing/2014/main" id="{EE916EB1-9BC8-4AB4-B03E-D8538333E05A}"/>
              </a:ext>
            </a:extLst>
          </p:cNvPr>
          <p:cNvSpPr>
            <a:spLocks noGrp="1"/>
          </p:cNvSpPr>
          <p:nvPr>
            <p:ph idx="1"/>
          </p:nvPr>
        </p:nvSpPr>
        <p:spPr>
          <a:xfrm>
            <a:off x="380010" y="1481446"/>
            <a:ext cx="8383980" cy="4768352"/>
          </a:xfrm>
        </p:spPr>
        <p:txBody>
          <a:bodyPr>
            <a:normAutofit fontScale="77500" lnSpcReduction="20000"/>
          </a:bodyPr>
          <a:lstStyle/>
          <a:p>
            <a:r>
              <a:rPr lang="en-US" b="1" dirty="0"/>
              <a:t>Quick Sort</a:t>
            </a:r>
            <a:r>
              <a:rPr lang="en-US" dirty="0"/>
              <a:t> – Recursive Algorithm which swaps elements based on a ‘partition’.</a:t>
            </a:r>
          </a:p>
          <a:p>
            <a:r>
              <a:rPr lang="en-US" b="1" dirty="0"/>
              <a:t>Insertion Sort</a:t>
            </a:r>
            <a:r>
              <a:rPr lang="en-US" dirty="0"/>
              <a:t> – Iterative Algorithm which moves lower elements toward the front by swapping their position with higher elements and continuing until the lower element is in the correct position.</a:t>
            </a:r>
          </a:p>
          <a:p>
            <a:r>
              <a:rPr lang="en-US" b="1" dirty="0"/>
              <a:t>Counting Sort </a:t>
            </a:r>
            <a:r>
              <a:rPr lang="en-US" dirty="0"/>
              <a:t>– Iterative Algorithm that sorts elements of an array by counting the number of occurrences of each unique element and storing values in an auxiliary Array. Then we use the index of the auxiliary array to map the sorted output.</a:t>
            </a:r>
          </a:p>
          <a:p>
            <a:r>
              <a:rPr lang="en-US" b="1" dirty="0"/>
              <a:t>Tim Sort</a:t>
            </a:r>
            <a:r>
              <a:rPr lang="en-US" dirty="0"/>
              <a:t> – Recursive Algorithm which combines both Insertion sort and Merge sort to organize elements in blocks, known as ‘Runs’, and merging sorted blocks together.</a:t>
            </a:r>
          </a:p>
          <a:p>
            <a:r>
              <a:rPr lang="en-US" dirty="0"/>
              <a:t>And more…</a:t>
            </a:r>
          </a:p>
          <a:p>
            <a:r>
              <a:rPr lang="en-US" dirty="0"/>
              <a:t>Practice, Study and Experience</a:t>
            </a:r>
          </a:p>
        </p:txBody>
      </p:sp>
      <p:sp>
        <p:nvSpPr>
          <p:cNvPr id="4" name="Slide Number Placeholder 3">
            <a:extLst>
              <a:ext uri="{FF2B5EF4-FFF2-40B4-BE49-F238E27FC236}">
                <a16:creationId xmlns:a16="http://schemas.microsoft.com/office/drawing/2014/main" id="{F66D5DD2-44AB-4EC0-AC75-89E36FA8D4AC}"/>
              </a:ext>
            </a:extLst>
          </p:cNvPr>
          <p:cNvSpPr>
            <a:spLocks noGrp="1"/>
          </p:cNvSpPr>
          <p:nvPr>
            <p:ph type="sldNum" sz="quarter" idx="12"/>
          </p:nvPr>
        </p:nvSpPr>
        <p:spPr/>
        <p:txBody>
          <a:bodyPr/>
          <a:lstStyle/>
          <a:p>
            <a:fld id="{F6728BC2-ACA3-447C-A909-F3F49211C066}" type="slidenum">
              <a:rPr lang="en-US" smtClean="0"/>
              <a:pPr/>
              <a:t>38</a:t>
            </a:fld>
            <a:endParaRPr lang="en-US" dirty="0"/>
          </a:p>
        </p:txBody>
      </p:sp>
    </p:spTree>
    <p:extLst>
      <p:ext uri="{BB962C8B-B14F-4D97-AF65-F5344CB8AC3E}">
        <p14:creationId xmlns:p14="http://schemas.microsoft.com/office/powerpoint/2010/main" val="364615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FA10-9A0E-4048-B6E6-64F738AF830A}"/>
              </a:ext>
            </a:extLst>
          </p:cNvPr>
          <p:cNvSpPr>
            <a:spLocks noGrp="1"/>
          </p:cNvSpPr>
          <p:nvPr>
            <p:ph type="title"/>
          </p:nvPr>
        </p:nvSpPr>
        <p:spPr/>
        <p:txBody>
          <a:bodyPr/>
          <a:lstStyle/>
          <a:p>
            <a:r>
              <a:rPr lang="en-US" dirty="0"/>
              <a:t>Algorithm Big-O</a:t>
            </a:r>
          </a:p>
        </p:txBody>
      </p:sp>
      <p:sp>
        <p:nvSpPr>
          <p:cNvPr id="3" name="Content Placeholder 2">
            <a:extLst>
              <a:ext uri="{FF2B5EF4-FFF2-40B4-BE49-F238E27FC236}">
                <a16:creationId xmlns:a16="http://schemas.microsoft.com/office/drawing/2014/main" id="{F299C914-EF41-45C7-AF52-D66AE0E6A46E}"/>
              </a:ext>
            </a:extLst>
          </p:cNvPr>
          <p:cNvSpPr>
            <a:spLocks noGrp="1"/>
          </p:cNvSpPr>
          <p:nvPr>
            <p:ph idx="1"/>
          </p:nvPr>
        </p:nvSpPr>
        <p:spPr>
          <a:xfrm>
            <a:off x="380010" y="1481445"/>
            <a:ext cx="8383980" cy="5247391"/>
          </a:xfrm>
        </p:spPr>
        <p:txBody>
          <a:bodyPr>
            <a:normAutofit fontScale="85000" lnSpcReduction="20000"/>
          </a:bodyPr>
          <a:lstStyle/>
          <a:p>
            <a:r>
              <a:rPr lang="en-US" dirty="0"/>
              <a:t>Linear Search</a:t>
            </a:r>
          </a:p>
          <a:p>
            <a:pPr lvl="1"/>
            <a:r>
              <a:rPr lang="en-US" dirty="0"/>
              <a:t>Time Complexity : O(n) – linear</a:t>
            </a:r>
          </a:p>
          <a:p>
            <a:pPr lvl="1"/>
            <a:r>
              <a:rPr lang="en-US" dirty="0"/>
              <a:t>Space Complexity : O(1) – Constant</a:t>
            </a:r>
          </a:p>
          <a:p>
            <a:r>
              <a:rPr lang="en-US" dirty="0"/>
              <a:t>Binary Search</a:t>
            </a:r>
          </a:p>
          <a:p>
            <a:pPr lvl="1"/>
            <a:r>
              <a:rPr lang="en-US" dirty="0"/>
              <a:t>Time Complexity : O(log n) – Logarithmic</a:t>
            </a:r>
          </a:p>
          <a:p>
            <a:pPr lvl="1"/>
            <a:r>
              <a:rPr lang="en-US" dirty="0"/>
              <a:t>Space Complexity : O(1) – Constant</a:t>
            </a:r>
          </a:p>
          <a:p>
            <a:r>
              <a:rPr lang="en-US" dirty="0"/>
              <a:t>Swap Elements</a:t>
            </a:r>
          </a:p>
          <a:p>
            <a:pPr lvl="1"/>
            <a:r>
              <a:rPr lang="en-US" dirty="0"/>
              <a:t>Time Complexity : O(1) – Constant</a:t>
            </a:r>
          </a:p>
          <a:p>
            <a:pPr lvl="1"/>
            <a:r>
              <a:rPr lang="en-US" dirty="0"/>
              <a:t>Space Complexity : O(1) – Constant</a:t>
            </a:r>
          </a:p>
          <a:p>
            <a:r>
              <a:rPr lang="en-US" dirty="0"/>
              <a:t>Bubble Sort</a:t>
            </a:r>
          </a:p>
          <a:p>
            <a:pPr lvl="1"/>
            <a:r>
              <a:rPr lang="en-US" dirty="0"/>
              <a:t>Time Complexity : O(n^2) – Exponential</a:t>
            </a:r>
          </a:p>
          <a:p>
            <a:pPr lvl="1"/>
            <a:r>
              <a:rPr lang="en-US" dirty="0"/>
              <a:t>Space Complexity : O(1) – Constant</a:t>
            </a:r>
          </a:p>
          <a:p>
            <a:r>
              <a:rPr lang="en-US" dirty="0"/>
              <a:t>Selection Sort</a:t>
            </a:r>
          </a:p>
          <a:p>
            <a:pPr lvl="1"/>
            <a:r>
              <a:rPr lang="en-US" dirty="0"/>
              <a:t>Time Complexity : O(n^2) – Exponential</a:t>
            </a:r>
          </a:p>
          <a:p>
            <a:pPr lvl="1"/>
            <a:r>
              <a:rPr lang="en-US" dirty="0"/>
              <a:t>Space Complexity : O(1) – Constant</a:t>
            </a:r>
          </a:p>
        </p:txBody>
      </p:sp>
      <p:sp>
        <p:nvSpPr>
          <p:cNvPr id="4" name="Slide Number Placeholder 3">
            <a:extLst>
              <a:ext uri="{FF2B5EF4-FFF2-40B4-BE49-F238E27FC236}">
                <a16:creationId xmlns:a16="http://schemas.microsoft.com/office/drawing/2014/main" id="{4067CE73-4EE8-4F69-BE3C-23BE29B15109}"/>
              </a:ext>
            </a:extLst>
          </p:cNvPr>
          <p:cNvSpPr>
            <a:spLocks noGrp="1"/>
          </p:cNvSpPr>
          <p:nvPr>
            <p:ph type="sldNum" sz="quarter" idx="12"/>
          </p:nvPr>
        </p:nvSpPr>
        <p:spPr/>
        <p:txBody>
          <a:bodyPr/>
          <a:lstStyle/>
          <a:p>
            <a:fld id="{F6728BC2-ACA3-447C-A909-F3F49211C066}" type="slidenum">
              <a:rPr lang="en-US" smtClean="0"/>
              <a:pPr/>
              <a:t>39</a:t>
            </a:fld>
            <a:endParaRPr lang="en-US" dirty="0"/>
          </a:p>
        </p:txBody>
      </p:sp>
    </p:spTree>
    <p:extLst>
      <p:ext uri="{BB962C8B-B14F-4D97-AF65-F5344CB8AC3E}">
        <p14:creationId xmlns:p14="http://schemas.microsoft.com/office/powerpoint/2010/main" val="36517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Effect transition="in" filter="fade">
                                      <p:cBhvr>
                                        <p:cTn id="51" dur="500"/>
                                        <p:tgtEl>
                                          <p:spTgt spid="3">
                                            <p:txEl>
                                              <p:pRg st="12" end="1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fade">
                                      <p:cBhvr>
                                        <p:cTn id="54" dur="500"/>
                                        <p:tgtEl>
                                          <p:spTgt spid="3">
                                            <p:txEl>
                                              <p:pRg st="13" end="1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FA10-9A0E-4048-B6E6-64F738AF830A}"/>
              </a:ext>
            </a:extLst>
          </p:cNvPr>
          <p:cNvSpPr>
            <a:spLocks noGrp="1"/>
          </p:cNvSpPr>
          <p:nvPr>
            <p:ph type="title"/>
          </p:nvPr>
        </p:nvSpPr>
        <p:spPr/>
        <p:txBody>
          <a:bodyPr/>
          <a:lstStyle/>
          <a:p>
            <a:r>
              <a:rPr lang="en-US" dirty="0"/>
              <a:t>Algorithm Big-O</a:t>
            </a:r>
          </a:p>
        </p:txBody>
      </p:sp>
      <p:sp>
        <p:nvSpPr>
          <p:cNvPr id="3" name="Content Placeholder 2">
            <a:extLst>
              <a:ext uri="{FF2B5EF4-FFF2-40B4-BE49-F238E27FC236}">
                <a16:creationId xmlns:a16="http://schemas.microsoft.com/office/drawing/2014/main" id="{F299C914-EF41-45C7-AF52-D66AE0E6A46E}"/>
              </a:ext>
            </a:extLst>
          </p:cNvPr>
          <p:cNvSpPr>
            <a:spLocks noGrp="1"/>
          </p:cNvSpPr>
          <p:nvPr>
            <p:ph idx="1"/>
          </p:nvPr>
        </p:nvSpPr>
        <p:spPr>
          <a:xfrm>
            <a:off x="380010" y="1481445"/>
            <a:ext cx="8383980" cy="5247391"/>
          </a:xfrm>
        </p:spPr>
        <p:txBody>
          <a:bodyPr>
            <a:normAutofit fontScale="70000" lnSpcReduction="20000"/>
          </a:bodyPr>
          <a:lstStyle/>
          <a:p>
            <a:r>
              <a:rPr lang="en-US" dirty="0"/>
              <a:t>Merge Sort</a:t>
            </a:r>
          </a:p>
          <a:p>
            <a:pPr lvl="1"/>
            <a:r>
              <a:rPr lang="en-US" dirty="0"/>
              <a:t>Time Complexity : O(n log(n)) – N times logarithm of N</a:t>
            </a:r>
          </a:p>
          <a:p>
            <a:pPr lvl="1"/>
            <a:r>
              <a:rPr lang="en-US" dirty="0"/>
              <a:t>Space Complexity : O(n) – Linear</a:t>
            </a:r>
          </a:p>
          <a:p>
            <a:r>
              <a:rPr lang="en-US" dirty="0"/>
              <a:t>Quick Sort</a:t>
            </a:r>
          </a:p>
          <a:p>
            <a:pPr lvl="1"/>
            <a:r>
              <a:rPr lang="en-US" dirty="0"/>
              <a:t>Time Complexity : O(n^2) – Exponential</a:t>
            </a:r>
          </a:p>
          <a:p>
            <a:pPr lvl="1"/>
            <a:r>
              <a:rPr lang="en-US" dirty="0"/>
              <a:t>Space Complexity : O(n) – Linear</a:t>
            </a:r>
          </a:p>
          <a:p>
            <a:r>
              <a:rPr lang="en-US" dirty="0"/>
              <a:t>Insertion Sort</a:t>
            </a:r>
          </a:p>
          <a:p>
            <a:pPr lvl="1"/>
            <a:r>
              <a:rPr lang="en-US" dirty="0"/>
              <a:t>Time Complexity : O(n^2) – Exponential</a:t>
            </a:r>
          </a:p>
          <a:p>
            <a:pPr lvl="1"/>
            <a:r>
              <a:rPr lang="en-US" dirty="0"/>
              <a:t>Space Complexity : O(1) – Constant</a:t>
            </a:r>
          </a:p>
          <a:p>
            <a:r>
              <a:rPr lang="en-US" dirty="0"/>
              <a:t>Counting Sort</a:t>
            </a:r>
          </a:p>
          <a:p>
            <a:pPr lvl="1"/>
            <a:r>
              <a:rPr lang="en-US" dirty="0"/>
              <a:t>Time Complexity : O(N+K) – Complexity is dependent on the size of the collection and the range of the values within the collection.</a:t>
            </a:r>
          </a:p>
          <a:p>
            <a:pPr lvl="1"/>
            <a:r>
              <a:rPr lang="en-US" dirty="0"/>
              <a:t>Space Complexity : O(k) – Complexity can vary depending on the range different of values. N = number of element. K = range for elements.</a:t>
            </a:r>
          </a:p>
          <a:p>
            <a:pPr lvl="2"/>
            <a:r>
              <a:rPr lang="en-US" dirty="0"/>
              <a:t>N = number of elements</a:t>
            </a:r>
          </a:p>
          <a:p>
            <a:pPr lvl="2"/>
            <a:r>
              <a:rPr lang="en-US" dirty="0"/>
              <a:t>K = Range of elements (largest – smallest)</a:t>
            </a:r>
          </a:p>
          <a:p>
            <a:r>
              <a:rPr lang="en-US" dirty="0"/>
              <a:t>Tim Sort</a:t>
            </a:r>
          </a:p>
          <a:p>
            <a:pPr lvl="1"/>
            <a:r>
              <a:rPr lang="en-US" dirty="0"/>
              <a:t>Time Complexity : O(n log(n)) – N times logarithm of N</a:t>
            </a:r>
          </a:p>
          <a:p>
            <a:pPr lvl="1"/>
            <a:r>
              <a:rPr lang="en-US" dirty="0"/>
              <a:t>Space Complexity : O(1) – Constant</a:t>
            </a:r>
          </a:p>
        </p:txBody>
      </p:sp>
      <p:sp>
        <p:nvSpPr>
          <p:cNvPr id="4" name="Slide Number Placeholder 3">
            <a:extLst>
              <a:ext uri="{FF2B5EF4-FFF2-40B4-BE49-F238E27FC236}">
                <a16:creationId xmlns:a16="http://schemas.microsoft.com/office/drawing/2014/main" id="{4067CE73-4EE8-4F69-BE3C-23BE29B15109}"/>
              </a:ext>
            </a:extLst>
          </p:cNvPr>
          <p:cNvSpPr>
            <a:spLocks noGrp="1"/>
          </p:cNvSpPr>
          <p:nvPr>
            <p:ph type="sldNum" sz="quarter" idx="12"/>
          </p:nvPr>
        </p:nvSpPr>
        <p:spPr/>
        <p:txBody>
          <a:bodyPr/>
          <a:lstStyle/>
          <a:p>
            <a:fld id="{F6728BC2-ACA3-447C-A909-F3F49211C066}" type="slidenum">
              <a:rPr lang="en-US" smtClean="0"/>
              <a:pPr/>
              <a:t>40</a:t>
            </a:fld>
            <a:endParaRPr lang="en-US" dirty="0"/>
          </a:p>
        </p:txBody>
      </p:sp>
    </p:spTree>
    <p:extLst>
      <p:ext uri="{BB962C8B-B14F-4D97-AF65-F5344CB8AC3E}">
        <p14:creationId xmlns:p14="http://schemas.microsoft.com/office/powerpoint/2010/main" val="44261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500"/>
                                        <p:tgtEl>
                                          <p:spTgt spid="3">
                                            <p:txEl>
                                              <p:pRg st="12" end="12"/>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500"/>
                                        <p:tgtEl>
                                          <p:spTgt spid="3">
                                            <p:txEl>
                                              <p:pRg st="14" end="1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15" end="15"/>
                                            </p:txEl>
                                          </p:spTgt>
                                        </p:tgtEl>
                                        <p:attrNameLst>
                                          <p:attrName>style.visibility</p:attrName>
                                        </p:attrNameLst>
                                      </p:cBhvr>
                                      <p:to>
                                        <p:strVal val="visible"/>
                                      </p:to>
                                    </p:set>
                                    <p:animEffect transition="in" filter="fade">
                                      <p:cBhvr>
                                        <p:cTn id="60" dur="500"/>
                                        <p:tgtEl>
                                          <p:spTgt spid="3">
                                            <p:txEl>
                                              <p:pRg st="15" end="1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animEffect transition="in" filter="fade">
                                      <p:cBhvr>
                                        <p:cTn id="63"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F324A5-21DE-4DF5-A0AD-939F79912186}"/>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AF8ACFE5-69E9-479F-8087-1E1259452493}"/>
              </a:ext>
            </a:extLst>
          </p:cNvPr>
          <p:cNvSpPr>
            <a:spLocks noGrp="1"/>
          </p:cNvSpPr>
          <p:nvPr>
            <p:ph type="sldNum" sz="quarter" idx="12"/>
          </p:nvPr>
        </p:nvSpPr>
        <p:spPr/>
        <p:txBody>
          <a:bodyPr/>
          <a:lstStyle/>
          <a:p>
            <a:fld id="{F6728BC2-ACA3-447C-A909-F3F49211C066}" type="slidenum">
              <a:rPr lang="en-US" smtClean="0"/>
              <a:pPr/>
              <a:t>41</a:t>
            </a:fld>
            <a:endParaRPr lang="en-US" dirty="0"/>
          </a:p>
        </p:txBody>
      </p:sp>
    </p:spTree>
    <p:extLst>
      <p:ext uri="{BB962C8B-B14F-4D97-AF65-F5344CB8AC3E}">
        <p14:creationId xmlns:p14="http://schemas.microsoft.com/office/powerpoint/2010/main" val="4241723103"/>
      </p:ext>
    </p:extLst>
  </p:cSld>
  <p:clrMapOvr>
    <a:masterClrMapping/>
  </p:clrMapOvr>
</p:sld>
</file>

<file path=ppt/theme/theme1.xml><?xml version="1.0" encoding="utf-8"?>
<a:theme xmlns:a="http://schemas.openxmlformats.org/drawingml/2006/main" name="2_Custom Design">
  <a:themeElements>
    <a:clrScheme name="Custom 1">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D1474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19997</TotalTime>
  <Words>3095</Words>
  <Application>Microsoft Office PowerPoint</Application>
  <PresentationFormat>On-screen Show (4:3)</PresentationFormat>
  <Paragraphs>437</Paragraphs>
  <Slides>42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Cambria Math</vt:lpstr>
      <vt:lpstr>Courier New</vt:lpstr>
      <vt:lpstr>futura-pt</vt:lpstr>
      <vt:lpstr>2_Custom Design</vt:lpstr>
      <vt:lpstr>Algorithms</vt:lpstr>
      <vt:lpstr>Key Topics</vt:lpstr>
      <vt:lpstr>PowerPoint Presentation</vt:lpstr>
      <vt:lpstr>What are Algorithms?</vt:lpstr>
      <vt:lpstr>Creating Algorithm</vt:lpstr>
      <vt:lpstr>Pseudocode</vt:lpstr>
      <vt:lpstr>Pseudocode – How to…</vt:lpstr>
      <vt:lpstr>Pseudocode - Examples</vt:lpstr>
      <vt:lpstr>Psuedo Code – Palindrome Algorithm</vt:lpstr>
      <vt:lpstr>Practice Makes Perfect</vt:lpstr>
      <vt:lpstr>PowerPoint Presentation</vt:lpstr>
      <vt:lpstr>Measuring Algorithms</vt:lpstr>
      <vt:lpstr>Big-O Notation</vt:lpstr>
      <vt:lpstr>Big-O Notation - Visualized</vt:lpstr>
      <vt:lpstr>Big-O and Math</vt:lpstr>
      <vt:lpstr>Big-O</vt:lpstr>
      <vt:lpstr>PowerPoint Presentation</vt:lpstr>
      <vt:lpstr>Common Algorithms – Linear Search</vt:lpstr>
      <vt:lpstr>Linear Search</vt:lpstr>
      <vt:lpstr>Linear Search (visualization)</vt:lpstr>
      <vt:lpstr>Common Algorithms – Binary Search</vt:lpstr>
      <vt:lpstr>Binary Search</vt:lpstr>
      <vt:lpstr>Binary Search (visualization)</vt:lpstr>
      <vt:lpstr>PowerPoint Presentation</vt:lpstr>
      <vt:lpstr>Common Algorithms – Swapping Elements</vt:lpstr>
      <vt:lpstr>Swap (visualization)</vt:lpstr>
      <vt:lpstr>Common Algorithms – Bubble Sort</vt:lpstr>
      <vt:lpstr>Bubble Sort</vt:lpstr>
      <vt:lpstr>Bubble Sort (visualization)</vt:lpstr>
      <vt:lpstr>Common Algorithms – Selection Sort</vt:lpstr>
      <vt:lpstr>Selection Sort</vt:lpstr>
      <vt:lpstr>Selection Sort (visualization)</vt:lpstr>
      <vt:lpstr>PowerPoint Presentation</vt:lpstr>
      <vt:lpstr>What is Recursion?</vt:lpstr>
      <vt:lpstr>Common Algorithms – Merge Sort</vt:lpstr>
      <vt:lpstr>Merge Sort</vt:lpstr>
      <vt:lpstr>Merge Sort (visualization)</vt:lpstr>
      <vt:lpstr>Merge Sort (visualization)</vt:lpstr>
      <vt:lpstr>More Algorithms…</vt:lpstr>
      <vt:lpstr>Algorithm Big-O</vt:lpstr>
      <vt:lpstr>Algorithm Big-O</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49</cp:revision>
  <cp:lastPrinted>2016-06-20T20:58:50Z</cp:lastPrinted>
  <dcterms:created xsi:type="dcterms:W3CDTF">2016-11-09T18:19:08Z</dcterms:created>
  <dcterms:modified xsi:type="dcterms:W3CDTF">2026-02-13T16:30:25Z</dcterms:modified>
</cp:coreProperties>
</file>