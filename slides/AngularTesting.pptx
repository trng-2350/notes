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25"/>
  </p:notesMasterIdLst>
  <p:handoutMasterIdLst>
    <p:handoutMasterId r:id="rId26"/>
  </p:handoutMasterIdLst>
  <p:sldIdLst>
    <p:sldId id="256" r:id="rId2"/>
    <p:sldId id="343" r:id="rId3"/>
    <p:sldId id="357" r:id="rId4"/>
    <p:sldId id="257" r:id="rId5"/>
    <p:sldId id="359" r:id="rId6"/>
    <p:sldId id="358" r:id="rId7"/>
    <p:sldId id="363" r:id="rId8"/>
    <p:sldId id="366" r:id="rId9"/>
    <p:sldId id="365" r:id="rId10"/>
    <p:sldId id="367" r:id="rId11"/>
    <p:sldId id="360" r:id="rId12"/>
    <p:sldId id="364" r:id="rId13"/>
    <p:sldId id="368" r:id="rId14"/>
    <p:sldId id="370" r:id="rId15"/>
    <p:sldId id="371" r:id="rId16"/>
    <p:sldId id="380" r:id="rId17"/>
    <p:sldId id="372" r:id="rId18"/>
    <p:sldId id="361" r:id="rId19"/>
    <p:sldId id="362" r:id="rId20"/>
    <p:sldId id="378" r:id="rId21"/>
    <p:sldId id="379" r:id="rId22"/>
    <p:sldId id="381" r:id="rId23"/>
    <p:sldId id="377" r:id="rId2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6389" autoAdjust="0"/>
  </p:normalViewPr>
  <p:slideViewPr>
    <p:cSldViewPr snapToGrid="0">
      <p:cViewPr varScale="1">
        <p:scale>
          <a:sx n="95" d="100"/>
          <a:sy n="95" d="100"/>
        </p:scale>
        <p:origin x="204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3/6/2026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3/6/2026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karma-runner.github.io/6.4/config/configuration-file.html"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hyperlink" Target="https://vitest.dev/guide/cli.html" TargetMode="Externa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Testing Angular</a:t>
            </a:r>
          </a:p>
        </p:txBody>
      </p:sp>
      <p:sp>
        <p:nvSpPr>
          <p:cNvPr id="3" name="Subtitle 2"/>
          <p:cNvSpPr>
            <a:spLocks noGrp="1"/>
          </p:cNvSpPr>
          <p:nvPr>
            <p:ph type="subTitle" idx="1"/>
          </p:nvPr>
        </p:nvSpPr>
        <p:spPr/>
        <p:txBody>
          <a:bodyPr/>
          <a:lstStyle/>
          <a:p>
            <a:r>
              <a:rPr lang="en-US" dirty="0"/>
              <a:t>Jasmine &amp; Karma, </a:t>
            </a:r>
            <a:r>
              <a:rPr lang="en-US" dirty="0" err="1"/>
              <a:t>Vitest</a:t>
            </a:r>
            <a:r>
              <a:rPr lang="en-US" dirty="0"/>
              <a:t>, </a:t>
            </a:r>
            <a:r>
              <a:rPr lang="en-US" dirty="0" err="1"/>
              <a:t>TestBed</a:t>
            </a:r>
            <a:endParaRPr lang="en-US" dirty="0"/>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lstStyle/>
          <a:p>
            <a:r>
              <a:rPr lang="en-US" dirty="0"/>
              <a:t>Testing in Angular</a:t>
            </a:r>
          </a:p>
          <a:p>
            <a:r>
              <a:rPr lang="en-US" dirty="0"/>
              <a:t>Jasmine</a:t>
            </a:r>
          </a:p>
          <a:p>
            <a:r>
              <a:rPr lang="en-US" dirty="0"/>
              <a:t>Karma</a:t>
            </a:r>
          </a:p>
          <a:p>
            <a:r>
              <a:rPr lang="en-US" dirty="0" err="1"/>
              <a:t>Vitest</a:t>
            </a:r>
            <a:endParaRPr lang="en-US" dirty="0"/>
          </a:p>
          <a:p>
            <a:r>
              <a:rPr lang="en-US" dirty="0"/>
              <a:t>Angular Utilities - </a:t>
            </a:r>
            <a:r>
              <a:rPr lang="en-US" dirty="0" err="1"/>
              <a:t>TestBed</a:t>
            </a:r>
            <a:endParaRPr lang="en-US" dirty="0"/>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Testing in Angular</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3</a:t>
            </a:fld>
            <a:endParaRPr lang="en-US" dirty="0"/>
          </a:p>
        </p:txBody>
      </p:sp>
      <p:sp>
        <p:nvSpPr>
          <p:cNvPr id="6" name="Content Placeholder 5">
            <a:extLst>
              <a:ext uri="{FF2B5EF4-FFF2-40B4-BE49-F238E27FC236}">
                <a16:creationId xmlns:a16="http://schemas.microsoft.com/office/drawing/2014/main" id="{DEEF6BF5-9707-F5D1-3838-580657495F45}"/>
              </a:ext>
            </a:extLst>
          </p:cNvPr>
          <p:cNvSpPr>
            <a:spLocks noGrp="1"/>
          </p:cNvSpPr>
          <p:nvPr>
            <p:ph idx="1"/>
          </p:nvPr>
        </p:nvSpPr>
        <p:spPr/>
        <p:txBody>
          <a:bodyPr>
            <a:normAutofit fontScale="92500" lnSpcReduction="10000"/>
          </a:bodyPr>
          <a:lstStyle/>
          <a:p>
            <a:r>
              <a:rPr lang="en-US" dirty="0"/>
              <a:t>It is very easy to get started with unit testing for Angular applications</a:t>
            </a:r>
          </a:p>
          <a:p>
            <a:r>
              <a:rPr lang="en-US" dirty="0"/>
              <a:t>If your project was setup using the Angular CLI, everything will be ready for you to start writing tests using </a:t>
            </a:r>
            <a:r>
              <a:rPr lang="en-US" b="1" dirty="0"/>
              <a:t>Jasmine</a:t>
            </a:r>
            <a:r>
              <a:rPr lang="en-US" dirty="0"/>
              <a:t> as the testing framework and </a:t>
            </a:r>
            <a:r>
              <a:rPr lang="en-US" b="1" dirty="0"/>
              <a:t>Karma</a:t>
            </a:r>
            <a:r>
              <a:rPr lang="en-US" dirty="0"/>
              <a:t> as the test runner</a:t>
            </a:r>
          </a:p>
          <a:p>
            <a:pPr lvl="1"/>
            <a:r>
              <a:rPr lang="en-US" dirty="0"/>
              <a:t>Note: As of Angular 16 Karma became deprecated. In Angular 20 it was marked for removal and in Angular 21 it was replaced with </a:t>
            </a:r>
            <a:r>
              <a:rPr lang="en-US" b="1" dirty="0" err="1"/>
              <a:t>Vitest</a:t>
            </a:r>
            <a:r>
              <a:rPr lang="en-US" dirty="0"/>
              <a:t> as the new stable test runner.</a:t>
            </a:r>
          </a:p>
          <a:p>
            <a:r>
              <a:rPr lang="en-US" dirty="0"/>
              <a:t>Angular also provides utilities like </a:t>
            </a:r>
            <a:r>
              <a:rPr lang="en-US" dirty="0" err="1"/>
              <a:t>TestBed</a:t>
            </a:r>
            <a:r>
              <a:rPr lang="en-US" dirty="0"/>
              <a:t> and async to make testing asynchronous code, components, directives or services easier</a:t>
            </a:r>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Unit Testing in Angular</a:t>
            </a:r>
          </a:p>
        </p:txBody>
      </p:sp>
    </p:spTree>
    <p:extLst>
      <p:ext uri="{BB962C8B-B14F-4D97-AF65-F5344CB8AC3E}">
        <p14:creationId xmlns:p14="http://schemas.microsoft.com/office/powerpoint/2010/main" val="3975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671FB-597E-08AF-07B7-B94F81F92B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5AA387-ED78-D1D9-F344-DD99424CEBF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a:t>
            </a:fld>
            <a:endParaRPr lang="en-US"/>
          </a:p>
        </p:txBody>
      </p:sp>
      <p:sp>
        <p:nvSpPr>
          <p:cNvPr id="4" name="Google Shape;212;p15">
            <a:extLst>
              <a:ext uri="{FF2B5EF4-FFF2-40B4-BE49-F238E27FC236}">
                <a16:creationId xmlns:a16="http://schemas.microsoft.com/office/drawing/2014/main" id="{99AC15AB-F098-1B3F-97E6-61A8C79C1F1A}"/>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Jasmine</a:t>
            </a:r>
          </a:p>
        </p:txBody>
      </p:sp>
      <p:pic>
        <p:nvPicPr>
          <p:cNvPr id="6" name="Picture 5">
            <a:extLst>
              <a:ext uri="{FF2B5EF4-FFF2-40B4-BE49-F238E27FC236}">
                <a16:creationId xmlns:a16="http://schemas.microsoft.com/office/drawing/2014/main" id="{81CA7970-AECC-32EC-4005-A06305A56C8C}"/>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65851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256E-A6B8-4318-687B-69D155425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5927B4-3CAD-E7D5-8B30-239734B3C6EB}"/>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
        <p:nvSpPr>
          <p:cNvPr id="6" name="Content Placeholder 5">
            <a:extLst>
              <a:ext uri="{FF2B5EF4-FFF2-40B4-BE49-F238E27FC236}">
                <a16:creationId xmlns:a16="http://schemas.microsoft.com/office/drawing/2014/main" id="{580DA54A-1A10-25D3-DF70-08ADD85C3622}"/>
              </a:ext>
            </a:extLst>
          </p:cNvPr>
          <p:cNvSpPr>
            <a:spLocks noGrp="1"/>
          </p:cNvSpPr>
          <p:nvPr>
            <p:ph idx="1"/>
          </p:nvPr>
        </p:nvSpPr>
        <p:spPr/>
        <p:txBody>
          <a:bodyPr>
            <a:normAutofit/>
          </a:bodyPr>
          <a:lstStyle/>
          <a:p>
            <a:r>
              <a:rPr lang="en-US" dirty="0"/>
              <a:t>Jasmine is a popular testing framework for creating Behavior Driven Development (BDD) unit tests</a:t>
            </a:r>
          </a:p>
          <a:p>
            <a:r>
              <a:rPr lang="en-US" dirty="0"/>
              <a:t>Jasmine provides utilities that can be used to run automated tests for both synchronous and asynchronous code.</a:t>
            </a:r>
          </a:p>
          <a:p>
            <a:r>
              <a:rPr lang="en-US" dirty="0"/>
              <a:t>Jasmine is the equivalent to ‘Junit’ + ‘</a:t>
            </a:r>
            <a:r>
              <a:rPr lang="en-US" dirty="0" err="1"/>
              <a:t>AssertJ</a:t>
            </a:r>
            <a:r>
              <a:rPr lang="en-US" dirty="0"/>
              <a:t>’ rolled into one.</a:t>
            </a:r>
          </a:p>
        </p:txBody>
      </p:sp>
      <p:sp>
        <p:nvSpPr>
          <p:cNvPr id="8" name="Title 7">
            <a:extLst>
              <a:ext uri="{FF2B5EF4-FFF2-40B4-BE49-F238E27FC236}">
                <a16:creationId xmlns:a16="http://schemas.microsoft.com/office/drawing/2014/main" id="{84526620-5BDA-B807-887D-D16A5C1435AC}"/>
              </a:ext>
            </a:extLst>
          </p:cNvPr>
          <p:cNvSpPr>
            <a:spLocks noGrp="1"/>
          </p:cNvSpPr>
          <p:nvPr>
            <p:ph type="title"/>
          </p:nvPr>
        </p:nvSpPr>
        <p:spPr/>
        <p:txBody>
          <a:bodyPr/>
          <a:lstStyle/>
          <a:p>
            <a:r>
              <a:rPr lang="en-US" dirty="0"/>
              <a:t>Jasmine</a:t>
            </a:r>
          </a:p>
        </p:txBody>
      </p:sp>
    </p:spTree>
    <p:extLst>
      <p:ext uri="{BB962C8B-B14F-4D97-AF65-F5344CB8AC3E}">
        <p14:creationId xmlns:p14="http://schemas.microsoft.com/office/powerpoint/2010/main" val="258702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02BA-B692-35C4-91DE-28A649FF0E1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E92EB5-A046-47AB-3116-DCF2A1ABCD6A}"/>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
        <p:nvSpPr>
          <p:cNvPr id="6" name="Content Placeholder 5">
            <a:extLst>
              <a:ext uri="{FF2B5EF4-FFF2-40B4-BE49-F238E27FC236}">
                <a16:creationId xmlns:a16="http://schemas.microsoft.com/office/drawing/2014/main" id="{EC00BEC5-A81B-274A-14FC-D9042A4A2952}"/>
              </a:ext>
            </a:extLst>
          </p:cNvPr>
          <p:cNvSpPr>
            <a:spLocks noGrp="1"/>
          </p:cNvSpPr>
          <p:nvPr>
            <p:ph idx="1"/>
          </p:nvPr>
        </p:nvSpPr>
        <p:spPr/>
        <p:txBody>
          <a:bodyPr>
            <a:normAutofit fontScale="85000" lnSpcReduction="10000"/>
          </a:bodyPr>
          <a:lstStyle/>
          <a:p>
            <a:r>
              <a:rPr lang="en-US" dirty="0"/>
              <a:t>Fast and low overhead with no external dependencies</a:t>
            </a:r>
          </a:p>
          <a:p>
            <a:r>
              <a:rPr lang="en-US" dirty="0"/>
              <a:t>Human-readable syntax using describe() and it() blocks</a:t>
            </a:r>
          </a:p>
          <a:p>
            <a:r>
              <a:rPr lang="en-US" dirty="0"/>
              <a:t>Available for both Node and the browser</a:t>
            </a:r>
          </a:p>
          <a:p>
            <a:r>
              <a:rPr lang="en-US" dirty="0"/>
              <a:t>Can be used with other languages like Python &amp; Ruby</a:t>
            </a:r>
          </a:p>
          <a:p>
            <a:r>
              <a:rPr lang="en-US" dirty="0"/>
              <a:t>Does not require the DOM</a:t>
            </a:r>
          </a:p>
          <a:p>
            <a:r>
              <a:rPr lang="en-US" dirty="0"/>
              <a:t>Provides clean and easy way to understand syntax and also a rich, straightforward API</a:t>
            </a:r>
          </a:p>
          <a:p>
            <a:r>
              <a:rPr lang="en-US" dirty="0"/>
              <a:t>Built-in spy/mock system</a:t>
            </a:r>
          </a:p>
          <a:p>
            <a:r>
              <a:rPr lang="en-US" dirty="0"/>
              <a:t>We can use natural language to describe the tests and the expected results</a:t>
            </a:r>
          </a:p>
        </p:txBody>
      </p:sp>
      <p:sp>
        <p:nvSpPr>
          <p:cNvPr id="8" name="Title 7">
            <a:extLst>
              <a:ext uri="{FF2B5EF4-FFF2-40B4-BE49-F238E27FC236}">
                <a16:creationId xmlns:a16="http://schemas.microsoft.com/office/drawing/2014/main" id="{D69B3FD6-250B-7ABB-2E9E-C0DF454D7304}"/>
              </a:ext>
            </a:extLst>
          </p:cNvPr>
          <p:cNvSpPr>
            <a:spLocks noGrp="1"/>
          </p:cNvSpPr>
          <p:nvPr>
            <p:ph type="title"/>
          </p:nvPr>
        </p:nvSpPr>
        <p:spPr/>
        <p:txBody>
          <a:bodyPr/>
          <a:lstStyle/>
          <a:p>
            <a:r>
              <a:rPr lang="en-US" dirty="0"/>
              <a:t>Jasmine Features</a:t>
            </a:r>
          </a:p>
        </p:txBody>
      </p:sp>
    </p:spTree>
    <p:extLst>
      <p:ext uri="{BB962C8B-B14F-4D97-AF65-F5344CB8AC3E}">
        <p14:creationId xmlns:p14="http://schemas.microsoft.com/office/powerpoint/2010/main" val="33772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286F-B90D-904C-0BD2-EC67571A92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ADE4A9-7CFA-73F3-0CE0-95063B8DBD67}"/>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6" name="Content Placeholder 5">
            <a:extLst>
              <a:ext uri="{FF2B5EF4-FFF2-40B4-BE49-F238E27FC236}">
                <a16:creationId xmlns:a16="http://schemas.microsoft.com/office/drawing/2014/main" id="{D522071F-58F1-CC14-D156-690ED01B84AA}"/>
              </a:ext>
            </a:extLst>
          </p:cNvPr>
          <p:cNvSpPr>
            <a:spLocks noGrp="1"/>
          </p:cNvSpPr>
          <p:nvPr>
            <p:ph idx="1"/>
          </p:nvPr>
        </p:nvSpPr>
        <p:spPr/>
        <p:txBody>
          <a:bodyPr>
            <a:normAutofit/>
          </a:bodyPr>
          <a:lstStyle/>
          <a:p>
            <a:r>
              <a:rPr lang="en-US" b="1" dirty="0"/>
              <a:t>describe()</a:t>
            </a:r>
            <a:r>
              <a:rPr lang="en-US" dirty="0"/>
              <a:t> – function used to define the test suite. </a:t>
            </a:r>
          </a:p>
          <a:p>
            <a:r>
              <a:rPr lang="en-US" b="1" dirty="0" err="1"/>
              <a:t>beforeEach</a:t>
            </a:r>
            <a:r>
              <a:rPr lang="en-US" b="1" dirty="0"/>
              <a:t>()</a:t>
            </a:r>
            <a:r>
              <a:rPr lang="en-US" dirty="0"/>
              <a:t> – setup function to run before each test</a:t>
            </a:r>
          </a:p>
          <a:p>
            <a:r>
              <a:rPr lang="en-US" b="1" dirty="0" err="1"/>
              <a:t>afterEach</a:t>
            </a:r>
            <a:r>
              <a:rPr lang="en-US" b="1" dirty="0"/>
              <a:t>()</a:t>
            </a:r>
            <a:r>
              <a:rPr lang="en-US" dirty="0"/>
              <a:t> – teardown/clean-up function to run after each test</a:t>
            </a:r>
          </a:p>
          <a:p>
            <a:r>
              <a:rPr lang="en-US" b="1" dirty="0"/>
              <a:t>it()</a:t>
            </a:r>
            <a:r>
              <a:rPr lang="en-US" dirty="0"/>
              <a:t> – (Individual Test) – details of each test.</a:t>
            </a:r>
          </a:p>
          <a:p>
            <a:pPr lvl="1"/>
            <a:r>
              <a:rPr lang="en-US" dirty="0"/>
              <a:t>it() takes a string that explains the expected behavior, followed by a function which tests it.</a:t>
            </a:r>
          </a:p>
          <a:p>
            <a:pPr lvl="1"/>
            <a:endParaRPr lang="en-US" dirty="0"/>
          </a:p>
        </p:txBody>
      </p:sp>
      <p:sp>
        <p:nvSpPr>
          <p:cNvPr id="8" name="Title 7">
            <a:extLst>
              <a:ext uri="{FF2B5EF4-FFF2-40B4-BE49-F238E27FC236}">
                <a16:creationId xmlns:a16="http://schemas.microsoft.com/office/drawing/2014/main" id="{C32B234C-8326-FED4-5791-F67DAE752032}"/>
              </a:ext>
            </a:extLst>
          </p:cNvPr>
          <p:cNvSpPr>
            <a:spLocks noGrp="1"/>
          </p:cNvSpPr>
          <p:nvPr>
            <p:ph type="title"/>
          </p:nvPr>
        </p:nvSpPr>
        <p:spPr/>
        <p:txBody>
          <a:bodyPr/>
          <a:lstStyle/>
          <a:p>
            <a:r>
              <a:rPr lang="en-US" dirty="0"/>
              <a:t>Jasmine Functions</a:t>
            </a:r>
          </a:p>
        </p:txBody>
      </p:sp>
    </p:spTree>
    <p:extLst>
      <p:ext uri="{BB962C8B-B14F-4D97-AF65-F5344CB8AC3E}">
        <p14:creationId xmlns:p14="http://schemas.microsoft.com/office/powerpoint/2010/main" val="100540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A820A-716C-7766-D976-49BB4D88DCE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1DE0A2-0F16-841F-A022-CD7452E0C1C6}"/>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
        <p:nvSpPr>
          <p:cNvPr id="8" name="Title 7">
            <a:extLst>
              <a:ext uri="{FF2B5EF4-FFF2-40B4-BE49-F238E27FC236}">
                <a16:creationId xmlns:a16="http://schemas.microsoft.com/office/drawing/2014/main" id="{2F5F0554-96EA-91DB-D05B-FCF5463102FF}"/>
              </a:ext>
            </a:extLst>
          </p:cNvPr>
          <p:cNvSpPr>
            <a:spLocks noGrp="1"/>
          </p:cNvSpPr>
          <p:nvPr>
            <p:ph type="title"/>
          </p:nvPr>
        </p:nvSpPr>
        <p:spPr/>
        <p:txBody>
          <a:bodyPr/>
          <a:lstStyle/>
          <a:p>
            <a:r>
              <a:rPr lang="en-US" dirty="0"/>
              <a:t>Jasmine Example</a:t>
            </a:r>
          </a:p>
        </p:txBody>
      </p:sp>
      <p:pic>
        <p:nvPicPr>
          <p:cNvPr id="6" name="Picture 5">
            <a:extLst>
              <a:ext uri="{FF2B5EF4-FFF2-40B4-BE49-F238E27FC236}">
                <a16:creationId xmlns:a16="http://schemas.microsoft.com/office/drawing/2014/main" id="{6FD16944-4D16-64C1-3923-AA3E9BD61C48}"/>
              </a:ext>
            </a:extLst>
          </p:cNvPr>
          <p:cNvPicPr>
            <a:picLocks noChangeAspect="1"/>
          </p:cNvPicPr>
          <p:nvPr/>
        </p:nvPicPr>
        <p:blipFill>
          <a:blip r:embed="rId2"/>
          <a:stretch>
            <a:fillRect/>
          </a:stretch>
        </p:blipFill>
        <p:spPr>
          <a:xfrm>
            <a:off x="1885575" y="1361308"/>
            <a:ext cx="5372850" cy="5496692"/>
          </a:xfrm>
          <a:prstGeom prst="rect">
            <a:avLst/>
          </a:prstGeom>
        </p:spPr>
      </p:pic>
    </p:spTree>
    <p:extLst>
      <p:ext uri="{BB962C8B-B14F-4D97-AF65-F5344CB8AC3E}">
        <p14:creationId xmlns:p14="http://schemas.microsoft.com/office/powerpoint/2010/main" val="2069709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DC2B-FFC8-B51B-BED8-992785CD681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1D209B-30A2-1985-3CBA-FC92A5935781}"/>
              </a:ext>
            </a:extLst>
          </p:cNvPr>
          <p:cNvSpPr>
            <a:spLocks noGrp="1"/>
          </p:cNvSpPr>
          <p:nvPr>
            <p:ph type="sldNum" sz="quarter" idx="12"/>
          </p:nvPr>
        </p:nvSpPr>
        <p:spPr/>
        <p:txBody>
          <a:bodyPr/>
          <a:lstStyle/>
          <a:p>
            <a:fld id="{F6728BC2-ACA3-447C-A909-F3F49211C066}" type="slidenum">
              <a:rPr lang="en-US" smtClean="0"/>
              <a:pPr/>
              <a:t>9</a:t>
            </a:fld>
            <a:endParaRPr lang="en-US" dirty="0"/>
          </a:p>
        </p:txBody>
      </p:sp>
      <p:sp>
        <p:nvSpPr>
          <p:cNvPr id="6" name="Content Placeholder 5">
            <a:extLst>
              <a:ext uri="{FF2B5EF4-FFF2-40B4-BE49-F238E27FC236}">
                <a16:creationId xmlns:a16="http://schemas.microsoft.com/office/drawing/2014/main" id="{F164B245-0701-39F7-2D12-9E359D4251B2}"/>
              </a:ext>
            </a:extLst>
          </p:cNvPr>
          <p:cNvSpPr>
            <a:spLocks noGrp="1"/>
          </p:cNvSpPr>
          <p:nvPr>
            <p:ph idx="1"/>
          </p:nvPr>
        </p:nvSpPr>
        <p:spPr/>
        <p:txBody>
          <a:bodyPr>
            <a:normAutofit/>
          </a:bodyPr>
          <a:lstStyle/>
          <a:p>
            <a:r>
              <a:rPr lang="en-US" dirty="0"/>
              <a:t>Within your test [it()] you can declare assertion methods, which are chained after ‘expect()’. Belo you can see the common jasmine matchers</a:t>
            </a:r>
          </a:p>
          <a:p>
            <a:pPr lvl="1"/>
            <a:endParaRPr lang="en-US" dirty="0"/>
          </a:p>
        </p:txBody>
      </p:sp>
      <p:sp>
        <p:nvSpPr>
          <p:cNvPr id="8" name="Title 7">
            <a:extLst>
              <a:ext uri="{FF2B5EF4-FFF2-40B4-BE49-F238E27FC236}">
                <a16:creationId xmlns:a16="http://schemas.microsoft.com/office/drawing/2014/main" id="{418D0210-7ED4-CE5F-B472-881A9772AB80}"/>
              </a:ext>
            </a:extLst>
          </p:cNvPr>
          <p:cNvSpPr>
            <a:spLocks noGrp="1"/>
          </p:cNvSpPr>
          <p:nvPr>
            <p:ph type="title"/>
          </p:nvPr>
        </p:nvSpPr>
        <p:spPr/>
        <p:txBody>
          <a:bodyPr/>
          <a:lstStyle/>
          <a:p>
            <a:r>
              <a:rPr lang="en-US" dirty="0"/>
              <a:t>Jasmine Matchers (Assertions)</a:t>
            </a:r>
          </a:p>
        </p:txBody>
      </p:sp>
      <p:graphicFrame>
        <p:nvGraphicFramePr>
          <p:cNvPr id="2" name="Table 1">
            <a:extLst>
              <a:ext uri="{FF2B5EF4-FFF2-40B4-BE49-F238E27FC236}">
                <a16:creationId xmlns:a16="http://schemas.microsoft.com/office/drawing/2014/main" id="{504911CC-2CBF-8B7F-343A-FEAD94B778B8}"/>
              </a:ext>
            </a:extLst>
          </p:cNvPr>
          <p:cNvGraphicFramePr>
            <a:graphicFrameLocks noGrp="1"/>
          </p:cNvGraphicFramePr>
          <p:nvPr>
            <p:extLst>
              <p:ext uri="{D42A27DB-BD31-4B8C-83A1-F6EECF244321}">
                <p14:modId xmlns:p14="http://schemas.microsoft.com/office/powerpoint/2010/main" val="1349746394"/>
              </p:ext>
            </p:extLst>
          </p:nvPr>
        </p:nvGraphicFramePr>
        <p:xfrm>
          <a:off x="715878" y="2914300"/>
          <a:ext cx="7837714" cy="3708400"/>
        </p:xfrm>
        <a:graphic>
          <a:graphicData uri="http://schemas.openxmlformats.org/drawingml/2006/table">
            <a:tbl>
              <a:tblPr firstRow="1" bandRow="1">
                <a:tableStyleId>{5C22544A-7EE6-4342-B048-85BDC9FD1C3A}</a:tableStyleId>
              </a:tblPr>
              <a:tblGrid>
                <a:gridCol w="2873830">
                  <a:extLst>
                    <a:ext uri="{9D8B030D-6E8A-4147-A177-3AD203B41FA5}">
                      <a16:colId xmlns:a16="http://schemas.microsoft.com/office/drawing/2014/main" val="2098668599"/>
                    </a:ext>
                  </a:extLst>
                </a:gridCol>
                <a:gridCol w="4963884">
                  <a:extLst>
                    <a:ext uri="{9D8B030D-6E8A-4147-A177-3AD203B41FA5}">
                      <a16:colId xmlns:a16="http://schemas.microsoft.com/office/drawing/2014/main" val="307750256"/>
                    </a:ext>
                  </a:extLst>
                </a:gridCol>
              </a:tblGrid>
              <a:tr h="370840">
                <a:tc>
                  <a:txBody>
                    <a:bodyPr/>
                    <a:lstStyle/>
                    <a:p>
                      <a:r>
                        <a:rPr lang="en-US" dirty="0"/>
                        <a:t>Jamine Matcher</a:t>
                      </a:r>
                    </a:p>
                  </a:txBody>
                  <a:tcPr/>
                </a:tc>
                <a:tc>
                  <a:txBody>
                    <a:bodyPr/>
                    <a:lstStyle/>
                    <a:p>
                      <a:r>
                        <a:rPr lang="en-US" dirty="0"/>
                        <a:t>What is checks</a:t>
                      </a:r>
                    </a:p>
                  </a:txBody>
                  <a:tcPr/>
                </a:tc>
                <a:extLst>
                  <a:ext uri="{0D108BD9-81ED-4DB2-BD59-A6C34878D82A}">
                    <a16:rowId xmlns:a16="http://schemas.microsoft.com/office/drawing/2014/main" val="1513936656"/>
                  </a:ext>
                </a:extLst>
              </a:tr>
              <a:tr h="370840">
                <a:tc>
                  <a:txBody>
                    <a:bodyPr/>
                    <a:lstStyle/>
                    <a:p>
                      <a:r>
                        <a:rPr lang="en-US" dirty="0" err="1"/>
                        <a:t>toBe</a:t>
                      </a:r>
                      <a:r>
                        <a:rPr lang="en-US" dirty="0"/>
                        <a:t>(value)</a:t>
                      </a:r>
                    </a:p>
                  </a:txBody>
                  <a:tcPr/>
                </a:tc>
                <a:tc>
                  <a:txBody>
                    <a:bodyPr/>
                    <a:lstStyle/>
                    <a:p>
                      <a:r>
                        <a:rPr lang="en-US" dirty="0"/>
                        <a:t>Strict Equality (===)</a:t>
                      </a:r>
                    </a:p>
                  </a:txBody>
                  <a:tcPr/>
                </a:tc>
                <a:extLst>
                  <a:ext uri="{0D108BD9-81ED-4DB2-BD59-A6C34878D82A}">
                    <a16:rowId xmlns:a16="http://schemas.microsoft.com/office/drawing/2014/main" val="3968654503"/>
                  </a:ext>
                </a:extLst>
              </a:tr>
              <a:tr h="370840">
                <a:tc>
                  <a:txBody>
                    <a:bodyPr/>
                    <a:lstStyle/>
                    <a:p>
                      <a:r>
                        <a:rPr lang="en-US" dirty="0" err="1"/>
                        <a:t>toEqual</a:t>
                      </a:r>
                      <a:r>
                        <a:rPr lang="en-US" dirty="0"/>
                        <a:t>(obj)</a:t>
                      </a:r>
                    </a:p>
                  </a:txBody>
                  <a:tcPr/>
                </a:tc>
                <a:tc>
                  <a:txBody>
                    <a:bodyPr/>
                    <a:lstStyle/>
                    <a:p>
                      <a:r>
                        <a:rPr lang="en-US" dirty="0"/>
                        <a:t>object value contents</a:t>
                      </a:r>
                    </a:p>
                  </a:txBody>
                  <a:tcPr/>
                </a:tc>
                <a:extLst>
                  <a:ext uri="{0D108BD9-81ED-4DB2-BD59-A6C34878D82A}">
                    <a16:rowId xmlns:a16="http://schemas.microsoft.com/office/drawing/2014/main" val="1558576134"/>
                  </a:ext>
                </a:extLst>
              </a:tr>
              <a:tr h="370840">
                <a:tc>
                  <a:txBody>
                    <a:bodyPr/>
                    <a:lstStyle/>
                    <a:p>
                      <a:r>
                        <a:rPr lang="en-US" dirty="0" err="1"/>
                        <a:t>toBeTruthy</a:t>
                      </a:r>
                      <a:r>
                        <a:rPr lang="en-US" dirty="0"/>
                        <a:t>()</a:t>
                      </a:r>
                    </a:p>
                  </a:txBody>
                  <a:tcPr/>
                </a:tc>
                <a:tc>
                  <a:txBody>
                    <a:bodyPr/>
                    <a:lstStyle/>
                    <a:p>
                      <a:r>
                        <a:rPr lang="en-US" dirty="0"/>
                        <a:t>Value is truthy</a:t>
                      </a:r>
                    </a:p>
                  </a:txBody>
                  <a:tcPr/>
                </a:tc>
                <a:extLst>
                  <a:ext uri="{0D108BD9-81ED-4DB2-BD59-A6C34878D82A}">
                    <a16:rowId xmlns:a16="http://schemas.microsoft.com/office/drawing/2014/main" val="3748012782"/>
                  </a:ext>
                </a:extLst>
              </a:tr>
              <a:tr h="370840">
                <a:tc>
                  <a:txBody>
                    <a:bodyPr/>
                    <a:lstStyle/>
                    <a:p>
                      <a:r>
                        <a:rPr lang="en-US" dirty="0" err="1"/>
                        <a:t>toBeFalsy</a:t>
                      </a:r>
                      <a:r>
                        <a:rPr lang="en-US" dirty="0"/>
                        <a:t>()</a:t>
                      </a:r>
                    </a:p>
                  </a:txBody>
                  <a:tcPr/>
                </a:tc>
                <a:tc>
                  <a:txBody>
                    <a:bodyPr/>
                    <a:lstStyle/>
                    <a:p>
                      <a:r>
                        <a:rPr lang="en-US" dirty="0"/>
                        <a:t>Value is </a:t>
                      </a:r>
                      <a:r>
                        <a:rPr lang="en-US" dirty="0" err="1"/>
                        <a:t>falsy</a:t>
                      </a:r>
                      <a:endParaRPr lang="en-US" dirty="0"/>
                    </a:p>
                  </a:txBody>
                  <a:tcPr/>
                </a:tc>
                <a:extLst>
                  <a:ext uri="{0D108BD9-81ED-4DB2-BD59-A6C34878D82A}">
                    <a16:rowId xmlns:a16="http://schemas.microsoft.com/office/drawing/2014/main" val="377717084"/>
                  </a:ext>
                </a:extLst>
              </a:tr>
              <a:tr h="370840">
                <a:tc>
                  <a:txBody>
                    <a:bodyPr/>
                    <a:lstStyle/>
                    <a:p>
                      <a:r>
                        <a:rPr lang="en-US" dirty="0" err="1"/>
                        <a:t>toBeNull</a:t>
                      </a:r>
                      <a:endParaRPr lang="en-US" dirty="0"/>
                    </a:p>
                  </a:txBody>
                  <a:tcPr/>
                </a:tc>
                <a:tc>
                  <a:txBody>
                    <a:bodyPr/>
                    <a:lstStyle/>
                    <a:p>
                      <a:r>
                        <a:rPr lang="en-US" dirty="0"/>
                        <a:t>Value is null</a:t>
                      </a:r>
                    </a:p>
                  </a:txBody>
                  <a:tcPr/>
                </a:tc>
                <a:extLst>
                  <a:ext uri="{0D108BD9-81ED-4DB2-BD59-A6C34878D82A}">
                    <a16:rowId xmlns:a16="http://schemas.microsoft.com/office/drawing/2014/main" val="3627422519"/>
                  </a:ext>
                </a:extLst>
              </a:tr>
              <a:tr h="370840">
                <a:tc>
                  <a:txBody>
                    <a:bodyPr/>
                    <a:lstStyle/>
                    <a:p>
                      <a:r>
                        <a:rPr lang="en-US" dirty="0" err="1"/>
                        <a:t>toBeUndefined</a:t>
                      </a:r>
                      <a:r>
                        <a:rPr lang="en-US" dirty="0"/>
                        <a:t>()</a:t>
                      </a:r>
                    </a:p>
                  </a:txBody>
                  <a:tcPr/>
                </a:tc>
                <a:tc>
                  <a:txBody>
                    <a:bodyPr/>
                    <a:lstStyle/>
                    <a:p>
                      <a:r>
                        <a:rPr lang="en-US" dirty="0"/>
                        <a:t>Value is undefined</a:t>
                      </a:r>
                    </a:p>
                  </a:txBody>
                  <a:tcPr/>
                </a:tc>
                <a:extLst>
                  <a:ext uri="{0D108BD9-81ED-4DB2-BD59-A6C34878D82A}">
                    <a16:rowId xmlns:a16="http://schemas.microsoft.com/office/drawing/2014/main" val="3242166089"/>
                  </a:ext>
                </a:extLst>
              </a:tr>
              <a:tr h="370840">
                <a:tc>
                  <a:txBody>
                    <a:bodyPr/>
                    <a:lstStyle/>
                    <a:p>
                      <a:r>
                        <a:rPr lang="en-US" dirty="0" err="1"/>
                        <a:t>toContain</a:t>
                      </a:r>
                      <a:r>
                        <a:rPr lang="en-US" dirty="0"/>
                        <a:t>(item)</a:t>
                      </a:r>
                    </a:p>
                  </a:txBody>
                  <a:tcPr/>
                </a:tc>
                <a:tc>
                  <a:txBody>
                    <a:bodyPr/>
                    <a:lstStyle/>
                    <a:p>
                      <a:r>
                        <a:rPr lang="en-US" dirty="0"/>
                        <a:t>Array/string contains item</a:t>
                      </a:r>
                    </a:p>
                  </a:txBody>
                  <a:tcPr/>
                </a:tc>
                <a:extLst>
                  <a:ext uri="{0D108BD9-81ED-4DB2-BD59-A6C34878D82A}">
                    <a16:rowId xmlns:a16="http://schemas.microsoft.com/office/drawing/2014/main" val="491227287"/>
                  </a:ext>
                </a:extLst>
              </a:tr>
              <a:tr h="370840">
                <a:tc>
                  <a:txBody>
                    <a:bodyPr/>
                    <a:lstStyle/>
                    <a:p>
                      <a:r>
                        <a:rPr lang="en-US" dirty="0" err="1"/>
                        <a:t>toThrow</a:t>
                      </a:r>
                      <a:r>
                        <a:rPr lang="en-US" dirty="0"/>
                        <a:t>()</a:t>
                      </a:r>
                    </a:p>
                  </a:txBody>
                  <a:tcPr/>
                </a:tc>
                <a:tc>
                  <a:txBody>
                    <a:bodyPr/>
                    <a:lstStyle/>
                    <a:p>
                      <a:r>
                        <a:rPr lang="en-US" dirty="0"/>
                        <a:t>Function throws an error</a:t>
                      </a:r>
                    </a:p>
                  </a:txBody>
                  <a:tcPr/>
                </a:tc>
                <a:extLst>
                  <a:ext uri="{0D108BD9-81ED-4DB2-BD59-A6C34878D82A}">
                    <a16:rowId xmlns:a16="http://schemas.microsoft.com/office/drawing/2014/main" val="1819608922"/>
                  </a:ext>
                </a:extLst>
              </a:tr>
              <a:tr h="370840">
                <a:tc>
                  <a:txBody>
                    <a:bodyPr/>
                    <a:lstStyle/>
                    <a:p>
                      <a:r>
                        <a:rPr lang="en-US" dirty="0" err="1"/>
                        <a:t>toHaveBeenCalled</a:t>
                      </a:r>
                      <a:r>
                        <a:rPr lang="en-US" dirty="0"/>
                        <a:t>()</a:t>
                      </a:r>
                    </a:p>
                  </a:txBody>
                  <a:tcPr/>
                </a:tc>
                <a:tc>
                  <a:txBody>
                    <a:bodyPr/>
                    <a:lstStyle/>
                    <a:p>
                      <a:r>
                        <a:rPr lang="en-US" dirty="0"/>
                        <a:t>Spy (mocking) was invoked at least once</a:t>
                      </a:r>
                    </a:p>
                  </a:txBody>
                  <a:tcPr/>
                </a:tc>
                <a:extLst>
                  <a:ext uri="{0D108BD9-81ED-4DB2-BD59-A6C34878D82A}">
                    <a16:rowId xmlns:a16="http://schemas.microsoft.com/office/drawing/2014/main" val="564128836"/>
                  </a:ext>
                </a:extLst>
              </a:tr>
            </a:tbl>
          </a:graphicData>
        </a:graphic>
      </p:graphicFrame>
    </p:spTree>
    <p:extLst>
      <p:ext uri="{BB962C8B-B14F-4D97-AF65-F5344CB8AC3E}">
        <p14:creationId xmlns:p14="http://schemas.microsoft.com/office/powerpoint/2010/main" val="3179218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A392-28A2-3140-6896-EE8B222D49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68419C-D3C5-EFD9-07C9-6CC4A1D3AFE2}"/>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6" name="Content Placeholder 5">
            <a:extLst>
              <a:ext uri="{FF2B5EF4-FFF2-40B4-BE49-F238E27FC236}">
                <a16:creationId xmlns:a16="http://schemas.microsoft.com/office/drawing/2014/main" id="{ADCE12AF-D5BF-B784-ED7F-D445AA0A4BBF}"/>
              </a:ext>
            </a:extLst>
          </p:cNvPr>
          <p:cNvSpPr>
            <a:spLocks noGrp="1"/>
          </p:cNvSpPr>
          <p:nvPr>
            <p:ph idx="1"/>
          </p:nvPr>
        </p:nvSpPr>
        <p:spPr/>
        <p:txBody>
          <a:bodyPr>
            <a:normAutofit/>
          </a:bodyPr>
          <a:lstStyle/>
          <a:p>
            <a:r>
              <a:rPr lang="en-US" dirty="0"/>
              <a:t>Spies are the Jasmine equivalent to Mockito mocks.</a:t>
            </a:r>
          </a:p>
          <a:p>
            <a:r>
              <a:rPr lang="en-US" dirty="0"/>
              <a:t>A spy intercepts calls to a function so you can control what it returns, verify it was called, and check what arguments it received – without executing the real implementation.</a:t>
            </a:r>
          </a:p>
          <a:p>
            <a:endParaRPr lang="en-US" dirty="0"/>
          </a:p>
        </p:txBody>
      </p:sp>
      <p:sp>
        <p:nvSpPr>
          <p:cNvPr id="8" name="Title 7">
            <a:extLst>
              <a:ext uri="{FF2B5EF4-FFF2-40B4-BE49-F238E27FC236}">
                <a16:creationId xmlns:a16="http://schemas.microsoft.com/office/drawing/2014/main" id="{37502DA9-C18E-7067-67BF-07490F72FCC1}"/>
              </a:ext>
            </a:extLst>
          </p:cNvPr>
          <p:cNvSpPr>
            <a:spLocks noGrp="1"/>
          </p:cNvSpPr>
          <p:nvPr>
            <p:ph type="title"/>
          </p:nvPr>
        </p:nvSpPr>
        <p:spPr/>
        <p:txBody>
          <a:bodyPr/>
          <a:lstStyle/>
          <a:p>
            <a:r>
              <a:rPr lang="en-US" dirty="0"/>
              <a:t>Spies – Jasmine Mocking</a:t>
            </a:r>
          </a:p>
        </p:txBody>
      </p:sp>
      <p:pic>
        <p:nvPicPr>
          <p:cNvPr id="5" name="Picture 4">
            <a:extLst>
              <a:ext uri="{FF2B5EF4-FFF2-40B4-BE49-F238E27FC236}">
                <a16:creationId xmlns:a16="http://schemas.microsoft.com/office/drawing/2014/main" id="{AA16A527-C5D4-47CE-23E7-600D830A8EF7}"/>
              </a:ext>
            </a:extLst>
          </p:cNvPr>
          <p:cNvPicPr>
            <a:picLocks noChangeAspect="1"/>
          </p:cNvPicPr>
          <p:nvPr/>
        </p:nvPicPr>
        <p:blipFill>
          <a:blip r:embed="rId2"/>
          <a:stretch>
            <a:fillRect/>
          </a:stretch>
        </p:blipFill>
        <p:spPr>
          <a:xfrm>
            <a:off x="1385443" y="4340301"/>
            <a:ext cx="6373114" cy="1667108"/>
          </a:xfrm>
          <a:prstGeom prst="rect">
            <a:avLst/>
          </a:prstGeom>
        </p:spPr>
      </p:pic>
    </p:spTree>
    <p:extLst>
      <p:ext uri="{BB962C8B-B14F-4D97-AF65-F5344CB8AC3E}">
        <p14:creationId xmlns:p14="http://schemas.microsoft.com/office/powerpoint/2010/main" val="170995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4855B-9C2F-1559-60B6-EE0D9B5243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615FF1-D231-80DD-8DE6-B95A3F3B3D12}"/>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6E7AEED9-CD06-FF24-B9E4-35A6B72AEED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Karma</a:t>
            </a:r>
          </a:p>
        </p:txBody>
      </p:sp>
      <p:pic>
        <p:nvPicPr>
          <p:cNvPr id="6" name="Picture 5">
            <a:extLst>
              <a:ext uri="{FF2B5EF4-FFF2-40B4-BE49-F238E27FC236}">
                <a16:creationId xmlns:a16="http://schemas.microsoft.com/office/drawing/2014/main" id="{A92DE604-8020-7421-13EF-81256B2FDAA1}"/>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38478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1AD7-6B67-BAC1-5816-4D4FF37C67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856806-3656-4F58-2B99-A26C6502C0FB}"/>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
        <p:nvSpPr>
          <p:cNvPr id="6" name="Content Placeholder 5">
            <a:extLst>
              <a:ext uri="{FF2B5EF4-FFF2-40B4-BE49-F238E27FC236}">
                <a16:creationId xmlns:a16="http://schemas.microsoft.com/office/drawing/2014/main" id="{34ECAC8C-4E89-5F3C-1617-110CF7AD9A62}"/>
              </a:ext>
            </a:extLst>
          </p:cNvPr>
          <p:cNvSpPr>
            <a:spLocks noGrp="1"/>
          </p:cNvSpPr>
          <p:nvPr>
            <p:ph idx="1"/>
          </p:nvPr>
        </p:nvSpPr>
        <p:spPr/>
        <p:txBody>
          <a:bodyPr>
            <a:normAutofit fontScale="92500" lnSpcReduction="20000"/>
          </a:bodyPr>
          <a:lstStyle/>
          <a:p>
            <a:r>
              <a:rPr lang="en-US" dirty="0"/>
              <a:t>Karma is a test runner which is responsible for launching a browser, loading your compiled test files into that browser, executing them, and reporting the results back to your terminal</a:t>
            </a:r>
          </a:p>
          <a:p>
            <a:r>
              <a:rPr lang="en-US" dirty="0"/>
              <a:t>Karma also watches your development files for changes and re-runs the tests automatically</a:t>
            </a:r>
          </a:p>
          <a:p>
            <a:r>
              <a:rPr lang="en-US" dirty="0"/>
              <a:t>Karma lets us run Jasmine tests as part of a development tool chain which requires tests to be runnable and results inspectable via the command line.</a:t>
            </a:r>
          </a:p>
          <a:p>
            <a:r>
              <a:rPr lang="en-US" dirty="0"/>
              <a:t>When using the Angular CLI, it handles the configuration for us</a:t>
            </a:r>
          </a:p>
        </p:txBody>
      </p:sp>
      <p:sp>
        <p:nvSpPr>
          <p:cNvPr id="8" name="Title 7">
            <a:extLst>
              <a:ext uri="{FF2B5EF4-FFF2-40B4-BE49-F238E27FC236}">
                <a16:creationId xmlns:a16="http://schemas.microsoft.com/office/drawing/2014/main" id="{30C7D0C8-D03C-CA1D-5FAC-FC4F5E6ACE26}"/>
              </a:ext>
            </a:extLst>
          </p:cNvPr>
          <p:cNvSpPr>
            <a:spLocks noGrp="1"/>
          </p:cNvSpPr>
          <p:nvPr>
            <p:ph type="title"/>
          </p:nvPr>
        </p:nvSpPr>
        <p:spPr/>
        <p:txBody>
          <a:bodyPr/>
          <a:lstStyle/>
          <a:p>
            <a:r>
              <a:rPr lang="en-US" dirty="0"/>
              <a:t>Karma</a:t>
            </a:r>
          </a:p>
        </p:txBody>
      </p:sp>
    </p:spTree>
    <p:extLst>
      <p:ext uri="{BB962C8B-B14F-4D97-AF65-F5344CB8AC3E}">
        <p14:creationId xmlns:p14="http://schemas.microsoft.com/office/powerpoint/2010/main" val="154066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59BAC-F354-BBDF-302B-BE62F163C51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AF0D09-178B-FCBD-8E58-C2FEE3440FAE}"/>
              </a:ext>
            </a:extLst>
          </p:cNvPr>
          <p:cNvSpPr>
            <a:spLocks noGrp="1"/>
          </p:cNvSpPr>
          <p:nvPr>
            <p:ph type="sldNum" sz="quarter" idx="12"/>
          </p:nvPr>
        </p:nvSpPr>
        <p:spPr/>
        <p:txBody>
          <a:bodyPr/>
          <a:lstStyle/>
          <a:p>
            <a:fld id="{F6728BC2-ACA3-447C-A909-F3F49211C066}" type="slidenum">
              <a:rPr lang="en-US" smtClean="0"/>
              <a:pPr/>
              <a:t>13</a:t>
            </a:fld>
            <a:endParaRPr lang="en-US" dirty="0"/>
          </a:p>
        </p:txBody>
      </p:sp>
      <p:sp>
        <p:nvSpPr>
          <p:cNvPr id="6" name="Content Placeholder 5">
            <a:extLst>
              <a:ext uri="{FF2B5EF4-FFF2-40B4-BE49-F238E27FC236}">
                <a16:creationId xmlns:a16="http://schemas.microsoft.com/office/drawing/2014/main" id="{274FA42D-D7B2-1D95-DB6F-B7405693C150}"/>
              </a:ext>
            </a:extLst>
          </p:cNvPr>
          <p:cNvSpPr>
            <a:spLocks noGrp="1"/>
          </p:cNvSpPr>
          <p:nvPr>
            <p:ph idx="1"/>
          </p:nvPr>
        </p:nvSpPr>
        <p:spPr/>
        <p:txBody>
          <a:bodyPr>
            <a:normAutofit fontScale="92500" lnSpcReduction="20000"/>
          </a:bodyPr>
          <a:lstStyle/>
          <a:p>
            <a:pPr marL="514350" indent="-514350">
              <a:buFont typeface="+mj-lt"/>
              <a:buAutoNum type="arabicPeriod"/>
            </a:pPr>
            <a:r>
              <a:rPr lang="en-US" dirty="0"/>
              <a:t>When you run ‘ng test’, the Angular CLI tells Karma to start</a:t>
            </a:r>
          </a:p>
          <a:p>
            <a:pPr marL="514350" indent="-514350">
              <a:buFont typeface="+mj-lt"/>
              <a:buAutoNum type="arabicPeriod"/>
            </a:pPr>
            <a:r>
              <a:rPr lang="en-US" dirty="0"/>
              <a:t>Karma launches a browser (typically Chrome Headless)</a:t>
            </a:r>
          </a:p>
          <a:p>
            <a:pPr marL="514350" indent="-514350">
              <a:buFont typeface="+mj-lt"/>
              <a:buAutoNum type="arabicPeriod"/>
            </a:pPr>
            <a:r>
              <a:rPr lang="en-US" dirty="0"/>
              <a:t>Karma compiles your TypeScript spec files using webpack</a:t>
            </a:r>
          </a:p>
          <a:p>
            <a:pPr marL="514350" indent="-514350">
              <a:buFont typeface="+mj-lt"/>
              <a:buAutoNum type="arabicPeriod"/>
            </a:pPr>
            <a:r>
              <a:rPr lang="en-US" dirty="0"/>
              <a:t>The compiled test bundle is loaded into the browser</a:t>
            </a:r>
          </a:p>
          <a:p>
            <a:pPr marL="514350" indent="-514350">
              <a:buFont typeface="+mj-lt"/>
              <a:buAutoNum type="arabicPeriod"/>
            </a:pPr>
            <a:r>
              <a:rPr lang="en-US" dirty="0"/>
              <a:t>Jasmine executes the tests inside the browser</a:t>
            </a:r>
          </a:p>
          <a:p>
            <a:pPr marL="514350" indent="-514350">
              <a:buFont typeface="+mj-lt"/>
              <a:buAutoNum type="arabicPeriod"/>
            </a:pPr>
            <a:r>
              <a:rPr lang="en-US" dirty="0"/>
              <a:t>Results are reported back to your terminal in real time</a:t>
            </a:r>
          </a:p>
          <a:p>
            <a:pPr marL="514350" indent="-514350">
              <a:buFont typeface="+mj-lt"/>
              <a:buAutoNum type="arabicPeriod"/>
            </a:pPr>
            <a:r>
              <a:rPr lang="en-US" dirty="0"/>
              <a:t>Karma watches for file changes and re-runs tests automatically</a:t>
            </a:r>
          </a:p>
        </p:txBody>
      </p:sp>
      <p:sp>
        <p:nvSpPr>
          <p:cNvPr id="8" name="Title 7">
            <a:extLst>
              <a:ext uri="{FF2B5EF4-FFF2-40B4-BE49-F238E27FC236}">
                <a16:creationId xmlns:a16="http://schemas.microsoft.com/office/drawing/2014/main" id="{2304E35B-C9A3-594D-6F64-1CEC503AB821}"/>
              </a:ext>
            </a:extLst>
          </p:cNvPr>
          <p:cNvSpPr>
            <a:spLocks noGrp="1"/>
          </p:cNvSpPr>
          <p:nvPr>
            <p:ph type="title"/>
          </p:nvPr>
        </p:nvSpPr>
        <p:spPr/>
        <p:txBody>
          <a:bodyPr/>
          <a:lstStyle/>
          <a:p>
            <a:r>
              <a:rPr lang="en-US" dirty="0"/>
              <a:t>Karma – How it Works</a:t>
            </a:r>
          </a:p>
        </p:txBody>
      </p:sp>
    </p:spTree>
    <p:extLst>
      <p:ext uri="{BB962C8B-B14F-4D97-AF65-F5344CB8AC3E}">
        <p14:creationId xmlns:p14="http://schemas.microsoft.com/office/powerpoint/2010/main" val="28731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2E51E-5C31-60C7-3AA0-29561BAFB5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FD6D69-979C-C245-0AAE-83DB536BF832}"/>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
        <p:nvSpPr>
          <p:cNvPr id="6" name="Content Placeholder 5">
            <a:extLst>
              <a:ext uri="{FF2B5EF4-FFF2-40B4-BE49-F238E27FC236}">
                <a16:creationId xmlns:a16="http://schemas.microsoft.com/office/drawing/2014/main" id="{7226FB71-BB35-DD81-0026-7624116CC356}"/>
              </a:ext>
            </a:extLst>
          </p:cNvPr>
          <p:cNvSpPr>
            <a:spLocks noGrp="1"/>
          </p:cNvSpPr>
          <p:nvPr>
            <p:ph idx="1"/>
          </p:nvPr>
        </p:nvSpPr>
        <p:spPr/>
        <p:txBody>
          <a:bodyPr>
            <a:normAutofit fontScale="92500" lnSpcReduction="10000"/>
          </a:bodyPr>
          <a:lstStyle/>
          <a:p>
            <a:r>
              <a:rPr lang="en-US" dirty="0"/>
              <a:t>Karma is configured via a karma.conf.js file at the root of your Angular project – which is typically generated automatically when you create an Angular project using the CLI.</a:t>
            </a:r>
          </a:p>
          <a:p>
            <a:pPr lvl="1"/>
            <a:r>
              <a:rPr lang="en-US" dirty="0"/>
              <a:t>Reminder: Karma is not used in Angular 21+, and therefore this karma.conf.js file is not generated.	</a:t>
            </a:r>
          </a:p>
          <a:p>
            <a:endParaRPr lang="en-US" dirty="0"/>
          </a:p>
          <a:p>
            <a:endParaRPr lang="en-US" dirty="0"/>
          </a:p>
          <a:p>
            <a:r>
              <a:rPr lang="en-US" dirty="0"/>
              <a:t>More information about the Karma config file can be founds here: </a:t>
            </a:r>
            <a:r>
              <a:rPr lang="en-US" dirty="0">
                <a:hlinkClick r:id="rId2"/>
              </a:rPr>
              <a:t>https://karma-runner.github.io/6.4/config/configuration-file.html</a:t>
            </a:r>
            <a:endParaRPr lang="en-US" dirty="0"/>
          </a:p>
        </p:txBody>
      </p:sp>
      <p:sp>
        <p:nvSpPr>
          <p:cNvPr id="8" name="Title 7">
            <a:extLst>
              <a:ext uri="{FF2B5EF4-FFF2-40B4-BE49-F238E27FC236}">
                <a16:creationId xmlns:a16="http://schemas.microsoft.com/office/drawing/2014/main" id="{410A296B-1F73-B71D-B99E-64910458E804}"/>
              </a:ext>
            </a:extLst>
          </p:cNvPr>
          <p:cNvSpPr>
            <a:spLocks noGrp="1"/>
          </p:cNvSpPr>
          <p:nvPr>
            <p:ph type="title"/>
          </p:nvPr>
        </p:nvSpPr>
        <p:spPr/>
        <p:txBody>
          <a:bodyPr/>
          <a:lstStyle/>
          <a:p>
            <a:r>
              <a:rPr lang="en-US" dirty="0"/>
              <a:t>Karma Config</a:t>
            </a:r>
          </a:p>
        </p:txBody>
      </p:sp>
    </p:spTree>
    <p:extLst>
      <p:ext uri="{BB962C8B-B14F-4D97-AF65-F5344CB8AC3E}">
        <p14:creationId xmlns:p14="http://schemas.microsoft.com/office/powerpoint/2010/main" val="83721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43524-4032-9F3B-6C9C-04AF106208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059404-6D8B-8E52-C98C-09582B4D816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15</a:t>
            </a:fld>
            <a:endParaRPr lang="en-US"/>
          </a:p>
        </p:txBody>
      </p:sp>
      <p:sp>
        <p:nvSpPr>
          <p:cNvPr id="4" name="Google Shape;212;p15">
            <a:extLst>
              <a:ext uri="{FF2B5EF4-FFF2-40B4-BE49-F238E27FC236}">
                <a16:creationId xmlns:a16="http://schemas.microsoft.com/office/drawing/2014/main" id="{24DEFF68-97CE-E861-4AE9-25D0D8F38D3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err="1">
                <a:solidFill>
                  <a:schemeClr val="dk2"/>
                </a:solidFill>
                <a:latin typeface="Arial"/>
                <a:ea typeface="Arial"/>
                <a:cs typeface="Arial"/>
                <a:sym typeface="Arial"/>
              </a:rPr>
              <a:t>Vitest</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34D98692-E6A5-4D77-EFA9-B6962D8556E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571939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3A265-F9B1-5E5F-D0AC-BE57BD608CA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3CA607-B759-90DD-236F-AB23EF9046C6}"/>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6" name="Content Placeholder 5">
            <a:extLst>
              <a:ext uri="{FF2B5EF4-FFF2-40B4-BE49-F238E27FC236}">
                <a16:creationId xmlns:a16="http://schemas.microsoft.com/office/drawing/2014/main" id="{695BDA72-9294-AF55-EF38-C34612D13B74}"/>
              </a:ext>
            </a:extLst>
          </p:cNvPr>
          <p:cNvSpPr>
            <a:spLocks noGrp="1"/>
          </p:cNvSpPr>
          <p:nvPr>
            <p:ph idx="1"/>
          </p:nvPr>
        </p:nvSpPr>
        <p:spPr/>
        <p:txBody>
          <a:bodyPr>
            <a:normAutofit/>
          </a:bodyPr>
          <a:lstStyle/>
          <a:p>
            <a:r>
              <a:rPr lang="en-US" dirty="0"/>
              <a:t>As previously stated, </a:t>
            </a:r>
            <a:r>
              <a:rPr lang="en-US" dirty="0" err="1"/>
              <a:t>Vitest</a:t>
            </a:r>
            <a:r>
              <a:rPr lang="en-US" dirty="0"/>
              <a:t> is the modern replacement for Karma. It is a TypeScript-first test runner, which is automatically configured in new Angular Projects (created using CLI)</a:t>
            </a:r>
          </a:p>
          <a:p>
            <a:r>
              <a:rPr lang="en-US" dirty="0"/>
              <a:t>The workflow (use ‘ng test’ command) works the same for Karma and </a:t>
            </a:r>
            <a:r>
              <a:rPr lang="en-US" dirty="0" err="1"/>
              <a:t>vitest</a:t>
            </a:r>
            <a:endParaRPr lang="en-US" dirty="0"/>
          </a:p>
          <a:p>
            <a:r>
              <a:rPr lang="en-US" dirty="0"/>
              <a:t>You can find more information about </a:t>
            </a:r>
            <a:r>
              <a:rPr lang="en-US" dirty="0" err="1"/>
              <a:t>vitest</a:t>
            </a:r>
            <a:r>
              <a:rPr lang="en-US" dirty="0"/>
              <a:t> here: </a:t>
            </a:r>
            <a:r>
              <a:rPr lang="en-US" dirty="0">
                <a:hlinkClick r:id="rId2"/>
              </a:rPr>
              <a:t>https://vitest.dev/guide/cli.html</a:t>
            </a:r>
            <a:br>
              <a:rPr lang="en-US" dirty="0"/>
            </a:br>
            <a:endParaRPr lang="en-US" dirty="0"/>
          </a:p>
        </p:txBody>
      </p:sp>
      <p:sp>
        <p:nvSpPr>
          <p:cNvPr id="8" name="Title 7">
            <a:extLst>
              <a:ext uri="{FF2B5EF4-FFF2-40B4-BE49-F238E27FC236}">
                <a16:creationId xmlns:a16="http://schemas.microsoft.com/office/drawing/2014/main" id="{74AC3539-BD25-95A2-90D6-E996C8472C5E}"/>
              </a:ext>
            </a:extLst>
          </p:cNvPr>
          <p:cNvSpPr>
            <a:spLocks noGrp="1"/>
          </p:cNvSpPr>
          <p:nvPr>
            <p:ph type="title"/>
          </p:nvPr>
        </p:nvSpPr>
        <p:spPr/>
        <p:txBody>
          <a:bodyPr/>
          <a:lstStyle/>
          <a:p>
            <a:r>
              <a:rPr lang="en-US" dirty="0" err="1"/>
              <a:t>Vitest</a:t>
            </a:r>
            <a:endParaRPr lang="en-US" dirty="0"/>
          </a:p>
        </p:txBody>
      </p:sp>
    </p:spTree>
    <p:extLst>
      <p:ext uri="{BB962C8B-B14F-4D97-AF65-F5344CB8AC3E}">
        <p14:creationId xmlns:p14="http://schemas.microsoft.com/office/powerpoint/2010/main" val="324532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0D957-3755-9ED3-0795-FCCD0D6CBE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4FE9D8-C482-4F9B-C7A6-119D863466E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AAD1B671-AED6-034E-A0A2-B79833446B93}"/>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Angular Utilities - </a:t>
            </a:r>
            <a:r>
              <a:rPr lang="en-US" sz="4000" b="0" i="0" u="none" strike="noStrike" cap="none" dirty="0" err="1">
                <a:solidFill>
                  <a:schemeClr val="dk2"/>
                </a:solidFill>
                <a:latin typeface="Arial"/>
                <a:ea typeface="Arial"/>
                <a:cs typeface="Arial"/>
                <a:sym typeface="Arial"/>
              </a:rPr>
              <a:t>TestBed</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54465A9C-5C20-D468-F4C3-3ECF6CA394D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651600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49D8-1747-B247-97D2-C7DB4228E59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9387C6-C00D-6EAD-27B1-80BC873C5B25}"/>
              </a:ext>
            </a:extLst>
          </p:cNvPr>
          <p:cNvSpPr>
            <a:spLocks noGrp="1"/>
          </p:cNvSpPr>
          <p:nvPr>
            <p:ph type="sldNum" sz="quarter" idx="12"/>
          </p:nvPr>
        </p:nvSpPr>
        <p:spPr/>
        <p:txBody>
          <a:bodyPr/>
          <a:lstStyle/>
          <a:p>
            <a:fld id="{F6728BC2-ACA3-447C-A909-F3F49211C066}" type="slidenum">
              <a:rPr lang="en-US" smtClean="0"/>
              <a:pPr/>
              <a:t>18</a:t>
            </a:fld>
            <a:endParaRPr lang="en-US" dirty="0"/>
          </a:p>
        </p:txBody>
      </p:sp>
      <p:sp>
        <p:nvSpPr>
          <p:cNvPr id="6" name="Content Placeholder 5">
            <a:extLst>
              <a:ext uri="{FF2B5EF4-FFF2-40B4-BE49-F238E27FC236}">
                <a16:creationId xmlns:a16="http://schemas.microsoft.com/office/drawing/2014/main" id="{FDAE59AD-66E0-1B61-BE5A-7225A3759BBF}"/>
              </a:ext>
            </a:extLst>
          </p:cNvPr>
          <p:cNvSpPr>
            <a:spLocks noGrp="1"/>
          </p:cNvSpPr>
          <p:nvPr>
            <p:ph idx="1"/>
          </p:nvPr>
        </p:nvSpPr>
        <p:spPr/>
        <p:txBody>
          <a:bodyPr>
            <a:normAutofit fontScale="77500" lnSpcReduction="20000"/>
          </a:bodyPr>
          <a:lstStyle/>
          <a:p>
            <a:r>
              <a:rPr lang="en-US" dirty="0"/>
              <a:t>Angular components, services, and directives are not plain TypeScript classes. They depend on </a:t>
            </a:r>
            <a:r>
              <a:rPr lang="en-US" dirty="0" err="1"/>
              <a:t>Angular’s</a:t>
            </a:r>
            <a:r>
              <a:rPr lang="en-US" dirty="0"/>
              <a:t> dependency injection system, its template compiler, and its change detection mechanism, so you cannot test them with Jasmine alone.</a:t>
            </a:r>
          </a:p>
          <a:p>
            <a:r>
              <a:rPr lang="en-US" dirty="0" err="1"/>
              <a:t>TestBed</a:t>
            </a:r>
            <a:r>
              <a:rPr lang="en-US" dirty="0"/>
              <a:t> is </a:t>
            </a:r>
            <a:r>
              <a:rPr lang="en-US" dirty="0" err="1"/>
              <a:t>Angular’s</a:t>
            </a:r>
            <a:r>
              <a:rPr lang="en-US" dirty="0"/>
              <a:t> primary testing utility, and it creates a miniature Angular module specifically for testing – allowing you to configure components, inject services and simulate the Angular runtime in a controlled environment.</a:t>
            </a:r>
          </a:p>
          <a:p>
            <a:r>
              <a:rPr lang="en-US" dirty="0" err="1"/>
              <a:t>TestBed</a:t>
            </a:r>
            <a:r>
              <a:rPr lang="en-US" dirty="0"/>
              <a:t> is imported from ‘@angular/core/testing’ and is either used inside your </a:t>
            </a:r>
            <a:r>
              <a:rPr lang="en-US" dirty="0" err="1"/>
              <a:t>beforeEach</a:t>
            </a:r>
            <a:r>
              <a:rPr lang="en-US" dirty="0"/>
              <a:t>() block to create a component to be used for each test, or can be leveraged within a test to create/access components.</a:t>
            </a:r>
          </a:p>
          <a:p>
            <a:r>
              <a:rPr lang="en-US" dirty="0"/>
              <a:t>Note, your ‘</a:t>
            </a:r>
            <a:r>
              <a:rPr lang="en-US" dirty="0" err="1"/>
              <a:t>spec.ts</a:t>
            </a:r>
            <a:r>
              <a:rPr lang="en-US" dirty="0"/>
              <a:t>’ files automatically generated by Angular include boilerplate code showcasing this.</a:t>
            </a:r>
          </a:p>
        </p:txBody>
      </p:sp>
      <p:sp>
        <p:nvSpPr>
          <p:cNvPr id="8" name="Title 7">
            <a:extLst>
              <a:ext uri="{FF2B5EF4-FFF2-40B4-BE49-F238E27FC236}">
                <a16:creationId xmlns:a16="http://schemas.microsoft.com/office/drawing/2014/main" id="{F255A10A-F7C6-E40E-C6B7-631C38C2FCB0}"/>
              </a:ext>
            </a:extLst>
          </p:cNvPr>
          <p:cNvSpPr>
            <a:spLocks noGrp="1"/>
          </p:cNvSpPr>
          <p:nvPr>
            <p:ph type="title"/>
          </p:nvPr>
        </p:nvSpPr>
        <p:spPr/>
        <p:txBody>
          <a:bodyPr/>
          <a:lstStyle/>
          <a:p>
            <a:r>
              <a:rPr lang="en-US" dirty="0"/>
              <a:t>Angular Utilities (</a:t>
            </a:r>
            <a:r>
              <a:rPr lang="en-US" dirty="0" err="1"/>
              <a:t>TestBed</a:t>
            </a:r>
            <a:r>
              <a:rPr lang="en-US" dirty="0"/>
              <a:t>)</a:t>
            </a:r>
          </a:p>
        </p:txBody>
      </p:sp>
    </p:spTree>
    <p:extLst>
      <p:ext uri="{BB962C8B-B14F-4D97-AF65-F5344CB8AC3E}">
        <p14:creationId xmlns:p14="http://schemas.microsoft.com/office/powerpoint/2010/main" val="210971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FE93-E3CB-D33C-50B6-E4A54E36F7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3F0C43-5AA3-DFC8-F50E-1D96B41E9A66}"/>
              </a:ext>
            </a:extLst>
          </p:cNvPr>
          <p:cNvSpPr>
            <a:spLocks noGrp="1"/>
          </p:cNvSpPr>
          <p:nvPr>
            <p:ph type="sldNum" sz="quarter" idx="12"/>
          </p:nvPr>
        </p:nvSpPr>
        <p:spPr/>
        <p:txBody>
          <a:bodyPr/>
          <a:lstStyle/>
          <a:p>
            <a:fld id="{F6728BC2-ACA3-447C-A909-F3F49211C066}" type="slidenum">
              <a:rPr lang="en-US" smtClean="0"/>
              <a:pPr/>
              <a:t>19</a:t>
            </a:fld>
            <a:endParaRPr lang="en-US" dirty="0"/>
          </a:p>
        </p:txBody>
      </p:sp>
      <p:sp>
        <p:nvSpPr>
          <p:cNvPr id="6" name="Content Placeholder 5">
            <a:extLst>
              <a:ext uri="{FF2B5EF4-FFF2-40B4-BE49-F238E27FC236}">
                <a16:creationId xmlns:a16="http://schemas.microsoft.com/office/drawing/2014/main" id="{D06DD633-66A1-7940-18A5-5C1D808FA278}"/>
              </a:ext>
            </a:extLst>
          </p:cNvPr>
          <p:cNvSpPr>
            <a:spLocks noGrp="1"/>
          </p:cNvSpPr>
          <p:nvPr>
            <p:ph idx="1"/>
          </p:nvPr>
        </p:nvSpPr>
        <p:spPr>
          <a:xfrm>
            <a:off x="380010" y="1481446"/>
            <a:ext cx="8383980" cy="4882266"/>
          </a:xfrm>
        </p:spPr>
        <p:txBody>
          <a:bodyPr>
            <a:normAutofit fontScale="77500" lnSpcReduction="20000"/>
          </a:bodyPr>
          <a:lstStyle/>
          <a:p>
            <a:r>
              <a:rPr lang="en-US" dirty="0"/>
              <a:t>Boilerplate test code includes the following:</a:t>
            </a:r>
            <a:br>
              <a:rPr lang="en-US" dirty="0"/>
            </a:br>
            <a:r>
              <a:rPr lang="en-US" dirty="0" err="1"/>
              <a:t>TestBed.configureTestingModule</a:t>
            </a:r>
            <a:r>
              <a:rPr lang="en-US" dirty="0"/>
              <a:t> </a:t>
            </a:r>
          </a:p>
          <a:p>
            <a:r>
              <a:rPr lang="en-US" dirty="0"/>
              <a:t>This function call is used to define the environment that we want our component under test to live in, and it mostly useful if you expect to perform injection or asynchronous calls</a:t>
            </a:r>
          </a:p>
          <a:p>
            <a:r>
              <a:rPr lang="en-US" dirty="0"/>
              <a:t>If you need the ability to get specific information about a component configured this way, then the </a:t>
            </a:r>
            <a:r>
              <a:rPr lang="en-US" dirty="0" err="1"/>
              <a:t>ComponentFixture</a:t>
            </a:r>
            <a:r>
              <a:rPr lang="en-US" dirty="0"/>
              <a:t> class can be used to get a reference to the component instance being tested, as well as the component’s template.</a:t>
            </a:r>
          </a:p>
          <a:p>
            <a:r>
              <a:rPr lang="en-US" dirty="0"/>
              <a:t>To instantiate the component fixture we need to chain one more method onto our testbed, ‘</a:t>
            </a:r>
            <a:r>
              <a:rPr lang="en-US" dirty="0" err="1"/>
              <a:t>createComponent</a:t>
            </a:r>
            <a:r>
              <a:rPr lang="en-US" dirty="0"/>
              <a:t>’, and pass in the component we want to create.</a:t>
            </a:r>
          </a:p>
          <a:p>
            <a:pPr lvl="1"/>
            <a:r>
              <a:rPr lang="en-US" dirty="0"/>
              <a:t>Note: for tests which do not require much complexity (just the component) you can simply create the component using </a:t>
            </a:r>
            <a:r>
              <a:rPr lang="en-US" dirty="0" err="1"/>
              <a:t>TestBed.createComponent</a:t>
            </a:r>
            <a:r>
              <a:rPr lang="en-US" dirty="0"/>
              <a:t>()</a:t>
            </a:r>
          </a:p>
        </p:txBody>
      </p:sp>
      <p:sp>
        <p:nvSpPr>
          <p:cNvPr id="8" name="Title 7">
            <a:extLst>
              <a:ext uri="{FF2B5EF4-FFF2-40B4-BE49-F238E27FC236}">
                <a16:creationId xmlns:a16="http://schemas.microsoft.com/office/drawing/2014/main" id="{1EF81AFE-2646-3CB6-12DE-828F949A28FB}"/>
              </a:ext>
            </a:extLst>
          </p:cNvPr>
          <p:cNvSpPr>
            <a:spLocks noGrp="1"/>
          </p:cNvSpPr>
          <p:nvPr>
            <p:ph type="title"/>
          </p:nvPr>
        </p:nvSpPr>
        <p:spPr/>
        <p:txBody>
          <a:bodyPr/>
          <a:lstStyle/>
          <a:p>
            <a:r>
              <a:rPr lang="en-US" dirty="0"/>
              <a:t>The Fixture</a:t>
            </a:r>
          </a:p>
        </p:txBody>
      </p:sp>
    </p:spTree>
    <p:extLst>
      <p:ext uri="{BB962C8B-B14F-4D97-AF65-F5344CB8AC3E}">
        <p14:creationId xmlns:p14="http://schemas.microsoft.com/office/powerpoint/2010/main" val="185897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8782C-564D-BD45-6456-F31AA42869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A854E7-EBF8-6CC2-E54C-97AD6B4D342A}"/>
              </a:ext>
            </a:extLst>
          </p:cNvPr>
          <p:cNvSpPr>
            <a:spLocks noGrp="1"/>
          </p:cNvSpPr>
          <p:nvPr>
            <p:ph type="sldNum" sz="quarter" idx="12"/>
          </p:nvPr>
        </p:nvSpPr>
        <p:spPr/>
        <p:txBody>
          <a:bodyPr/>
          <a:lstStyle/>
          <a:p>
            <a:fld id="{F6728BC2-ACA3-447C-A909-F3F49211C066}" type="slidenum">
              <a:rPr lang="en-US" smtClean="0"/>
              <a:pPr/>
              <a:t>20</a:t>
            </a:fld>
            <a:endParaRPr lang="en-US" dirty="0"/>
          </a:p>
        </p:txBody>
      </p:sp>
      <p:sp>
        <p:nvSpPr>
          <p:cNvPr id="6" name="Content Placeholder 5">
            <a:extLst>
              <a:ext uri="{FF2B5EF4-FFF2-40B4-BE49-F238E27FC236}">
                <a16:creationId xmlns:a16="http://schemas.microsoft.com/office/drawing/2014/main" id="{A3A7C036-2B0D-2831-E14F-ED50A78F8D71}"/>
              </a:ext>
            </a:extLst>
          </p:cNvPr>
          <p:cNvSpPr>
            <a:spLocks noGrp="1"/>
          </p:cNvSpPr>
          <p:nvPr>
            <p:ph idx="1"/>
          </p:nvPr>
        </p:nvSpPr>
        <p:spPr/>
        <p:txBody>
          <a:bodyPr>
            <a:normAutofit fontScale="92500"/>
          </a:bodyPr>
          <a:lstStyle/>
          <a:p>
            <a:r>
              <a:rPr lang="en-US" dirty="0"/>
              <a:t>By attaching .</a:t>
            </a:r>
            <a:r>
              <a:rPr lang="en-US" dirty="0" err="1"/>
              <a:t>createComponent</a:t>
            </a:r>
            <a:r>
              <a:rPr lang="en-US" dirty="0"/>
              <a:t>(Comp) to the end of our </a:t>
            </a:r>
            <a:r>
              <a:rPr lang="en-US" dirty="0" err="1"/>
              <a:t>TestBed.configureTestingModule</a:t>
            </a:r>
            <a:r>
              <a:rPr lang="en-US" dirty="0"/>
              <a:t> call, we are now receiving a </a:t>
            </a:r>
            <a:r>
              <a:rPr lang="en-US" dirty="0" err="1"/>
              <a:t>ComponentFixture</a:t>
            </a:r>
            <a:r>
              <a:rPr lang="en-US" dirty="0"/>
              <a:t> instance.</a:t>
            </a:r>
          </a:p>
          <a:p>
            <a:pPr lvl="1"/>
            <a:r>
              <a:rPr lang="en-US" dirty="0"/>
              <a:t>Note: Angular automatically provides the boilerplate code for this entire module configuration and component creation automatically in the generated .</a:t>
            </a:r>
            <a:r>
              <a:rPr lang="en-US" dirty="0" err="1"/>
              <a:t>spec.ts</a:t>
            </a:r>
            <a:r>
              <a:rPr lang="en-US" dirty="0"/>
              <a:t> files.</a:t>
            </a:r>
          </a:p>
          <a:p>
            <a:r>
              <a:rPr lang="en-US" dirty="0"/>
              <a:t>You’ll notice that there is typically an ‘await </a:t>
            </a:r>
            <a:r>
              <a:rPr lang="en-US" dirty="0" err="1"/>
              <a:t>fixture.whenStable</a:t>
            </a:r>
            <a:r>
              <a:rPr lang="en-US" dirty="0"/>
              <a:t>()’ call afterwards – this returns a promise that can be used to resume testing</a:t>
            </a:r>
          </a:p>
          <a:p>
            <a:pPr lvl="1"/>
            <a:r>
              <a:rPr lang="en-US" dirty="0"/>
              <a:t>Again, note that this is used for tests that may require async calls</a:t>
            </a:r>
          </a:p>
        </p:txBody>
      </p:sp>
      <p:sp>
        <p:nvSpPr>
          <p:cNvPr id="8" name="Title 7">
            <a:extLst>
              <a:ext uri="{FF2B5EF4-FFF2-40B4-BE49-F238E27FC236}">
                <a16:creationId xmlns:a16="http://schemas.microsoft.com/office/drawing/2014/main" id="{144ED3C3-44F6-F8DF-CF61-1C90B14394E1}"/>
              </a:ext>
            </a:extLst>
          </p:cNvPr>
          <p:cNvSpPr>
            <a:spLocks noGrp="1"/>
          </p:cNvSpPr>
          <p:nvPr>
            <p:ph type="title"/>
          </p:nvPr>
        </p:nvSpPr>
        <p:spPr/>
        <p:txBody>
          <a:bodyPr/>
          <a:lstStyle/>
          <a:p>
            <a:r>
              <a:rPr lang="en-US" dirty="0"/>
              <a:t>The Fixture</a:t>
            </a:r>
          </a:p>
        </p:txBody>
      </p:sp>
    </p:spTree>
    <p:extLst>
      <p:ext uri="{BB962C8B-B14F-4D97-AF65-F5344CB8AC3E}">
        <p14:creationId xmlns:p14="http://schemas.microsoft.com/office/powerpoint/2010/main" val="252426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D3B84-53BB-C711-7075-F2F37DA2DA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6F1647-0B9A-647A-83F6-E9AB2D164A3A}"/>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8" name="Title 7">
            <a:extLst>
              <a:ext uri="{FF2B5EF4-FFF2-40B4-BE49-F238E27FC236}">
                <a16:creationId xmlns:a16="http://schemas.microsoft.com/office/drawing/2014/main" id="{A17E0D30-177F-A69B-16EA-4E7F02BF1923}"/>
              </a:ext>
            </a:extLst>
          </p:cNvPr>
          <p:cNvSpPr>
            <a:spLocks noGrp="1"/>
          </p:cNvSpPr>
          <p:nvPr>
            <p:ph type="title"/>
          </p:nvPr>
        </p:nvSpPr>
        <p:spPr/>
        <p:txBody>
          <a:bodyPr/>
          <a:lstStyle/>
          <a:p>
            <a:r>
              <a:rPr lang="en-US" dirty="0"/>
              <a:t>The Fixture</a:t>
            </a:r>
          </a:p>
        </p:txBody>
      </p:sp>
      <p:pic>
        <p:nvPicPr>
          <p:cNvPr id="10" name="Picture 9">
            <a:extLst>
              <a:ext uri="{FF2B5EF4-FFF2-40B4-BE49-F238E27FC236}">
                <a16:creationId xmlns:a16="http://schemas.microsoft.com/office/drawing/2014/main" id="{A2C31FF4-1F2A-D5F1-6BCF-143345359F23}"/>
              </a:ext>
            </a:extLst>
          </p:cNvPr>
          <p:cNvPicPr>
            <a:picLocks noChangeAspect="1"/>
          </p:cNvPicPr>
          <p:nvPr/>
        </p:nvPicPr>
        <p:blipFill>
          <a:blip r:embed="rId2"/>
          <a:stretch>
            <a:fillRect/>
          </a:stretch>
        </p:blipFill>
        <p:spPr>
          <a:xfrm>
            <a:off x="1275890" y="1460379"/>
            <a:ext cx="6592220" cy="4982270"/>
          </a:xfrm>
          <a:prstGeom prst="rect">
            <a:avLst/>
          </a:prstGeom>
        </p:spPr>
      </p:pic>
    </p:spTree>
    <p:extLst>
      <p:ext uri="{BB962C8B-B14F-4D97-AF65-F5344CB8AC3E}">
        <p14:creationId xmlns:p14="http://schemas.microsoft.com/office/powerpoint/2010/main" val="2129930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E456-E8D8-DCE0-7646-F921732D772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64B50D-9F00-DE0C-178C-A4A1601A7651}"/>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
        <p:nvSpPr>
          <p:cNvPr id="8" name="Title 7">
            <a:extLst>
              <a:ext uri="{FF2B5EF4-FFF2-40B4-BE49-F238E27FC236}">
                <a16:creationId xmlns:a16="http://schemas.microsoft.com/office/drawing/2014/main" id="{4694768A-9D61-0EA7-C99F-573686FAC9EB}"/>
              </a:ext>
            </a:extLst>
          </p:cNvPr>
          <p:cNvSpPr>
            <a:spLocks noGrp="1"/>
          </p:cNvSpPr>
          <p:nvPr>
            <p:ph type="title"/>
          </p:nvPr>
        </p:nvSpPr>
        <p:spPr/>
        <p:txBody>
          <a:bodyPr/>
          <a:lstStyle/>
          <a:p>
            <a:r>
              <a:rPr lang="en-US" dirty="0" err="1"/>
              <a:t>TestBed</a:t>
            </a:r>
            <a:r>
              <a:rPr lang="en-US" dirty="0"/>
              <a:t> API</a:t>
            </a:r>
          </a:p>
        </p:txBody>
      </p:sp>
      <p:graphicFrame>
        <p:nvGraphicFramePr>
          <p:cNvPr id="2" name="Table 1">
            <a:extLst>
              <a:ext uri="{FF2B5EF4-FFF2-40B4-BE49-F238E27FC236}">
                <a16:creationId xmlns:a16="http://schemas.microsoft.com/office/drawing/2014/main" id="{92E09C23-9E6D-1E8E-57BB-2A44B2B4781A}"/>
              </a:ext>
            </a:extLst>
          </p:cNvPr>
          <p:cNvGraphicFramePr>
            <a:graphicFrameLocks noGrp="1"/>
          </p:cNvGraphicFramePr>
          <p:nvPr>
            <p:extLst>
              <p:ext uri="{D42A27DB-BD31-4B8C-83A1-F6EECF244321}">
                <p14:modId xmlns:p14="http://schemas.microsoft.com/office/powerpoint/2010/main" val="3717923792"/>
              </p:ext>
            </p:extLst>
          </p:nvPr>
        </p:nvGraphicFramePr>
        <p:xfrm>
          <a:off x="380010" y="1397000"/>
          <a:ext cx="8362056" cy="4312920"/>
        </p:xfrm>
        <a:graphic>
          <a:graphicData uri="http://schemas.openxmlformats.org/drawingml/2006/table">
            <a:tbl>
              <a:tblPr firstRow="1" bandRow="1">
                <a:tableStyleId>{5C22544A-7EE6-4342-B048-85BDC9FD1C3A}</a:tableStyleId>
              </a:tblPr>
              <a:tblGrid>
                <a:gridCol w="4181028">
                  <a:extLst>
                    <a:ext uri="{9D8B030D-6E8A-4147-A177-3AD203B41FA5}">
                      <a16:colId xmlns:a16="http://schemas.microsoft.com/office/drawing/2014/main" val="1902368233"/>
                    </a:ext>
                  </a:extLst>
                </a:gridCol>
                <a:gridCol w="4181028">
                  <a:extLst>
                    <a:ext uri="{9D8B030D-6E8A-4147-A177-3AD203B41FA5}">
                      <a16:colId xmlns:a16="http://schemas.microsoft.com/office/drawing/2014/main" val="3661782331"/>
                    </a:ext>
                  </a:extLst>
                </a:gridCol>
              </a:tblGrid>
              <a:tr h="370840">
                <a:tc>
                  <a:txBody>
                    <a:bodyPr/>
                    <a:lstStyle/>
                    <a:p>
                      <a:r>
                        <a:rPr lang="en-US" dirty="0" err="1"/>
                        <a:t>TestBed</a:t>
                      </a:r>
                      <a:r>
                        <a:rPr lang="en-US" dirty="0"/>
                        <a:t> Method / Property</a:t>
                      </a:r>
                    </a:p>
                  </a:txBody>
                  <a:tcPr/>
                </a:tc>
                <a:tc>
                  <a:txBody>
                    <a:bodyPr/>
                    <a:lstStyle/>
                    <a:p>
                      <a:r>
                        <a:rPr lang="en-US" dirty="0"/>
                        <a:t>What it does</a:t>
                      </a:r>
                    </a:p>
                  </a:txBody>
                  <a:tcPr/>
                </a:tc>
                <a:extLst>
                  <a:ext uri="{0D108BD9-81ED-4DB2-BD59-A6C34878D82A}">
                    <a16:rowId xmlns:a16="http://schemas.microsoft.com/office/drawing/2014/main" val="2528462715"/>
                  </a:ext>
                </a:extLst>
              </a:tr>
              <a:tr h="370840">
                <a:tc>
                  <a:txBody>
                    <a:bodyPr/>
                    <a:lstStyle/>
                    <a:p>
                      <a:r>
                        <a:rPr lang="en-US" dirty="0" err="1"/>
                        <a:t>TestBed.configureTestingModule</a:t>
                      </a:r>
                      <a:r>
                        <a:rPr lang="en-US" dirty="0"/>
                        <a:t>()</a:t>
                      </a:r>
                    </a:p>
                  </a:txBody>
                  <a:tcPr/>
                </a:tc>
                <a:tc>
                  <a:txBody>
                    <a:bodyPr/>
                    <a:lstStyle/>
                    <a:p>
                      <a:r>
                        <a:rPr lang="en-US" dirty="0"/>
                        <a:t>Defines the test Angular module</a:t>
                      </a:r>
                    </a:p>
                  </a:txBody>
                  <a:tcPr/>
                </a:tc>
                <a:extLst>
                  <a:ext uri="{0D108BD9-81ED-4DB2-BD59-A6C34878D82A}">
                    <a16:rowId xmlns:a16="http://schemas.microsoft.com/office/drawing/2014/main" val="2610804134"/>
                  </a:ext>
                </a:extLst>
              </a:tr>
              <a:tr h="370840">
                <a:tc>
                  <a:txBody>
                    <a:bodyPr/>
                    <a:lstStyle/>
                    <a:p>
                      <a:r>
                        <a:rPr lang="en-US" dirty="0" err="1"/>
                        <a:t>TestBed.inject</a:t>
                      </a:r>
                      <a:r>
                        <a:rPr lang="en-US" dirty="0"/>
                        <a:t>(Token)</a:t>
                      </a:r>
                    </a:p>
                  </a:txBody>
                  <a:tcPr/>
                </a:tc>
                <a:tc>
                  <a:txBody>
                    <a:bodyPr/>
                    <a:lstStyle/>
                    <a:p>
                      <a:r>
                        <a:rPr lang="en-US" dirty="0"/>
                        <a:t>Retrieves a service from the injector</a:t>
                      </a:r>
                    </a:p>
                  </a:txBody>
                  <a:tcPr/>
                </a:tc>
                <a:extLst>
                  <a:ext uri="{0D108BD9-81ED-4DB2-BD59-A6C34878D82A}">
                    <a16:rowId xmlns:a16="http://schemas.microsoft.com/office/drawing/2014/main" val="2267692349"/>
                  </a:ext>
                </a:extLst>
              </a:tr>
              <a:tr h="370840">
                <a:tc>
                  <a:txBody>
                    <a:bodyPr/>
                    <a:lstStyle/>
                    <a:p>
                      <a:r>
                        <a:rPr lang="en-US" dirty="0" err="1"/>
                        <a:t>TestBed.createComponent</a:t>
                      </a:r>
                      <a:r>
                        <a:rPr lang="en-US" dirty="0"/>
                        <a:t>(Comp)</a:t>
                      </a:r>
                    </a:p>
                  </a:txBody>
                  <a:tcPr/>
                </a:tc>
                <a:tc>
                  <a:txBody>
                    <a:bodyPr/>
                    <a:lstStyle/>
                    <a:p>
                      <a:r>
                        <a:rPr lang="en-US" dirty="0"/>
                        <a:t>Creates an instance of a component, along with its DOM fixture</a:t>
                      </a:r>
                    </a:p>
                  </a:txBody>
                  <a:tcPr/>
                </a:tc>
                <a:extLst>
                  <a:ext uri="{0D108BD9-81ED-4DB2-BD59-A6C34878D82A}">
                    <a16:rowId xmlns:a16="http://schemas.microsoft.com/office/drawing/2014/main" val="3575887291"/>
                  </a:ext>
                </a:extLst>
              </a:tr>
              <a:tr h="370840">
                <a:tc>
                  <a:txBody>
                    <a:bodyPr/>
                    <a:lstStyle/>
                    <a:p>
                      <a:r>
                        <a:rPr lang="en-US" dirty="0" err="1"/>
                        <a:t>Fixture.detectChanges</a:t>
                      </a:r>
                      <a:endParaRPr lang="en-US" dirty="0"/>
                    </a:p>
                  </a:txBody>
                  <a:tcPr/>
                </a:tc>
                <a:tc>
                  <a:txBody>
                    <a:bodyPr/>
                    <a:lstStyle/>
                    <a:p>
                      <a:r>
                        <a:rPr lang="en-US" dirty="0"/>
                        <a:t>Triggers </a:t>
                      </a:r>
                      <a:r>
                        <a:rPr lang="en-US" dirty="0" err="1"/>
                        <a:t>Angular’s</a:t>
                      </a:r>
                      <a:r>
                        <a:rPr lang="en-US" dirty="0"/>
                        <a:t> change detection – causes data bindings to render</a:t>
                      </a:r>
                    </a:p>
                  </a:txBody>
                  <a:tcPr/>
                </a:tc>
                <a:extLst>
                  <a:ext uri="{0D108BD9-81ED-4DB2-BD59-A6C34878D82A}">
                    <a16:rowId xmlns:a16="http://schemas.microsoft.com/office/drawing/2014/main" val="274500105"/>
                  </a:ext>
                </a:extLst>
              </a:tr>
              <a:tr h="370840">
                <a:tc>
                  <a:txBody>
                    <a:bodyPr/>
                    <a:lstStyle/>
                    <a:p>
                      <a:r>
                        <a:rPr lang="en-US" dirty="0" err="1"/>
                        <a:t>Fixture.componentInstance</a:t>
                      </a:r>
                      <a:endParaRPr lang="en-US" dirty="0"/>
                    </a:p>
                  </a:txBody>
                  <a:tcPr/>
                </a:tc>
                <a:tc>
                  <a:txBody>
                    <a:bodyPr/>
                    <a:lstStyle/>
                    <a:p>
                      <a:r>
                        <a:rPr lang="en-US" dirty="0"/>
                        <a:t>Access the component class instance (properties, methods)</a:t>
                      </a:r>
                    </a:p>
                  </a:txBody>
                  <a:tcPr/>
                </a:tc>
                <a:extLst>
                  <a:ext uri="{0D108BD9-81ED-4DB2-BD59-A6C34878D82A}">
                    <a16:rowId xmlns:a16="http://schemas.microsoft.com/office/drawing/2014/main" val="3016189239"/>
                  </a:ext>
                </a:extLst>
              </a:tr>
              <a:tr h="370840">
                <a:tc>
                  <a:txBody>
                    <a:bodyPr/>
                    <a:lstStyle/>
                    <a:p>
                      <a:r>
                        <a:rPr lang="en-US" dirty="0" err="1"/>
                        <a:t>Fixture.nativeElement</a:t>
                      </a:r>
                      <a:endParaRPr lang="en-US" dirty="0"/>
                    </a:p>
                  </a:txBody>
                  <a:tcPr/>
                </a:tc>
                <a:tc>
                  <a:txBody>
                    <a:bodyPr/>
                    <a:lstStyle/>
                    <a:p>
                      <a:r>
                        <a:rPr lang="en-US" dirty="0"/>
                        <a:t>Access the raw DOM element for querying rendered HTML</a:t>
                      </a:r>
                    </a:p>
                  </a:txBody>
                  <a:tcPr/>
                </a:tc>
                <a:extLst>
                  <a:ext uri="{0D108BD9-81ED-4DB2-BD59-A6C34878D82A}">
                    <a16:rowId xmlns:a16="http://schemas.microsoft.com/office/drawing/2014/main" val="799379568"/>
                  </a:ext>
                </a:extLst>
              </a:tr>
              <a:tr h="370840">
                <a:tc>
                  <a:txBody>
                    <a:bodyPr/>
                    <a:lstStyle/>
                    <a:p>
                      <a:r>
                        <a:rPr lang="en-US" dirty="0" err="1"/>
                        <a:t>Fixture.debugElement</a:t>
                      </a:r>
                      <a:endParaRPr lang="en-US" dirty="0"/>
                    </a:p>
                  </a:txBody>
                  <a:tcPr/>
                </a:tc>
                <a:tc>
                  <a:txBody>
                    <a:bodyPr/>
                    <a:lstStyle/>
                    <a:p>
                      <a:r>
                        <a:rPr lang="en-US" dirty="0"/>
                        <a:t>Access </a:t>
                      </a:r>
                      <a:r>
                        <a:rPr lang="en-US" dirty="0" err="1"/>
                        <a:t>Angular’s</a:t>
                      </a:r>
                      <a:r>
                        <a:rPr lang="en-US" dirty="0"/>
                        <a:t> wrapper over the DOM with extra query helpers</a:t>
                      </a:r>
                    </a:p>
                  </a:txBody>
                  <a:tcPr/>
                </a:tc>
                <a:extLst>
                  <a:ext uri="{0D108BD9-81ED-4DB2-BD59-A6C34878D82A}">
                    <a16:rowId xmlns:a16="http://schemas.microsoft.com/office/drawing/2014/main" val="478466807"/>
                  </a:ext>
                </a:extLst>
              </a:tr>
            </a:tbl>
          </a:graphicData>
        </a:graphic>
      </p:graphicFrame>
      <p:sp>
        <p:nvSpPr>
          <p:cNvPr id="3" name="TextBox 2">
            <a:extLst>
              <a:ext uri="{FF2B5EF4-FFF2-40B4-BE49-F238E27FC236}">
                <a16:creationId xmlns:a16="http://schemas.microsoft.com/office/drawing/2014/main" id="{BE5FF40B-546D-8EC8-A769-B3A8326653D1}"/>
              </a:ext>
            </a:extLst>
          </p:cNvPr>
          <p:cNvSpPr txBox="1"/>
          <p:nvPr/>
        </p:nvSpPr>
        <p:spPr>
          <a:xfrm>
            <a:off x="1416587" y="6176942"/>
            <a:ext cx="6288901" cy="369332"/>
          </a:xfrm>
          <a:prstGeom prst="rect">
            <a:avLst/>
          </a:prstGeom>
          <a:noFill/>
        </p:spPr>
        <p:txBody>
          <a:bodyPr wrap="none" rtlCol="0">
            <a:spAutoFit/>
          </a:bodyPr>
          <a:lstStyle/>
          <a:p>
            <a:r>
              <a:rPr lang="en-US" dirty="0"/>
              <a:t>Fixture is the element returned from the ‘</a:t>
            </a:r>
            <a:r>
              <a:rPr lang="en-US" dirty="0" err="1"/>
              <a:t>createComponent</a:t>
            </a:r>
            <a:r>
              <a:rPr lang="en-US" dirty="0"/>
              <a:t>’</a:t>
            </a:r>
          </a:p>
        </p:txBody>
      </p:sp>
    </p:spTree>
    <p:extLst>
      <p:ext uri="{BB962C8B-B14F-4D97-AF65-F5344CB8AC3E}">
        <p14:creationId xmlns:p14="http://schemas.microsoft.com/office/powerpoint/2010/main" val="4201558879"/>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7270</TotalTime>
  <Words>1297</Words>
  <Application>Microsoft Office PowerPoint</Application>
  <PresentationFormat>On-screen Show (4:3)</PresentationFormat>
  <Paragraphs>143</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2_Custom Design</vt:lpstr>
      <vt:lpstr>Testing Angular</vt:lpstr>
      <vt:lpstr>Outline</vt:lpstr>
      <vt:lpstr>PowerPoint Presentation</vt:lpstr>
      <vt:lpstr>Unit Testing in Angular</vt:lpstr>
      <vt:lpstr>PowerPoint Presentation</vt:lpstr>
      <vt:lpstr>Jasmine</vt:lpstr>
      <vt:lpstr>Jasmine Features</vt:lpstr>
      <vt:lpstr>Jasmine Functions</vt:lpstr>
      <vt:lpstr>Jasmine Example</vt:lpstr>
      <vt:lpstr>Jasmine Matchers (Assertions)</vt:lpstr>
      <vt:lpstr>Spies – Jasmine Mocking</vt:lpstr>
      <vt:lpstr>PowerPoint Presentation</vt:lpstr>
      <vt:lpstr>Karma</vt:lpstr>
      <vt:lpstr>Karma – How it Works</vt:lpstr>
      <vt:lpstr>Karma Config</vt:lpstr>
      <vt:lpstr>PowerPoint Presentation</vt:lpstr>
      <vt:lpstr>Vitest</vt:lpstr>
      <vt:lpstr>PowerPoint Presentation</vt:lpstr>
      <vt:lpstr>Angular Utilities (TestBed)</vt:lpstr>
      <vt:lpstr>The Fixture</vt:lpstr>
      <vt:lpstr>The Fixture</vt:lpstr>
      <vt:lpstr>The Fixture</vt:lpstr>
      <vt:lpstr>TestBed API</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13</cp:revision>
  <cp:lastPrinted>2016-06-20T20:58:50Z</cp:lastPrinted>
  <dcterms:created xsi:type="dcterms:W3CDTF">2016-11-09T18:19:08Z</dcterms:created>
  <dcterms:modified xsi:type="dcterms:W3CDTF">2026-03-06T16:25:14Z</dcterms:modified>
</cp:coreProperties>
</file>