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0"/>
  </p:notesMasterIdLst>
  <p:handoutMasterIdLst>
    <p:handoutMasterId r:id="rId31"/>
  </p:handoutMasterIdLst>
  <p:sldIdLst>
    <p:sldId id="256" r:id="rId2"/>
    <p:sldId id="257" r:id="rId3"/>
    <p:sldId id="357" r:id="rId4"/>
    <p:sldId id="343" r:id="rId5"/>
    <p:sldId id="358" r:id="rId6"/>
    <p:sldId id="375" r:id="rId7"/>
    <p:sldId id="361" r:id="rId8"/>
    <p:sldId id="376" r:id="rId9"/>
    <p:sldId id="362" r:id="rId10"/>
    <p:sldId id="359" r:id="rId11"/>
    <p:sldId id="360" r:id="rId12"/>
    <p:sldId id="369" r:id="rId13"/>
    <p:sldId id="363" r:id="rId14"/>
    <p:sldId id="364" r:id="rId15"/>
    <p:sldId id="370" r:id="rId16"/>
    <p:sldId id="371" r:id="rId17"/>
    <p:sldId id="372" r:id="rId18"/>
    <p:sldId id="365" r:id="rId19"/>
    <p:sldId id="366" r:id="rId20"/>
    <p:sldId id="373" r:id="rId21"/>
    <p:sldId id="374" r:id="rId22"/>
    <p:sldId id="367" r:id="rId23"/>
    <p:sldId id="368" r:id="rId24"/>
    <p:sldId id="379" r:id="rId25"/>
    <p:sldId id="382" r:id="rId26"/>
    <p:sldId id="381" r:id="rId27"/>
    <p:sldId id="378" r:id="rId28"/>
    <p:sldId id="383" r:id="rId2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50" d="100"/>
          <a:sy n="50" d="100"/>
        </p:scale>
        <p:origin x="1578" y="54"/>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3" d="2"/>
        <a:sy n="3" d="2"/>
      </p:scale>
      <p:origin x="-6" y="-18"/>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3/9/2026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3/9/2026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DevOps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6" name="Content Placeholder 5">
            <a:extLst>
              <a:ext uri="{FF2B5EF4-FFF2-40B4-BE49-F238E27FC236}">
                <a16:creationId xmlns:a16="http://schemas.microsoft.com/office/drawing/2014/main" id="{DEEF6BF5-9707-F5D1-3838-580657495F45}"/>
              </a:ext>
            </a:extLst>
          </p:cNvPr>
          <p:cNvSpPr>
            <a:spLocks noGrp="1"/>
          </p:cNvSpPr>
          <p:nvPr>
            <p:ph idx="1"/>
          </p:nvPr>
        </p:nvSpPr>
        <p:spPr/>
        <p:txBody>
          <a:bodyPr/>
          <a:lstStyle/>
          <a:p>
            <a:r>
              <a:rPr lang="en-US" dirty="0"/>
              <a:t>DevOps Intro</a:t>
            </a:r>
          </a:p>
          <a:p>
            <a:r>
              <a:rPr lang="en-US" dirty="0"/>
              <a:t>DevOps &amp; Agile</a:t>
            </a:r>
          </a:p>
          <a:p>
            <a:r>
              <a:rPr lang="en-US" dirty="0"/>
              <a:t>Continuous Integration</a:t>
            </a:r>
          </a:p>
          <a:p>
            <a:r>
              <a:rPr lang="en-US" dirty="0"/>
              <a:t>Continuous Delivery</a:t>
            </a:r>
          </a:p>
          <a:p>
            <a:r>
              <a:rPr lang="en-US" dirty="0"/>
              <a:t>Continuous Deployment</a:t>
            </a:r>
          </a:p>
          <a:p>
            <a:r>
              <a:rPr lang="en-US" dirty="0"/>
              <a:t>DevOps Tools - Sonar</a:t>
            </a:r>
          </a:p>
          <a:p>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397599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DevOps Intro</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DevOps</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fontScale="92500" lnSpcReduction="10000"/>
          </a:bodyPr>
          <a:lstStyle/>
          <a:p>
            <a:r>
              <a:rPr lang="en-US" dirty="0"/>
              <a:t>Software </a:t>
            </a:r>
            <a:r>
              <a:rPr lang="en-US" b="1" dirty="0"/>
              <a:t>Dev</a:t>
            </a:r>
            <a:r>
              <a:rPr lang="en-US" dirty="0"/>
              <a:t>elopment </a:t>
            </a:r>
            <a:r>
              <a:rPr lang="en-US" b="1" dirty="0"/>
              <a:t>Op</a:t>
            </a:r>
            <a:r>
              <a:rPr lang="en-US" dirty="0"/>
              <a:t>eration</a:t>
            </a:r>
            <a:r>
              <a:rPr lang="en-US" b="1" dirty="0"/>
              <a:t>s </a:t>
            </a:r>
            <a:r>
              <a:rPr lang="en-US" dirty="0"/>
              <a:t>are a set of practices and methodologies designed to combine the development, deployment and maintenance of code into a streamlined process.</a:t>
            </a:r>
          </a:p>
          <a:p>
            <a:pPr lvl="1"/>
            <a:r>
              <a:rPr lang="en-US" b="1" dirty="0"/>
              <a:t>Development</a:t>
            </a:r>
            <a:r>
              <a:rPr lang="en-US" dirty="0"/>
              <a:t>: Production/writing of code</a:t>
            </a:r>
          </a:p>
          <a:p>
            <a:pPr lvl="1"/>
            <a:r>
              <a:rPr lang="en-US" b="1" dirty="0"/>
              <a:t>Deployment</a:t>
            </a:r>
            <a:r>
              <a:rPr lang="en-US" dirty="0"/>
              <a:t>: Making code available in a production environment (typically cloud)</a:t>
            </a:r>
          </a:p>
          <a:p>
            <a:pPr lvl="1"/>
            <a:r>
              <a:rPr lang="en-US" b="1" dirty="0"/>
              <a:t>Maintenance</a:t>
            </a:r>
            <a:r>
              <a:rPr lang="en-US" dirty="0"/>
              <a:t>: Ongoing updates/bug fixing of codebase &amp; application as a whole.</a:t>
            </a:r>
          </a:p>
          <a:p>
            <a:r>
              <a:rPr lang="en-US" dirty="0"/>
              <a:t>The primary goal of DevOps is to expedite the lifecycle of application development, particularly through the automation of tasks</a:t>
            </a:r>
          </a:p>
        </p:txBody>
      </p:sp>
    </p:spTree>
    <p:extLst>
      <p:ext uri="{BB962C8B-B14F-4D97-AF65-F5344CB8AC3E}">
        <p14:creationId xmlns:p14="http://schemas.microsoft.com/office/powerpoint/2010/main" val="195743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E39E-1BF2-0A46-0E6F-3E358A805A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90980B-C69A-6153-E799-CB99EDE49E62}"/>
              </a:ext>
            </a:extLst>
          </p:cNvPr>
          <p:cNvSpPr>
            <a:spLocks noGrp="1"/>
          </p:cNvSpPr>
          <p:nvPr>
            <p:ph type="sldNum" sz="quarter" idx="12"/>
          </p:nvPr>
        </p:nvSpPr>
        <p:spPr/>
        <p:txBody>
          <a:bodyPr/>
          <a:lstStyle/>
          <a:p>
            <a:fld id="{F6728BC2-ACA3-447C-A909-F3F49211C066}" type="slidenum">
              <a:rPr lang="en-US" smtClean="0"/>
              <a:pPr/>
              <a:t>4</a:t>
            </a:fld>
            <a:endParaRPr lang="en-US" dirty="0"/>
          </a:p>
        </p:txBody>
      </p:sp>
      <p:sp>
        <p:nvSpPr>
          <p:cNvPr id="6" name="Content Placeholder 5">
            <a:extLst>
              <a:ext uri="{FF2B5EF4-FFF2-40B4-BE49-F238E27FC236}">
                <a16:creationId xmlns:a16="http://schemas.microsoft.com/office/drawing/2014/main" id="{EDF99236-7678-0E08-573D-0BBF7C5B82FE}"/>
              </a:ext>
            </a:extLst>
          </p:cNvPr>
          <p:cNvSpPr>
            <a:spLocks noGrp="1"/>
          </p:cNvSpPr>
          <p:nvPr>
            <p:ph idx="1"/>
          </p:nvPr>
        </p:nvSpPr>
        <p:spPr/>
        <p:txBody>
          <a:bodyPr>
            <a:normAutofit fontScale="92500" lnSpcReduction="10000"/>
          </a:bodyPr>
          <a:lstStyle/>
          <a:p>
            <a:r>
              <a:rPr lang="en-US" dirty="0"/>
              <a:t>The steps or phases for DevOps refers to the creation, testing and deployment of an application</a:t>
            </a:r>
          </a:p>
          <a:p>
            <a:pPr lvl="1"/>
            <a:r>
              <a:rPr lang="en-US" b="1" dirty="0"/>
              <a:t>Source Code Control</a:t>
            </a:r>
            <a:r>
              <a:rPr lang="en-US" dirty="0"/>
              <a:t>: Producing (writing) code and pushing to a repository</a:t>
            </a:r>
          </a:p>
          <a:p>
            <a:pPr lvl="1"/>
            <a:r>
              <a:rPr lang="en-US" b="1" dirty="0"/>
              <a:t>Building and Testing Automation</a:t>
            </a:r>
            <a:r>
              <a:rPr lang="en-US" dirty="0"/>
              <a:t>: Test basic functionality of code (generally unit testing) and create a new, working build</a:t>
            </a:r>
          </a:p>
          <a:p>
            <a:pPr lvl="1"/>
            <a:r>
              <a:rPr lang="en-US" b="1" dirty="0"/>
              <a:t>Deployment to Staging</a:t>
            </a:r>
            <a:r>
              <a:rPr lang="en-US" dirty="0"/>
              <a:t>: Deployment of working build to a temporary environment</a:t>
            </a:r>
          </a:p>
          <a:p>
            <a:pPr lvl="1"/>
            <a:r>
              <a:rPr lang="en-US" b="1" dirty="0"/>
              <a:t>Acceptance Testing</a:t>
            </a:r>
            <a:r>
              <a:rPr lang="en-US" dirty="0"/>
              <a:t>: Undergo other more complex tests (systems, integration, UAT), with the temporary environment</a:t>
            </a:r>
          </a:p>
          <a:p>
            <a:pPr lvl="1"/>
            <a:r>
              <a:rPr lang="en-US" b="1" dirty="0"/>
              <a:t>Deployment of Build</a:t>
            </a:r>
            <a:r>
              <a:rPr lang="en-US" dirty="0"/>
              <a:t>: Migrate working build to Production environment accessible by end users.</a:t>
            </a:r>
          </a:p>
        </p:txBody>
      </p:sp>
      <p:sp>
        <p:nvSpPr>
          <p:cNvPr id="8" name="Title 7">
            <a:extLst>
              <a:ext uri="{FF2B5EF4-FFF2-40B4-BE49-F238E27FC236}">
                <a16:creationId xmlns:a16="http://schemas.microsoft.com/office/drawing/2014/main" id="{80AA2DE3-50EB-0AED-46BE-0700C3F6D5FD}"/>
              </a:ext>
            </a:extLst>
          </p:cNvPr>
          <p:cNvSpPr>
            <a:spLocks noGrp="1"/>
          </p:cNvSpPr>
          <p:nvPr>
            <p:ph type="title"/>
          </p:nvPr>
        </p:nvSpPr>
        <p:spPr/>
        <p:txBody>
          <a:bodyPr/>
          <a:lstStyle/>
          <a:p>
            <a:r>
              <a:rPr lang="en-US" dirty="0"/>
              <a:t>DevOps</a:t>
            </a:r>
          </a:p>
        </p:txBody>
      </p:sp>
    </p:spTree>
    <p:extLst>
      <p:ext uri="{BB962C8B-B14F-4D97-AF65-F5344CB8AC3E}">
        <p14:creationId xmlns:p14="http://schemas.microsoft.com/office/powerpoint/2010/main" val="13708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B785-A7D3-171A-7E98-007431F98D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B0FB3C-4899-0997-2C7C-8C6B5D4EF51F}"/>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a:t>
            </a:fld>
            <a:endParaRPr lang="en-US"/>
          </a:p>
        </p:txBody>
      </p:sp>
      <p:sp>
        <p:nvSpPr>
          <p:cNvPr id="4" name="Google Shape;212;p15">
            <a:extLst>
              <a:ext uri="{FF2B5EF4-FFF2-40B4-BE49-F238E27FC236}">
                <a16:creationId xmlns:a16="http://schemas.microsoft.com/office/drawing/2014/main" id="{14B83877-7C64-8E99-24AB-9E88079E2BD0}"/>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DevOps &amp; Agile</a:t>
            </a:r>
          </a:p>
        </p:txBody>
      </p:sp>
      <p:pic>
        <p:nvPicPr>
          <p:cNvPr id="6" name="Picture 5">
            <a:extLst>
              <a:ext uri="{FF2B5EF4-FFF2-40B4-BE49-F238E27FC236}">
                <a16:creationId xmlns:a16="http://schemas.microsoft.com/office/drawing/2014/main" id="{F96D8298-5A97-A6E8-703A-76308DCCD9D6}"/>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515504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91896-3AA7-1215-7FF6-10A66E480B1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B4B23E-569A-7818-7FBD-6A1AFDFF392B}"/>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
        <p:nvSpPr>
          <p:cNvPr id="6" name="Content Placeholder 5">
            <a:extLst>
              <a:ext uri="{FF2B5EF4-FFF2-40B4-BE49-F238E27FC236}">
                <a16:creationId xmlns:a16="http://schemas.microsoft.com/office/drawing/2014/main" id="{B7C6526F-CF6B-28B9-A6C1-735864C032D3}"/>
              </a:ext>
            </a:extLst>
          </p:cNvPr>
          <p:cNvSpPr>
            <a:spLocks noGrp="1"/>
          </p:cNvSpPr>
          <p:nvPr>
            <p:ph idx="1"/>
          </p:nvPr>
        </p:nvSpPr>
        <p:spPr/>
        <p:txBody>
          <a:bodyPr>
            <a:normAutofit fontScale="77500" lnSpcReduction="20000"/>
          </a:bodyPr>
          <a:lstStyle/>
          <a:p>
            <a:r>
              <a:rPr lang="en-US" dirty="0"/>
              <a:t>Agile is a mentality or philosophy utilized when approaching the creation of IT / Software systems and is a flexible approach of addressing the steps of SDLC (software development lifecycle)</a:t>
            </a:r>
          </a:p>
          <a:p>
            <a:r>
              <a:rPr lang="en-US" dirty="0"/>
              <a:t>Development teams who practice an Agile methodology place a focus on producing code through iteration and collaboration rather than following a rigid plan.</a:t>
            </a:r>
          </a:p>
          <a:p>
            <a:r>
              <a:rPr lang="en-US" dirty="0"/>
              <a:t>Though DevOps, which involves the creation of a systematic approach to producing code, and Agile, which is a mentality that focuses on creating products by adapting to change quickly, seem contradictory – the goal of both methodologies is to produce working and valuable products more efficiently</a:t>
            </a:r>
          </a:p>
          <a:p>
            <a:r>
              <a:rPr lang="en-US" dirty="0"/>
              <a:t>DevOps pertains to the entire system working together to produce, test, deploy and maintain the code base, while Agile practices allow for each step of that process to change wherever and whenever needed.</a:t>
            </a:r>
          </a:p>
        </p:txBody>
      </p:sp>
      <p:sp>
        <p:nvSpPr>
          <p:cNvPr id="8" name="Title 7">
            <a:extLst>
              <a:ext uri="{FF2B5EF4-FFF2-40B4-BE49-F238E27FC236}">
                <a16:creationId xmlns:a16="http://schemas.microsoft.com/office/drawing/2014/main" id="{BEAD04A5-40E9-7DAB-CF0B-BD94A38CD99B}"/>
              </a:ext>
            </a:extLst>
          </p:cNvPr>
          <p:cNvSpPr>
            <a:spLocks noGrp="1"/>
          </p:cNvSpPr>
          <p:nvPr>
            <p:ph type="title"/>
          </p:nvPr>
        </p:nvSpPr>
        <p:spPr/>
        <p:txBody>
          <a:bodyPr/>
          <a:lstStyle/>
          <a:p>
            <a:r>
              <a:rPr lang="en-US" dirty="0"/>
              <a:t>DevOps &amp; Agile</a:t>
            </a:r>
          </a:p>
        </p:txBody>
      </p:sp>
    </p:spTree>
    <p:extLst>
      <p:ext uri="{BB962C8B-B14F-4D97-AF65-F5344CB8AC3E}">
        <p14:creationId xmlns:p14="http://schemas.microsoft.com/office/powerpoint/2010/main" val="161003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DE7B2-2807-F94E-F3F1-CD2202C78A6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35CE96-C918-B14B-501B-694D1B71BE73}"/>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6" name="Content Placeholder 5">
            <a:extLst>
              <a:ext uri="{FF2B5EF4-FFF2-40B4-BE49-F238E27FC236}">
                <a16:creationId xmlns:a16="http://schemas.microsoft.com/office/drawing/2014/main" id="{DB5D0608-C5AF-4407-56E4-1DCA780064C9}"/>
              </a:ext>
            </a:extLst>
          </p:cNvPr>
          <p:cNvSpPr>
            <a:spLocks noGrp="1"/>
          </p:cNvSpPr>
          <p:nvPr>
            <p:ph idx="1"/>
          </p:nvPr>
        </p:nvSpPr>
        <p:spPr/>
        <p:txBody>
          <a:bodyPr>
            <a:normAutofit fontScale="92500" lnSpcReduction="10000"/>
          </a:bodyPr>
          <a:lstStyle/>
          <a:p>
            <a:r>
              <a:rPr lang="en-US" dirty="0"/>
              <a:t>Generally, there are three ways of approaching a DevOps culture with an Agile methodology</a:t>
            </a:r>
          </a:p>
          <a:p>
            <a:pPr lvl="1"/>
            <a:r>
              <a:rPr lang="en-US" b="1" dirty="0"/>
              <a:t>System Thinking</a:t>
            </a:r>
            <a:r>
              <a:rPr lang="en-US" dirty="0"/>
              <a:t>: Placing emphasis on the performance of an entire system</a:t>
            </a:r>
          </a:p>
          <a:p>
            <a:pPr lvl="1"/>
            <a:r>
              <a:rPr lang="en-US" b="1" dirty="0"/>
              <a:t>Amplify Feedback Loops</a:t>
            </a:r>
            <a:r>
              <a:rPr lang="en-US" dirty="0"/>
              <a:t>: Through the use of automation, the speed and efficiency of feedback loops can drastically improve</a:t>
            </a:r>
          </a:p>
          <a:p>
            <a:pPr lvl="1"/>
            <a:r>
              <a:rPr lang="en-US" b="1" dirty="0"/>
              <a:t>Culture of Continual Experimentation and Learning</a:t>
            </a:r>
            <a:r>
              <a:rPr lang="en-US" dirty="0"/>
              <a:t>: Fostering a work culture which values taking risks and learning from failure – knowing that this understanding, practice and repetition are the prerequisites to mastery.</a:t>
            </a:r>
          </a:p>
          <a:p>
            <a:pPr lvl="2"/>
            <a:r>
              <a:rPr lang="en-US" dirty="0"/>
              <a:t>This can lead to increased collaboration and self-reflection and promotes further improvement for an entire workplace community</a:t>
            </a:r>
          </a:p>
        </p:txBody>
      </p:sp>
      <p:sp>
        <p:nvSpPr>
          <p:cNvPr id="8" name="Title 7">
            <a:extLst>
              <a:ext uri="{FF2B5EF4-FFF2-40B4-BE49-F238E27FC236}">
                <a16:creationId xmlns:a16="http://schemas.microsoft.com/office/drawing/2014/main" id="{2DCA7C5F-1E5D-3E97-9430-79F942C25385}"/>
              </a:ext>
            </a:extLst>
          </p:cNvPr>
          <p:cNvSpPr>
            <a:spLocks noGrp="1"/>
          </p:cNvSpPr>
          <p:nvPr>
            <p:ph type="title"/>
          </p:nvPr>
        </p:nvSpPr>
        <p:spPr/>
        <p:txBody>
          <a:bodyPr/>
          <a:lstStyle/>
          <a:p>
            <a:r>
              <a:rPr lang="en-US" dirty="0"/>
              <a:t>DevOps &amp; Agile</a:t>
            </a:r>
          </a:p>
        </p:txBody>
      </p:sp>
    </p:spTree>
    <p:extLst>
      <p:ext uri="{BB962C8B-B14F-4D97-AF65-F5344CB8AC3E}">
        <p14:creationId xmlns:p14="http://schemas.microsoft.com/office/powerpoint/2010/main" val="38625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D789A-403D-016F-5219-74E1687E06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A8202-483C-8D2D-57FB-B580D1F86827}"/>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
        <p:nvSpPr>
          <p:cNvPr id="6" name="Content Placeholder 5">
            <a:extLst>
              <a:ext uri="{FF2B5EF4-FFF2-40B4-BE49-F238E27FC236}">
                <a16:creationId xmlns:a16="http://schemas.microsoft.com/office/drawing/2014/main" id="{14D89BD2-AE28-5F21-2E10-06DFA01674DE}"/>
              </a:ext>
            </a:extLst>
          </p:cNvPr>
          <p:cNvSpPr>
            <a:spLocks noGrp="1"/>
          </p:cNvSpPr>
          <p:nvPr>
            <p:ph idx="1"/>
          </p:nvPr>
        </p:nvSpPr>
        <p:spPr/>
        <p:txBody>
          <a:bodyPr>
            <a:normAutofit/>
          </a:bodyPr>
          <a:lstStyle/>
          <a:p>
            <a:r>
              <a:rPr lang="en-US" dirty="0"/>
              <a:t>The adoption of the Agile philosophies can provide a stepping stone for the establishment of a working DevOps pipeline, since Agile practices intrinsically produce more continuous feedback loops</a:t>
            </a:r>
          </a:p>
          <a:p>
            <a:r>
              <a:rPr lang="en-US" dirty="0"/>
              <a:t>Agile Practices with DevOps:</a:t>
            </a:r>
          </a:p>
          <a:p>
            <a:pPr lvl="1"/>
            <a:r>
              <a:rPr lang="en-US" dirty="0"/>
              <a:t>Continuous Integration</a:t>
            </a:r>
          </a:p>
          <a:p>
            <a:pPr lvl="1"/>
            <a:r>
              <a:rPr lang="en-US" dirty="0"/>
              <a:t>Continuous Delivery</a:t>
            </a:r>
          </a:p>
          <a:p>
            <a:pPr lvl="1"/>
            <a:r>
              <a:rPr lang="en-US" dirty="0"/>
              <a:t>Continuous Deployment</a:t>
            </a:r>
          </a:p>
        </p:txBody>
      </p:sp>
      <p:sp>
        <p:nvSpPr>
          <p:cNvPr id="8" name="Title 7">
            <a:extLst>
              <a:ext uri="{FF2B5EF4-FFF2-40B4-BE49-F238E27FC236}">
                <a16:creationId xmlns:a16="http://schemas.microsoft.com/office/drawing/2014/main" id="{967FF9CA-A241-2A00-726D-3B8CBDA70E72}"/>
              </a:ext>
            </a:extLst>
          </p:cNvPr>
          <p:cNvSpPr>
            <a:spLocks noGrp="1"/>
          </p:cNvSpPr>
          <p:nvPr>
            <p:ph type="title"/>
          </p:nvPr>
        </p:nvSpPr>
        <p:spPr/>
        <p:txBody>
          <a:bodyPr/>
          <a:lstStyle/>
          <a:p>
            <a:r>
              <a:rPr lang="en-US" dirty="0"/>
              <a:t>DevOps &amp; Agile</a:t>
            </a:r>
          </a:p>
        </p:txBody>
      </p:sp>
    </p:spTree>
    <p:extLst>
      <p:ext uri="{BB962C8B-B14F-4D97-AF65-F5344CB8AC3E}">
        <p14:creationId xmlns:p14="http://schemas.microsoft.com/office/powerpoint/2010/main" val="364846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82FBB-8A1A-4343-6FBD-F539C795B0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3D2918-BAD4-6CE9-E7A5-45185535A932}"/>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9</a:t>
            </a:fld>
            <a:endParaRPr lang="en-US"/>
          </a:p>
        </p:txBody>
      </p:sp>
      <p:sp>
        <p:nvSpPr>
          <p:cNvPr id="4" name="Google Shape;212;p15">
            <a:extLst>
              <a:ext uri="{FF2B5EF4-FFF2-40B4-BE49-F238E27FC236}">
                <a16:creationId xmlns:a16="http://schemas.microsoft.com/office/drawing/2014/main" id="{00E28B6B-C521-20CC-ED12-4063F86064DE}"/>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Continuous Integration</a:t>
            </a:r>
          </a:p>
        </p:txBody>
      </p:sp>
      <p:pic>
        <p:nvPicPr>
          <p:cNvPr id="6" name="Picture 5">
            <a:extLst>
              <a:ext uri="{FF2B5EF4-FFF2-40B4-BE49-F238E27FC236}">
                <a16:creationId xmlns:a16="http://schemas.microsoft.com/office/drawing/2014/main" id="{83DD8F23-462E-5CBC-E372-39F5DCA12C52}"/>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810161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2BCA-97B7-D77B-48AF-F8A08E698B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76A6B2-CFD0-1DBC-00E8-5700F16AFFED}"/>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6" name="Content Placeholder 5">
            <a:extLst>
              <a:ext uri="{FF2B5EF4-FFF2-40B4-BE49-F238E27FC236}">
                <a16:creationId xmlns:a16="http://schemas.microsoft.com/office/drawing/2014/main" id="{E3B885D6-8EB2-BA95-6F8A-ECE68ECCCA61}"/>
              </a:ext>
            </a:extLst>
          </p:cNvPr>
          <p:cNvSpPr>
            <a:spLocks noGrp="1"/>
          </p:cNvSpPr>
          <p:nvPr>
            <p:ph idx="1"/>
          </p:nvPr>
        </p:nvSpPr>
        <p:spPr/>
        <p:txBody>
          <a:bodyPr>
            <a:normAutofit fontScale="70000" lnSpcReduction="20000"/>
          </a:bodyPr>
          <a:lstStyle/>
          <a:p>
            <a:r>
              <a:rPr lang="en-US" dirty="0"/>
              <a:t>Continuous Integration (CI) is the first, and most fundamental step in creating an autonomous development pipeline.</a:t>
            </a:r>
          </a:p>
          <a:p>
            <a:r>
              <a:rPr lang="en-US" dirty="0"/>
              <a:t>Similarly, to Continuous Delivery and Continuous Deployment, Continuous Integration is a development Team mentality and is achieved when all members of the development team practice consistent merging of code into a central repository.</a:t>
            </a:r>
          </a:p>
          <a:p>
            <a:r>
              <a:rPr lang="en-US" dirty="0"/>
              <a:t>For CI to take place, these central repositories should be in the form of version control software (Git)</a:t>
            </a:r>
          </a:p>
          <a:p>
            <a:r>
              <a:rPr lang="en-US" dirty="0"/>
              <a:t>Version control tools track changes to code, and allow changes to be merged (allowing you to select what changes to keep/reject if, and when, conflicts arise).</a:t>
            </a:r>
          </a:p>
          <a:p>
            <a:r>
              <a:rPr lang="en-US" dirty="0"/>
              <a:t>Version Control tools also allow files to be rolled back to a previous version</a:t>
            </a:r>
          </a:p>
          <a:p>
            <a:r>
              <a:rPr lang="en-US" dirty="0"/>
              <a:t>Integration of code into these repositories should happen as often as possible, with at least one commit each day (often more)</a:t>
            </a:r>
          </a:p>
        </p:txBody>
      </p:sp>
      <p:sp>
        <p:nvSpPr>
          <p:cNvPr id="8" name="Title 7">
            <a:extLst>
              <a:ext uri="{FF2B5EF4-FFF2-40B4-BE49-F238E27FC236}">
                <a16:creationId xmlns:a16="http://schemas.microsoft.com/office/drawing/2014/main" id="{8466F080-03FC-10EF-5610-E54033349117}"/>
              </a:ext>
            </a:extLst>
          </p:cNvPr>
          <p:cNvSpPr>
            <a:spLocks noGrp="1"/>
          </p:cNvSpPr>
          <p:nvPr>
            <p:ph type="title"/>
          </p:nvPr>
        </p:nvSpPr>
        <p:spPr/>
        <p:txBody>
          <a:bodyPr/>
          <a:lstStyle/>
          <a:p>
            <a:r>
              <a:rPr lang="en-US" dirty="0"/>
              <a:t>Continuous Integration</a:t>
            </a:r>
          </a:p>
        </p:txBody>
      </p:sp>
    </p:spTree>
    <p:extLst>
      <p:ext uri="{BB962C8B-B14F-4D97-AF65-F5344CB8AC3E}">
        <p14:creationId xmlns:p14="http://schemas.microsoft.com/office/powerpoint/2010/main" val="179827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82419-AA6A-9753-C70B-53E9AD31902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4F66D5-4E7B-5842-4D0C-7413F0F62BE7}"/>
              </a:ext>
            </a:extLst>
          </p:cNvPr>
          <p:cNvSpPr>
            <a:spLocks noGrp="1"/>
          </p:cNvSpPr>
          <p:nvPr>
            <p:ph type="sldNum" sz="quarter" idx="12"/>
          </p:nvPr>
        </p:nvSpPr>
        <p:spPr/>
        <p:txBody>
          <a:bodyPr/>
          <a:lstStyle/>
          <a:p>
            <a:fld id="{F6728BC2-ACA3-447C-A909-F3F49211C066}" type="slidenum">
              <a:rPr lang="en-US" smtClean="0"/>
              <a:pPr/>
              <a:t>11</a:t>
            </a:fld>
            <a:endParaRPr lang="en-US" dirty="0"/>
          </a:p>
        </p:txBody>
      </p:sp>
      <p:sp>
        <p:nvSpPr>
          <p:cNvPr id="6" name="Content Placeholder 5">
            <a:extLst>
              <a:ext uri="{FF2B5EF4-FFF2-40B4-BE49-F238E27FC236}">
                <a16:creationId xmlns:a16="http://schemas.microsoft.com/office/drawing/2014/main" id="{F8D5DF1D-52F6-9B4F-0230-7E643896BD58}"/>
              </a:ext>
            </a:extLst>
          </p:cNvPr>
          <p:cNvSpPr>
            <a:spLocks noGrp="1"/>
          </p:cNvSpPr>
          <p:nvPr>
            <p:ph idx="1"/>
          </p:nvPr>
        </p:nvSpPr>
        <p:spPr/>
        <p:txBody>
          <a:bodyPr>
            <a:normAutofit fontScale="92500" lnSpcReduction="20000"/>
          </a:bodyPr>
          <a:lstStyle/>
          <a:p>
            <a:r>
              <a:rPr lang="en-US" dirty="0"/>
              <a:t>Ensures the entire team works on the most up to date code</a:t>
            </a:r>
          </a:p>
          <a:p>
            <a:pPr lvl="1"/>
            <a:r>
              <a:rPr lang="en-US" dirty="0"/>
              <a:t>Frequently pushing code allows developers to account for changes performed by other team members quickly.</a:t>
            </a:r>
          </a:p>
          <a:p>
            <a:r>
              <a:rPr lang="en-US" dirty="0"/>
              <a:t>Detects broken builds quickly</a:t>
            </a:r>
          </a:p>
          <a:p>
            <a:pPr lvl="1"/>
            <a:r>
              <a:rPr lang="en-US" dirty="0"/>
              <a:t>If problems arise, version control software can help detect the root cause or rollback changes when necessary</a:t>
            </a:r>
          </a:p>
          <a:p>
            <a:r>
              <a:rPr lang="en-US" dirty="0"/>
              <a:t>Code Can be tested easily by creating separate test or development branches based on the mainline code</a:t>
            </a:r>
          </a:p>
          <a:p>
            <a:r>
              <a:rPr lang="en-US" dirty="0"/>
              <a:t>Reduces risk in development when a large codebase has already been established</a:t>
            </a:r>
          </a:p>
          <a:p>
            <a:r>
              <a:rPr lang="en-US" dirty="0"/>
              <a:t>Reduces the overall number of bugs in a project</a:t>
            </a:r>
          </a:p>
        </p:txBody>
      </p:sp>
      <p:sp>
        <p:nvSpPr>
          <p:cNvPr id="8" name="Title 7">
            <a:extLst>
              <a:ext uri="{FF2B5EF4-FFF2-40B4-BE49-F238E27FC236}">
                <a16:creationId xmlns:a16="http://schemas.microsoft.com/office/drawing/2014/main" id="{583CE541-8CF4-25A2-92CB-D6C9B5AE3ED1}"/>
              </a:ext>
            </a:extLst>
          </p:cNvPr>
          <p:cNvSpPr>
            <a:spLocks noGrp="1"/>
          </p:cNvSpPr>
          <p:nvPr>
            <p:ph type="title"/>
          </p:nvPr>
        </p:nvSpPr>
        <p:spPr/>
        <p:txBody>
          <a:bodyPr/>
          <a:lstStyle/>
          <a:p>
            <a:r>
              <a:rPr lang="en-US" dirty="0"/>
              <a:t>Continuous Integration | Benefits</a:t>
            </a:r>
          </a:p>
        </p:txBody>
      </p:sp>
    </p:spTree>
    <p:extLst>
      <p:ext uri="{BB962C8B-B14F-4D97-AF65-F5344CB8AC3E}">
        <p14:creationId xmlns:p14="http://schemas.microsoft.com/office/powerpoint/2010/main" val="342022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D3FC-4FE5-C52B-A2DB-BC31899D544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435BE7-D16A-90E2-B7C7-85F81367665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12</a:t>
            </a:fld>
            <a:endParaRPr lang="en-US"/>
          </a:p>
        </p:txBody>
      </p:sp>
      <p:sp>
        <p:nvSpPr>
          <p:cNvPr id="4" name="Google Shape;212;p15">
            <a:extLst>
              <a:ext uri="{FF2B5EF4-FFF2-40B4-BE49-F238E27FC236}">
                <a16:creationId xmlns:a16="http://schemas.microsoft.com/office/drawing/2014/main" id="{29BCE779-73F8-8180-BD80-3AE22385064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Continuous Delivery</a:t>
            </a:r>
          </a:p>
        </p:txBody>
      </p:sp>
      <p:pic>
        <p:nvPicPr>
          <p:cNvPr id="6" name="Picture 5">
            <a:extLst>
              <a:ext uri="{FF2B5EF4-FFF2-40B4-BE49-F238E27FC236}">
                <a16:creationId xmlns:a16="http://schemas.microsoft.com/office/drawing/2014/main" id="{DB41C931-A483-7FD0-976E-E41AD3D3FD2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943059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BCF35-2F77-79B7-939B-FDDF53700BF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676961-DF32-5429-6744-685D98BBC3F2}"/>
              </a:ext>
            </a:extLst>
          </p:cNvPr>
          <p:cNvSpPr>
            <a:spLocks noGrp="1"/>
          </p:cNvSpPr>
          <p:nvPr>
            <p:ph type="sldNum" sz="quarter" idx="12"/>
          </p:nvPr>
        </p:nvSpPr>
        <p:spPr/>
        <p:txBody>
          <a:bodyPr/>
          <a:lstStyle/>
          <a:p>
            <a:fld id="{F6728BC2-ACA3-447C-A909-F3F49211C066}" type="slidenum">
              <a:rPr lang="en-US" smtClean="0"/>
              <a:pPr/>
              <a:t>13</a:t>
            </a:fld>
            <a:endParaRPr lang="en-US" dirty="0"/>
          </a:p>
        </p:txBody>
      </p:sp>
      <p:sp>
        <p:nvSpPr>
          <p:cNvPr id="6" name="Content Placeholder 5">
            <a:extLst>
              <a:ext uri="{FF2B5EF4-FFF2-40B4-BE49-F238E27FC236}">
                <a16:creationId xmlns:a16="http://schemas.microsoft.com/office/drawing/2014/main" id="{095CDC01-E1A9-9E3C-EB5B-ABE72B364E5E}"/>
              </a:ext>
            </a:extLst>
          </p:cNvPr>
          <p:cNvSpPr>
            <a:spLocks noGrp="1"/>
          </p:cNvSpPr>
          <p:nvPr>
            <p:ph idx="1"/>
          </p:nvPr>
        </p:nvSpPr>
        <p:spPr/>
        <p:txBody>
          <a:bodyPr>
            <a:normAutofit fontScale="85000" lnSpcReduction="20000"/>
          </a:bodyPr>
          <a:lstStyle/>
          <a:p>
            <a:r>
              <a:rPr lang="en-US" dirty="0"/>
              <a:t>Continuous Delivery is a paradigm in which the building, management and testing of produced software is automated such that deployments can be performed at the push of a button</a:t>
            </a:r>
          </a:p>
          <a:p>
            <a:r>
              <a:rPr lang="en-US" dirty="0"/>
              <a:t>Continuous Delivery is often confused with Continuous deployment, which automates the entire production pipeline</a:t>
            </a:r>
          </a:p>
          <a:p>
            <a:r>
              <a:rPr lang="en-US" dirty="0"/>
              <a:t>Continuous delivery is the process of automating all steps of a development pipeline except for the final deployment step</a:t>
            </a:r>
          </a:p>
          <a:p>
            <a:r>
              <a:rPr lang="en-US" dirty="0"/>
              <a:t>Inherently, Continuous delivery is dependent on the implementation of continuous integration, and also serves as a stepping stone to creating a fully automated Development Pipeline (Continuous Deployment)</a:t>
            </a:r>
          </a:p>
        </p:txBody>
      </p:sp>
      <p:sp>
        <p:nvSpPr>
          <p:cNvPr id="3" name="Title 2">
            <a:extLst>
              <a:ext uri="{FF2B5EF4-FFF2-40B4-BE49-F238E27FC236}">
                <a16:creationId xmlns:a16="http://schemas.microsoft.com/office/drawing/2014/main" id="{FE4AE634-7DF8-3449-31DD-992433D6712C}"/>
              </a:ext>
            </a:extLst>
          </p:cNvPr>
          <p:cNvSpPr>
            <a:spLocks noGrp="1"/>
          </p:cNvSpPr>
          <p:nvPr>
            <p:ph type="title"/>
          </p:nvPr>
        </p:nvSpPr>
        <p:spPr/>
        <p:txBody>
          <a:bodyPr/>
          <a:lstStyle/>
          <a:p>
            <a:r>
              <a:rPr lang="en-US" dirty="0"/>
              <a:t>Continuous Delivery</a:t>
            </a:r>
          </a:p>
        </p:txBody>
      </p:sp>
    </p:spTree>
    <p:extLst>
      <p:ext uri="{BB962C8B-B14F-4D97-AF65-F5344CB8AC3E}">
        <p14:creationId xmlns:p14="http://schemas.microsoft.com/office/powerpoint/2010/main" val="312057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B30BC-F907-C7FE-E10D-32676448078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38D3D0-59AA-9D8F-D3BC-3B3CB3A53035}"/>
              </a:ext>
            </a:extLst>
          </p:cNvPr>
          <p:cNvSpPr>
            <a:spLocks noGrp="1"/>
          </p:cNvSpPr>
          <p:nvPr>
            <p:ph type="sldNum" sz="quarter" idx="12"/>
          </p:nvPr>
        </p:nvSpPr>
        <p:spPr/>
        <p:txBody>
          <a:bodyPr/>
          <a:lstStyle/>
          <a:p>
            <a:fld id="{F6728BC2-ACA3-447C-A909-F3F49211C066}" type="slidenum">
              <a:rPr lang="en-US" smtClean="0"/>
              <a:pPr/>
              <a:t>14</a:t>
            </a:fld>
            <a:endParaRPr lang="en-US" dirty="0"/>
          </a:p>
        </p:txBody>
      </p:sp>
      <p:sp>
        <p:nvSpPr>
          <p:cNvPr id="6" name="Content Placeholder 5">
            <a:extLst>
              <a:ext uri="{FF2B5EF4-FFF2-40B4-BE49-F238E27FC236}">
                <a16:creationId xmlns:a16="http://schemas.microsoft.com/office/drawing/2014/main" id="{9C8514C3-C0E2-8EF1-A82C-1C1F2353A670}"/>
              </a:ext>
            </a:extLst>
          </p:cNvPr>
          <p:cNvSpPr>
            <a:spLocks noGrp="1"/>
          </p:cNvSpPr>
          <p:nvPr>
            <p:ph idx="1"/>
          </p:nvPr>
        </p:nvSpPr>
        <p:spPr/>
        <p:txBody>
          <a:bodyPr>
            <a:normAutofit fontScale="92500" lnSpcReduction="20000"/>
          </a:bodyPr>
          <a:lstStyle/>
          <a:p>
            <a:r>
              <a:rPr lang="en-US" dirty="0"/>
              <a:t>Though CI can technically be achieved without automation, Continuous Delivery is only achieved when code integration, testing and product building has been automated</a:t>
            </a:r>
          </a:p>
          <a:p>
            <a:r>
              <a:rPr lang="en-US" dirty="0"/>
              <a:t>In this way, you are able to perform frequent deployments “at the press of a button”, but may choose not to do so, usually for business purposes or possibly due to the preference for a regular scheduled deployment process</a:t>
            </a:r>
          </a:p>
          <a:p>
            <a:r>
              <a:rPr lang="en-US" dirty="0"/>
              <a:t>You may also keep the deployment to production manual so that final user acceptance tests can be performed manually, as a final safety check on the code to ensure that it meets business needs</a:t>
            </a:r>
          </a:p>
        </p:txBody>
      </p:sp>
      <p:sp>
        <p:nvSpPr>
          <p:cNvPr id="3" name="Title 2">
            <a:extLst>
              <a:ext uri="{FF2B5EF4-FFF2-40B4-BE49-F238E27FC236}">
                <a16:creationId xmlns:a16="http://schemas.microsoft.com/office/drawing/2014/main" id="{2A1C34C1-180D-FD0D-BF88-7D8EA53C0D15}"/>
              </a:ext>
            </a:extLst>
          </p:cNvPr>
          <p:cNvSpPr>
            <a:spLocks noGrp="1"/>
          </p:cNvSpPr>
          <p:nvPr>
            <p:ph type="title"/>
          </p:nvPr>
        </p:nvSpPr>
        <p:spPr/>
        <p:txBody>
          <a:bodyPr/>
          <a:lstStyle/>
          <a:p>
            <a:r>
              <a:rPr lang="en-US" dirty="0"/>
              <a:t>Continuous Delivery</a:t>
            </a:r>
          </a:p>
        </p:txBody>
      </p:sp>
    </p:spTree>
    <p:extLst>
      <p:ext uri="{BB962C8B-B14F-4D97-AF65-F5344CB8AC3E}">
        <p14:creationId xmlns:p14="http://schemas.microsoft.com/office/powerpoint/2010/main" val="350201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3285F-C62B-3C70-6BF7-490CACE1C18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AEBB2E-43B6-6E08-217A-A7D0184DA37B}"/>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
        <p:nvSpPr>
          <p:cNvPr id="6" name="Content Placeholder 5">
            <a:extLst>
              <a:ext uri="{FF2B5EF4-FFF2-40B4-BE49-F238E27FC236}">
                <a16:creationId xmlns:a16="http://schemas.microsoft.com/office/drawing/2014/main" id="{B3256C55-9867-44CF-81A3-6D53194B78DB}"/>
              </a:ext>
            </a:extLst>
          </p:cNvPr>
          <p:cNvSpPr>
            <a:spLocks noGrp="1"/>
          </p:cNvSpPr>
          <p:nvPr>
            <p:ph idx="1"/>
          </p:nvPr>
        </p:nvSpPr>
        <p:spPr/>
        <p:txBody>
          <a:bodyPr>
            <a:normAutofit fontScale="70000" lnSpcReduction="20000"/>
          </a:bodyPr>
          <a:lstStyle/>
          <a:p>
            <a:r>
              <a:rPr lang="en-US" b="1" dirty="0"/>
              <a:t>Reduced Risk in Deployment</a:t>
            </a:r>
          </a:p>
          <a:p>
            <a:pPr lvl="1"/>
            <a:r>
              <a:rPr lang="en-US" dirty="0"/>
              <a:t>Since new builds are not deployed automatically, faulty code is less likely to be deployed to production environments.</a:t>
            </a:r>
          </a:p>
          <a:p>
            <a:pPr lvl="1"/>
            <a:r>
              <a:rPr lang="en-US" dirty="0"/>
              <a:t>Less pressure is placed on the development team, by allowing for small, more frequent changes to be made. This expedites the iteration of code.</a:t>
            </a:r>
          </a:p>
          <a:p>
            <a:r>
              <a:rPr lang="en-US" b="1" dirty="0"/>
              <a:t>Predictable Progress</a:t>
            </a:r>
          </a:p>
          <a:p>
            <a:pPr lvl="1"/>
            <a:r>
              <a:rPr lang="en-US" dirty="0"/>
              <a:t>Since pipelines are programmable infrastructure by the development team, desired behavior during the production of code is easier to configure</a:t>
            </a:r>
          </a:p>
          <a:p>
            <a:pPr lvl="1"/>
            <a:r>
              <a:rPr lang="en-US" dirty="0"/>
              <a:t>With a pipeline the deployment process is more predictable, allowing development team to focus on the production of code rather than operational steps required to deploy the new codebase.</a:t>
            </a:r>
          </a:p>
          <a:p>
            <a:r>
              <a:rPr lang="en-US" b="1" dirty="0"/>
              <a:t>Frequent Feedback</a:t>
            </a:r>
          </a:p>
          <a:p>
            <a:pPr lvl="1"/>
            <a:r>
              <a:rPr lang="en-US" dirty="0"/>
              <a:t>With the increased efficiency of producing code, smaller, more incremental changes can be applied to a system more frequently. If human error does cause problems, it is easy to roll back changes to a working build.</a:t>
            </a:r>
          </a:p>
          <a:p>
            <a:pPr lvl="1"/>
            <a:r>
              <a:rPr lang="en-US" dirty="0"/>
              <a:t>More releases accelerates the communication and feedback loop with client/product owners as well</a:t>
            </a:r>
          </a:p>
        </p:txBody>
      </p:sp>
      <p:sp>
        <p:nvSpPr>
          <p:cNvPr id="3" name="Title 2">
            <a:extLst>
              <a:ext uri="{FF2B5EF4-FFF2-40B4-BE49-F238E27FC236}">
                <a16:creationId xmlns:a16="http://schemas.microsoft.com/office/drawing/2014/main" id="{5A980990-C730-D1B2-093C-830FAD7BC3CD}"/>
              </a:ext>
            </a:extLst>
          </p:cNvPr>
          <p:cNvSpPr>
            <a:spLocks noGrp="1"/>
          </p:cNvSpPr>
          <p:nvPr>
            <p:ph type="title"/>
          </p:nvPr>
        </p:nvSpPr>
        <p:spPr/>
        <p:txBody>
          <a:bodyPr/>
          <a:lstStyle/>
          <a:p>
            <a:r>
              <a:rPr lang="en-US" dirty="0"/>
              <a:t>Continuous Delivery  | Benefits</a:t>
            </a:r>
          </a:p>
        </p:txBody>
      </p:sp>
    </p:spTree>
    <p:extLst>
      <p:ext uri="{BB962C8B-B14F-4D97-AF65-F5344CB8AC3E}">
        <p14:creationId xmlns:p14="http://schemas.microsoft.com/office/powerpoint/2010/main" val="253281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4CD62-7203-827B-C24A-E3A3758437A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FF4F18-A8C8-624E-91F0-FB5117A16F9D}"/>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6" name="Content Placeholder 5">
            <a:extLst>
              <a:ext uri="{FF2B5EF4-FFF2-40B4-BE49-F238E27FC236}">
                <a16:creationId xmlns:a16="http://schemas.microsoft.com/office/drawing/2014/main" id="{DDA73A0D-8A72-CE52-6F96-9E7F3EFD177E}"/>
              </a:ext>
            </a:extLst>
          </p:cNvPr>
          <p:cNvSpPr>
            <a:spLocks noGrp="1"/>
          </p:cNvSpPr>
          <p:nvPr>
            <p:ph idx="1"/>
          </p:nvPr>
        </p:nvSpPr>
        <p:spPr/>
        <p:txBody>
          <a:bodyPr>
            <a:normAutofit lnSpcReduction="10000"/>
          </a:bodyPr>
          <a:lstStyle/>
          <a:p>
            <a:r>
              <a:rPr lang="en-US" dirty="0"/>
              <a:t>Requires a strong foundation with Continuous Integration culture, and test suite coverage</a:t>
            </a:r>
          </a:p>
          <a:p>
            <a:r>
              <a:rPr lang="en-US" dirty="0"/>
              <a:t>The final deployment must still be automated, which is an additional cost.</a:t>
            </a:r>
          </a:p>
          <a:p>
            <a:pPr lvl="1"/>
            <a:r>
              <a:rPr lang="en-US" dirty="0"/>
              <a:t>Though the trigger to begin the final deployment process is manual, this can still cause slowdown for the development</a:t>
            </a:r>
          </a:p>
          <a:p>
            <a:r>
              <a:rPr lang="en-US" dirty="0"/>
              <a:t>Communication of incomplete features and backlog must be maintained rigorously to communicate the expectations to client and development tam</a:t>
            </a:r>
          </a:p>
        </p:txBody>
      </p:sp>
      <p:sp>
        <p:nvSpPr>
          <p:cNvPr id="3" name="Title 2">
            <a:extLst>
              <a:ext uri="{FF2B5EF4-FFF2-40B4-BE49-F238E27FC236}">
                <a16:creationId xmlns:a16="http://schemas.microsoft.com/office/drawing/2014/main" id="{A447CBB8-7061-D5A6-2D98-C7006AEEDC14}"/>
              </a:ext>
            </a:extLst>
          </p:cNvPr>
          <p:cNvSpPr>
            <a:spLocks noGrp="1"/>
          </p:cNvSpPr>
          <p:nvPr>
            <p:ph type="title"/>
          </p:nvPr>
        </p:nvSpPr>
        <p:spPr/>
        <p:txBody>
          <a:bodyPr/>
          <a:lstStyle/>
          <a:p>
            <a:r>
              <a:rPr lang="en-US" dirty="0"/>
              <a:t>Continuous Delivery  | Costs/Considerations</a:t>
            </a:r>
          </a:p>
        </p:txBody>
      </p:sp>
    </p:spTree>
    <p:extLst>
      <p:ext uri="{BB962C8B-B14F-4D97-AF65-F5344CB8AC3E}">
        <p14:creationId xmlns:p14="http://schemas.microsoft.com/office/powerpoint/2010/main" val="134121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9A08-BA85-C666-5C0D-F3317407F7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34128B-EBA2-3735-D5B1-BA9DC33697EF}"/>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17</a:t>
            </a:fld>
            <a:endParaRPr lang="en-US"/>
          </a:p>
        </p:txBody>
      </p:sp>
      <p:sp>
        <p:nvSpPr>
          <p:cNvPr id="4" name="Google Shape;212;p15">
            <a:extLst>
              <a:ext uri="{FF2B5EF4-FFF2-40B4-BE49-F238E27FC236}">
                <a16:creationId xmlns:a16="http://schemas.microsoft.com/office/drawing/2014/main" id="{12C5FC82-C8DD-0B89-F44B-7ECBD3C08C0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Continuous Deployment</a:t>
            </a:r>
          </a:p>
        </p:txBody>
      </p:sp>
      <p:pic>
        <p:nvPicPr>
          <p:cNvPr id="6" name="Picture 5">
            <a:extLst>
              <a:ext uri="{FF2B5EF4-FFF2-40B4-BE49-F238E27FC236}">
                <a16:creationId xmlns:a16="http://schemas.microsoft.com/office/drawing/2014/main" id="{D9C0EFBF-06AA-26FD-68A0-F850A1A968D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91141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4487-F6E1-BF4C-75D1-8F23C837BF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72026A-D2C7-4D5B-2AC4-876DF6E688E8}"/>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
        <p:nvSpPr>
          <p:cNvPr id="6" name="Content Placeholder 5">
            <a:extLst>
              <a:ext uri="{FF2B5EF4-FFF2-40B4-BE49-F238E27FC236}">
                <a16:creationId xmlns:a16="http://schemas.microsoft.com/office/drawing/2014/main" id="{B57D4C44-9186-222D-D8D4-0BD3374BAB96}"/>
              </a:ext>
            </a:extLst>
          </p:cNvPr>
          <p:cNvSpPr>
            <a:spLocks noGrp="1"/>
          </p:cNvSpPr>
          <p:nvPr>
            <p:ph idx="1"/>
          </p:nvPr>
        </p:nvSpPr>
        <p:spPr/>
        <p:txBody>
          <a:bodyPr>
            <a:normAutofit fontScale="92500" lnSpcReduction="20000"/>
          </a:bodyPr>
          <a:lstStyle/>
          <a:p>
            <a:r>
              <a:rPr lang="en-US" dirty="0"/>
              <a:t>Continuous Deployment is a process of releasing software in which changes are tested for stability and correctness automatically</a:t>
            </a:r>
          </a:p>
          <a:p>
            <a:r>
              <a:rPr lang="en-US" dirty="0"/>
              <a:t>This results in immediate, autonomous deployment of code to production environments</a:t>
            </a:r>
          </a:p>
          <a:p>
            <a:r>
              <a:rPr lang="en-US" dirty="0"/>
              <a:t>It’s important to remember that Continuous Delivery is the precursor to Continuous Deployment. With true continuous deployment, there is not final, manual trigger to deploy code to a production environment</a:t>
            </a:r>
          </a:p>
          <a:p>
            <a:r>
              <a:rPr lang="en-US" dirty="0"/>
              <a:t>When continuous Deployment is achieved, every committed change to the code base creates and deploys a new build to the production environment</a:t>
            </a:r>
          </a:p>
        </p:txBody>
      </p:sp>
      <p:sp>
        <p:nvSpPr>
          <p:cNvPr id="3" name="Title 2">
            <a:extLst>
              <a:ext uri="{FF2B5EF4-FFF2-40B4-BE49-F238E27FC236}">
                <a16:creationId xmlns:a16="http://schemas.microsoft.com/office/drawing/2014/main" id="{6BD1C709-1E6C-212F-CBFA-5DF78E7A885D}"/>
              </a:ext>
            </a:extLst>
          </p:cNvPr>
          <p:cNvSpPr>
            <a:spLocks noGrp="1"/>
          </p:cNvSpPr>
          <p:nvPr>
            <p:ph type="title"/>
          </p:nvPr>
        </p:nvSpPr>
        <p:spPr/>
        <p:txBody>
          <a:bodyPr/>
          <a:lstStyle/>
          <a:p>
            <a:r>
              <a:rPr lang="en-US" dirty="0"/>
              <a:t>Continuous Deployment</a:t>
            </a:r>
          </a:p>
        </p:txBody>
      </p:sp>
    </p:spTree>
    <p:extLst>
      <p:ext uri="{BB962C8B-B14F-4D97-AF65-F5344CB8AC3E}">
        <p14:creationId xmlns:p14="http://schemas.microsoft.com/office/powerpoint/2010/main" val="53427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97620-EDDA-5DA3-8EFD-3229425E30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B2232A-DE53-262B-9C3C-E2E31D9C6B37}"/>
              </a:ext>
            </a:extLst>
          </p:cNvPr>
          <p:cNvSpPr>
            <a:spLocks noGrp="1"/>
          </p:cNvSpPr>
          <p:nvPr>
            <p:ph type="sldNum" sz="quarter" idx="12"/>
          </p:nvPr>
        </p:nvSpPr>
        <p:spPr/>
        <p:txBody>
          <a:bodyPr/>
          <a:lstStyle/>
          <a:p>
            <a:fld id="{F6728BC2-ACA3-447C-A909-F3F49211C066}" type="slidenum">
              <a:rPr lang="en-US" smtClean="0"/>
              <a:pPr/>
              <a:t>19</a:t>
            </a:fld>
            <a:endParaRPr lang="en-US" dirty="0"/>
          </a:p>
        </p:txBody>
      </p:sp>
      <p:sp>
        <p:nvSpPr>
          <p:cNvPr id="6" name="Content Placeholder 5">
            <a:extLst>
              <a:ext uri="{FF2B5EF4-FFF2-40B4-BE49-F238E27FC236}">
                <a16:creationId xmlns:a16="http://schemas.microsoft.com/office/drawing/2014/main" id="{8E3D2395-EE43-1228-8C97-0DB9AA2C25D2}"/>
              </a:ext>
            </a:extLst>
          </p:cNvPr>
          <p:cNvSpPr>
            <a:spLocks noGrp="1"/>
          </p:cNvSpPr>
          <p:nvPr>
            <p:ph idx="1"/>
          </p:nvPr>
        </p:nvSpPr>
        <p:spPr/>
        <p:txBody>
          <a:bodyPr>
            <a:normAutofit/>
          </a:bodyPr>
          <a:lstStyle/>
          <a:p>
            <a:r>
              <a:rPr lang="en-US" dirty="0"/>
              <a:t>Even faster development process, without the need to pause for deployment</a:t>
            </a:r>
          </a:p>
          <a:p>
            <a:r>
              <a:rPr lang="en-US" dirty="0"/>
              <a:t>New releases are less risky, as small changes can be easily recognized and fixed, allowing for better and quicker feedback</a:t>
            </a:r>
          </a:p>
          <a:p>
            <a:r>
              <a:rPr lang="en-US" dirty="0"/>
              <a:t>Increased communication and regular streams of improvements are generally regarded highly by customers</a:t>
            </a:r>
          </a:p>
        </p:txBody>
      </p:sp>
      <p:sp>
        <p:nvSpPr>
          <p:cNvPr id="3" name="Title 2">
            <a:extLst>
              <a:ext uri="{FF2B5EF4-FFF2-40B4-BE49-F238E27FC236}">
                <a16:creationId xmlns:a16="http://schemas.microsoft.com/office/drawing/2014/main" id="{115B3CEF-DB9F-158C-5B3F-E1AB13ABCEE6}"/>
              </a:ext>
            </a:extLst>
          </p:cNvPr>
          <p:cNvSpPr>
            <a:spLocks noGrp="1"/>
          </p:cNvSpPr>
          <p:nvPr>
            <p:ph type="title"/>
          </p:nvPr>
        </p:nvSpPr>
        <p:spPr/>
        <p:txBody>
          <a:bodyPr/>
          <a:lstStyle/>
          <a:p>
            <a:r>
              <a:rPr lang="en-US" dirty="0"/>
              <a:t>Continuous Deployment | Benefits</a:t>
            </a:r>
          </a:p>
        </p:txBody>
      </p:sp>
    </p:spTree>
    <p:extLst>
      <p:ext uri="{BB962C8B-B14F-4D97-AF65-F5344CB8AC3E}">
        <p14:creationId xmlns:p14="http://schemas.microsoft.com/office/powerpoint/2010/main" val="202256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F39C6-F211-B1D2-B09B-6A0AB4D35B7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8158E0-1E57-D927-9029-5122ADBBCDDD}"/>
              </a:ext>
            </a:extLst>
          </p:cNvPr>
          <p:cNvSpPr>
            <a:spLocks noGrp="1"/>
          </p:cNvSpPr>
          <p:nvPr>
            <p:ph type="sldNum" sz="quarter" idx="12"/>
          </p:nvPr>
        </p:nvSpPr>
        <p:spPr/>
        <p:txBody>
          <a:bodyPr/>
          <a:lstStyle/>
          <a:p>
            <a:fld id="{F6728BC2-ACA3-447C-A909-F3F49211C066}" type="slidenum">
              <a:rPr lang="en-US" smtClean="0"/>
              <a:pPr/>
              <a:t>20</a:t>
            </a:fld>
            <a:endParaRPr lang="en-US" dirty="0"/>
          </a:p>
        </p:txBody>
      </p:sp>
      <p:sp>
        <p:nvSpPr>
          <p:cNvPr id="6" name="Content Placeholder 5">
            <a:extLst>
              <a:ext uri="{FF2B5EF4-FFF2-40B4-BE49-F238E27FC236}">
                <a16:creationId xmlns:a16="http://schemas.microsoft.com/office/drawing/2014/main" id="{F0B7D0E6-FDBA-AA49-0A91-5D07DF958B81}"/>
              </a:ext>
            </a:extLst>
          </p:cNvPr>
          <p:cNvSpPr>
            <a:spLocks noGrp="1"/>
          </p:cNvSpPr>
          <p:nvPr>
            <p:ph idx="1"/>
          </p:nvPr>
        </p:nvSpPr>
        <p:spPr/>
        <p:txBody>
          <a:bodyPr>
            <a:normAutofit fontScale="92500" lnSpcReduction="20000"/>
          </a:bodyPr>
          <a:lstStyle/>
          <a:p>
            <a:r>
              <a:rPr lang="en-US" dirty="0"/>
              <a:t>Establishing a Continuous Deployment pipeline require a more substantial investment in the engineering, and the testing culture.</a:t>
            </a:r>
          </a:p>
          <a:p>
            <a:r>
              <a:rPr lang="en-US" dirty="0"/>
              <a:t>Documentation of processes is required to communicate to development, production and testing teams.</a:t>
            </a:r>
          </a:p>
          <a:p>
            <a:r>
              <a:rPr lang="en-US" dirty="0"/>
              <a:t>Ongoing maintenance of deployment pipeline is required to ensure work continues running smoothly, increasing production costs.</a:t>
            </a:r>
          </a:p>
          <a:p>
            <a:r>
              <a:rPr lang="en-US" dirty="0"/>
              <a:t>Feature flags (communication of completed features and progress) are required for coordination between departments</a:t>
            </a:r>
          </a:p>
        </p:txBody>
      </p:sp>
      <p:sp>
        <p:nvSpPr>
          <p:cNvPr id="3" name="Title 2">
            <a:extLst>
              <a:ext uri="{FF2B5EF4-FFF2-40B4-BE49-F238E27FC236}">
                <a16:creationId xmlns:a16="http://schemas.microsoft.com/office/drawing/2014/main" id="{9BC1093E-02C5-DE46-6E0B-D89325C04592}"/>
              </a:ext>
            </a:extLst>
          </p:cNvPr>
          <p:cNvSpPr>
            <a:spLocks noGrp="1"/>
          </p:cNvSpPr>
          <p:nvPr>
            <p:ph type="title"/>
          </p:nvPr>
        </p:nvSpPr>
        <p:spPr/>
        <p:txBody>
          <a:bodyPr/>
          <a:lstStyle/>
          <a:p>
            <a:r>
              <a:rPr lang="en-US" dirty="0"/>
              <a:t>Continuous Deployment | Costs/Risks</a:t>
            </a:r>
          </a:p>
        </p:txBody>
      </p:sp>
    </p:spTree>
    <p:extLst>
      <p:ext uri="{BB962C8B-B14F-4D97-AF65-F5344CB8AC3E}">
        <p14:creationId xmlns:p14="http://schemas.microsoft.com/office/powerpoint/2010/main" val="119565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0CA0-AB6C-6FA3-6FDC-508A17C7C1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C0D3AF-2720-DC08-2710-4EE1DFCD953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21</a:t>
            </a:fld>
            <a:endParaRPr lang="en-US"/>
          </a:p>
        </p:txBody>
      </p:sp>
      <p:sp>
        <p:nvSpPr>
          <p:cNvPr id="4" name="Google Shape;212;p15">
            <a:extLst>
              <a:ext uri="{FF2B5EF4-FFF2-40B4-BE49-F238E27FC236}">
                <a16:creationId xmlns:a16="http://schemas.microsoft.com/office/drawing/2014/main" id="{C607132D-99D8-89E9-A8DA-BE318856473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DevOps Tools - Sonar</a:t>
            </a:r>
          </a:p>
        </p:txBody>
      </p:sp>
      <p:pic>
        <p:nvPicPr>
          <p:cNvPr id="6" name="Picture 5">
            <a:extLst>
              <a:ext uri="{FF2B5EF4-FFF2-40B4-BE49-F238E27FC236}">
                <a16:creationId xmlns:a16="http://schemas.microsoft.com/office/drawing/2014/main" id="{5020FA64-7F75-15E8-90E3-80A44BF42FE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680397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56885-4BFD-1693-61BA-8376A46214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44CB2A-A35F-9B4E-ABEA-43F64D581AC5}"/>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
        <p:nvSpPr>
          <p:cNvPr id="6" name="Content Placeholder 5">
            <a:extLst>
              <a:ext uri="{FF2B5EF4-FFF2-40B4-BE49-F238E27FC236}">
                <a16:creationId xmlns:a16="http://schemas.microsoft.com/office/drawing/2014/main" id="{061C8F1A-D911-8FA3-C1B3-4CCA3DCEE768}"/>
              </a:ext>
            </a:extLst>
          </p:cNvPr>
          <p:cNvSpPr>
            <a:spLocks noGrp="1"/>
          </p:cNvSpPr>
          <p:nvPr>
            <p:ph idx="1"/>
          </p:nvPr>
        </p:nvSpPr>
        <p:spPr/>
        <p:txBody>
          <a:bodyPr>
            <a:normAutofit fontScale="92500" lnSpcReduction="20000"/>
          </a:bodyPr>
          <a:lstStyle/>
          <a:p>
            <a:r>
              <a:rPr lang="en-US" dirty="0"/>
              <a:t>Sonar Lint, Sonar Qube, and Sonar Cloud are code quality analysis tools to help increase the readability, security and maintainability of code.</a:t>
            </a:r>
          </a:p>
          <a:p>
            <a:r>
              <a:rPr lang="en-US" dirty="0"/>
              <a:t>These tools examine source code without executing it to find bugs, vulnerabilities and maintainability issues. The share the same analysis engine but serve different contexts in the software development lifecycle</a:t>
            </a:r>
          </a:p>
          <a:p>
            <a:r>
              <a:rPr lang="en-US" dirty="0"/>
              <a:t>Utilizing code quality analysis tools can help development teams produce higher quality code, and provide standardization between development which can play a vital role in the integration of code</a:t>
            </a:r>
          </a:p>
        </p:txBody>
      </p:sp>
      <p:sp>
        <p:nvSpPr>
          <p:cNvPr id="3" name="Title 2">
            <a:extLst>
              <a:ext uri="{FF2B5EF4-FFF2-40B4-BE49-F238E27FC236}">
                <a16:creationId xmlns:a16="http://schemas.microsoft.com/office/drawing/2014/main" id="{461877D4-38E4-E614-F450-8217B92B4F3F}"/>
              </a:ext>
            </a:extLst>
          </p:cNvPr>
          <p:cNvSpPr>
            <a:spLocks noGrp="1"/>
          </p:cNvSpPr>
          <p:nvPr>
            <p:ph type="title"/>
          </p:nvPr>
        </p:nvSpPr>
        <p:spPr/>
        <p:txBody>
          <a:bodyPr/>
          <a:lstStyle/>
          <a:p>
            <a:r>
              <a:rPr lang="en-US" dirty="0"/>
              <a:t>Sonar</a:t>
            </a:r>
          </a:p>
        </p:txBody>
      </p:sp>
    </p:spTree>
    <p:extLst>
      <p:ext uri="{BB962C8B-B14F-4D97-AF65-F5344CB8AC3E}">
        <p14:creationId xmlns:p14="http://schemas.microsoft.com/office/powerpoint/2010/main" val="226244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2F4AA-345F-D7C7-31BD-BDC877A812D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320335-04C7-901B-7663-6580E8B91EF6}"/>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
        <p:nvSpPr>
          <p:cNvPr id="6" name="Content Placeholder 5">
            <a:extLst>
              <a:ext uri="{FF2B5EF4-FFF2-40B4-BE49-F238E27FC236}">
                <a16:creationId xmlns:a16="http://schemas.microsoft.com/office/drawing/2014/main" id="{BA141E87-014E-3052-F259-4CE03EC3C3C9}"/>
              </a:ext>
            </a:extLst>
          </p:cNvPr>
          <p:cNvSpPr>
            <a:spLocks noGrp="1"/>
          </p:cNvSpPr>
          <p:nvPr>
            <p:ph idx="1"/>
          </p:nvPr>
        </p:nvSpPr>
        <p:spPr/>
        <p:txBody>
          <a:bodyPr>
            <a:normAutofit fontScale="92500" lnSpcReduction="20000"/>
          </a:bodyPr>
          <a:lstStyle/>
          <a:p>
            <a:r>
              <a:rPr lang="en-US" dirty="0"/>
              <a:t>Code Quality Analysis tools are designed to expose errors as well as “Code smells”</a:t>
            </a:r>
          </a:p>
          <a:p>
            <a:pPr lvl="1"/>
            <a:r>
              <a:rPr lang="en-US" b="1" dirty="0"/>
              <a:t>Bugs</a:t>
            </a:r>
            <a:r>
              <a:rPr lang="en-US" dirty="0"/>
              <a:t>: reliable issues that represent incorrect behavior</a:t>
            </a:r>
          </a:p>
          <a:p>
            <a:pPr lvl="2"/>
            <a:r>
              <a:rPr lang="en-US" dirty="0"/>
              <a:t>Methods performing incorrect operations/calling the wrong fields</a:t>
            </a:r>
          </a:p>
          <a:p>
            <a:pPr lvl="1"/>
            <a:r>
              <a:rPr lang="en-US" b="1" dirty="0"/>
              <a:t>Vulnerabilities</a:t>
            </a:r>
            <a:r>
              <a:rPr lang="en-US" dirty="0"/>
              <a:t>: security related weaknesses</a:t>
            </a:r>
          </a:p>
          <a:p>
            <a:pPr lvl="2"/>
            <a:r>
              <a:rPr lang="en-US" dirty="0"/>
              <a:t>Data security issue</a:t>
            </a:r>
          </a:p>
          <a:p>
            <a:pPr lvl="1"/>
            <a:r>
              <a:rPr lang="en-US" b="1" dirty="0"/>
              <a:t>Security Hotspots</a:t>
            </a:r>
            <a:r>
              <a:rPr lang="en-US" dirty="0"/>
              <a:t>: Code that requires human review to determine if it’s actually a risk</a:t>
            </a:r>
          </a:p>
          <a:p>
            <a:pPr lvl="2"/>
            <a:r>
              <a:rPr lang="en-US" dirty="0"/>
              <a:t>Hard-coded Test data that might cause security risks</a:t>
            </a:r>
          </a:p>
          <a:p>
            <a:pPr lvl="1"/>
            <a:r>
              <a:rPr lang="en-US" b="1" dirty="0"/>
              <a:t>Code Smells</a:t>
            </a:r>
            <a:r>
              <a:rPr lang="en-US" dirty="0"/>
              <a:t>: Maintainability issues that increase technical debt</a:t>
            </a:r>
          </a:p>
          <a:p>
            <a:pPr lvl="2"/>
            <a:r>
              <a:rPr lang="en-US" dirty="0"/>
              <a:t>Unused imports</a:t>
            </a:r>
          </a:p>
          <a:p>
            <a:pPr lvl="2"/>
            <a:r>
              <a:rPr lang="en-US" dirty="0"/>
              <a:t>Near duplicate code</a:t>
            </a:r>
          </a:p>
          <a:p>
            <a:pPr lvl="2"/>
            <a:r>
              <a:rPr lang="en-US" dirty="0"/>
              <a:t>Deeply nested code</a:t>
            </a:r>
          </a:p>
          <a:p>
            <a:pPr lvl="2"/>
            <a:endParaRPr lang="en-US" dirty="0"/>
          </a:p>
        </p:txBody>
      </p:sp>
      <p:sp>
        <p:nvSpPr>
          <p:cNvPr id="3" name="Title 2">
            <a:extLst>
              <a:ext uri="{FF2B5EF4-FFF2-40B4-BE49-F238E27FC236}">
                <a16:creationId xmlns:a16="http://schemas.microsoft.com/office/drawing/2014/main" id="{3F8BC017-44B2-F323-CEF5-5B9689B9E49A}"/>
              </a:ext>
            </a:extLst>
          </p:cNvPr>
          <p:cNvSpPr>
            <a:spLocks noGrp="1"/>
          </p:cNvSpPr>
          <p:nvPr>
            <p:ph type="title"/>
          </p:nvPr>
        </p:nvSpPr>
        <p:spPr>
          <a:xfrm>
            <a:off x="380010" y="-4950"/>
            <a:ext cx="6382531" cy="1224150"/>
          </a:xfrm>
        </p:spPr>
        <p:txBody>
          <a:bodyPr/>
          <a:lstStyle/>
          <a:p>
            <a:r>
              <a:rPr lang="en-US" dirty="0"/>
              <a:t>Code Quality Analysis | Core Concepts</a:t>
            </a:r>
          </a:p>
        </p:txBody>
      </p:sp>
    </p:spTree>
    <p:extLst>
      <p:ext uri="{BB962C8B-B14F-4D97-AF65-F5344CB8AC3E}">
        <p14:creationId xmlns:p14="http://schemas.microsoft.com/office/powerpoint/2010/main" val="265811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2407B-A827-384F-7F84-27EDF8942A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C362E9-B90E-A4C8-BB76-8A29526523B1}"/>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
        <p:nvSpPr>
          <p:cNvPr id="6" name="Content Placeholder 5">
            <a:extLst>
              <a:ext uri="{FF2B5EF4-FFF2-40B4-BE49-F238E27FC236}">
                <a16:creationId xmlns:a16="http://schemas.microsoft.com/office/drawing/2014/main" id="{49AD285B-7797-3C0E-EF63-CB5A17ADBCA3}"/>
              </a:ext>
            </a:extLst>
          </p:cNvPr>
          <p:cNvSpPr>
            <a:spLocks noGrp="1"/>
          </p:cNvSpPr>
          <p:nvPr>
            <p:ph idx="1"/>
          </p:nvPr>
        </p:nvSpPr>
        <p:spPr/>
        <p:txBody>
          <a:bodyPr>
            <a:normAutofit/>
          </a:bodyPr>
          <a:lstStyle/>
          <a:p>
            <a:r>
              <a:rPr lang="en-US" dirty="0"/>
              <a:t>Sonar Cloud</a:t>
            </a:r>
          </a:p>
          <a:p>
            <a:pPr lvl="1"/>
            <a:r>
              <a:rPr lang="en-US" dirty="0"/>
              <a:t>Cloud-based Code review solution which can be configured to review code within a cloud repository (such as </a:t>
            </a:r>
            <a:r>
              <a:rPr lang="en-US" dirty="0" err="1"/>
              <a:t>github</a:t>
            </a:r>
            <a:r>
              <a:rPr lang="en-US" dirty="0"/>
              <a:t>)</a:t>
            </a:r>
          </a:p>
          <a:p>
            <a:r>
              <a:rPr lang="en-US" dirty="0"/>
              <a:t>Sonar Qube</a:t>
            </a:r>
          </a:p>
          <a:p>
            <a:pPr lvl="1"/>
            <a:r>
              <a:rPr lang="en-US" dirty="0"/>
              <a:t>Code review tool built to work on a centralized server or integrated into a development pipeline</a:t>
            </a:r>
          </a:p>
          <a:p>
            <a:pPr lvl="1"/>
            <a:r>
              <a:rPr lang="en-US" dirty="0"/>
              <a:t>Sonar Qube offers increased flexibility and configuration options, so can often be seen as a more powerful tool</a:t>
            </a:r>
          </a:p>
        </p:txBody>
      </p:sp>
      <p:sp>
        <p:nvSpPr>
          <p:cNvPr id="3" name="Title 2">
            <a:extLst>
              <a:ext uri="{FF2B5EF4-FFF2-40B4-BE49-F238E27FC236}">
                <a16:creationId xmlns:a16="http://schemas.microsoft.com/office/drawing/2014/main" id="{31F0B713-FE59-5D0B-5770-D0B5AD606816}"/>
              </a:ext>
            </a:extLst>
          </p:cNvPr>
          <p:cNvSpPr>
            <a:spLocks noGrp="1"/>
          </p:cNvSpPr>
          <p:nvPr>
            <p:ph type="title"/>
          </p:nvPr>
        </p:nvSpPr>
        <p:spPr/>
        <p:txBody>
          <a:bodyPr/>
          <a:lstStyle/>
          <a:p>
            <a:r>
              <a:rPr lang="en-US" dirty="0"/>
              <a:t>Sonar Cloud &amp; Sonar Qube</a:t>
            </a:r>
          </a:p>
        </p:txBody>
      </p:sp>
    </p:spTree>
    <p:extLst>
      <p:ext uri="{BB962C8B-B14F-4D97-AF65-F5344CB8AC3E}">
        <p14:creationId xmlns:p14="http://schemas.microsoft.com/office/powerpoint/2010/main" val="186668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6079-0CD0-299D-CF0B-A3B1E6A4379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FB3E47-7137-2D39-7386-B79D6AB062CF}"/>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
        <p:nvSpPr>
          <p:cNvPr id="6" name="Content Placeholder 5">
            <a:extLst>
              <a:ext uri="{FF2B5EF4-FFF2-40B4-BE49-F238E27FC236}">
                <a16:creationId xmlns:a16="http://schemas.microsoft.com/office/drawing/2014/main" id="{0CAE56F0-E84A-4D10-5719-D23CA49E81B4}"/>
              </a:ext>
            </a:extLst>
          </p:cNvPr>
          <p:cNvSpPr>
            <a:spLocks noGrp="1"/>
          </p:cNvSpPr>
          <p:nvPr>
            <p:ph idx="1"/>
          </p:nvPr>
        </p:nvSpPr>
        <p:spPr/>
        <p:txBody>
          <a:bodyPr>
            <a:normAutofit/>
          </a:bodyPr>
          <a:lstStyle/>
          <a:p>
            <a:r>
              <a:rPr lang="en-US" dirty="0"/>
              <a:t>Free, open-source linting tool</a:t>
            </a:r>
          </a:p>
          <a:p>
            <a:r>
              <a:rPr lang="en-US" dirty="0"/>
              <a:t>A linting tool (linter) is a software tool which, when integrated with an IDE, can provide increased feedback to the development</a:t>
            </a:r>
          </a:p>
          <a:p>
            <a:r>
              <a:rPr lang="en-US" dirty="0"/>
              <a:t>Traditional IDEs utilize built-in linters to identify code syntax errors, and exceptions</a:t>
            </a:r>
          </a:p>
          <a:p>
            <a:r>
              <a:rPr lang="en-US" dirty="0"/>
              <a:t>Sonar lint provides further suggestions by recognizing code smells</a:t>
            </a:r>
          </a:p>
        </p:txBody>
      </p:sp>
      <p:sp>
        <p:nvSpPr>
          <p:cNvPr id="3" name="Title 2">
            <a:extLst>
              <a:ext uri="{FF2B5EF4-FFF2-40B4-BE49-F238E27FC236}">
                <a16:creationId xmlns:a16="http://schemas.microsoft.com/office/drawing/2014/main" id="{AC8AD35A-6205-0C30-0210-8883300EE66E}"/>
              </a:ext>
            </a:extLst>
          </p:cNvPr>
          <p:cNvSpPr>
            <a:spLocks noGrp="1"/>
          </p:cNvSpPr>
          <p:nvPr>
            <p:ph type="title"/>
          </p:nvPr>
        </p:nvSpPr>
        <p:spPr/>
        <p:txBody>
          <a:bodyPr/>
          <a:lstStyle/>
          <a:p>
            <a:r>
              <a:rPr lang="en-US" dirty="0"/>
              <a:t>Sonar Lint</a:t>
            </a:r>
          </a:p>
        </p:txBody>
      </p:sp>
    </p:spTree>
    <p:extLst>
      <p:ext uri="{BB962C8B-B14F-4D97-AF65-F5344CB8AC3E}">
        <p14:creationId xmlns:p14="http://schemas.microsoft.com/office/powerpoint/2010/main" val="19590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B1B51-696A-C8B3-124B-A4754FBEA0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DF27C1-EE04-EA47-37EE-8A62BFAAB0BB}"/>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
        <p:nvSpPr>
          <p:cNvPr id="6" name="Content Placeholder 5">
            <a:extLst>
              <a:ext uri="{FF2B5EF4-FFF2-40B4-BE49-F238E27FC236}">
                <a16:creationId xmlns:a16="http://schemas.microsoft.com/office/drawing/2014/main" id="{6C0A5CCE-DEBE-9B73-D1FF-2788B93780BE}"/>
              </a:ext>
            </a:extLst>
          </p:cNvPr>
          <p:cNvSpPr>
            <a:spLocks noGrp="1"/>
          </p:cNvSpPr>
          <p:nvPr>
            <p:ph idx="1"/>
          </p:nvPr>
        </p:nvSpPr>
        <p:spPr/>
        <p:txBody>
          <a:bodyPr/>
          <a:lstStyle/>
          <a:p>
            <a:r>
              <a:rPr lang="en-US" dirty="0"/>
              <a:t>With AI code assistants like co-pilot, what is the use of Linters?</a:t>
            </a:r>
          </a:p>
        </p:txBody>
      </p:sp>
      <p:sp>
        <p:nvSpPr>
          <p:cNvPr id="3" name="Title 2">
            <a:extLst>
              <a:ext uri="{FF2B5EF4-FFF2-40B4-BE49-F238E27FC236}">
                <a16:creationId xmlns:a16="http://schemas.microsoft.com/office/drawing/2014/main" id="{CCF811D3-430A-0262-C17C-1A5850CA6D2F}"/>
              </a:ext>
            </a:extLst>
          </p:cNvPr>
          <p:cNvSpPr>
            <a:spLocks noGrp="1"/>
          </p:cNvSpPr>
          <p:nvPr>
            <p:ph type="title"/>
          </p:nvPr>
        </p:nvSpPr>
        <p:spPr/>
        <p:txBody>
          <a:bodyPr/>
          <a:lstStyle/>
          <a:p>
            <a:r>
              <a:rPr lang="en-US" dirty="0"/>
              <a:t>Linters vs AI</a:t>
            </a:r>
          </a:p>
        </p:txBody>
      </p:sp>
      <p:graphicFrame>
        <p:nvGraphicFramePr>
          <p:cNvPr id="2" name="Table 1">
            <a:extLst>
              <a:ext uri="{FF2B5EF4-FFF2-40B4-BE49-F238E27FC236}">
                <a16:creationId xmlns:a16="http://schemas.microsoft.com/office/drawing/2014/main" id="{A3946FCE-AAC3-36B8-ADBC-308F0F06539D}"/>
              </a:ext>
            </a:extLst>
          </p:cNvPr>
          <p:cNvGraphicFramePr>
            <a:graphicFrameLocks noGrp="1"/>
          </p:cNvGraphicFramePr>
          <p:nvPr>
            <p:extLst>
              <p:ext uri="{D42A27DB-BD31-4B8C-83A1-F6EECF244321}">
                <p14:modId xmlns:p14="http://schemas.microsoft.com/office/powerpoint/2010/main" val="1335519197"/>
              </p:ext>
            </p:extLst>
          </p:nvPr>
        </p:nvGraphicFramePr>
        <p:xfrm>
          <a:off x="241159" y="2527475"/>
          <a:ext cx="8661681" cy="4065650"/>
        </p:xfrm>
        <a:graphic>
          <a:graphicData uri="http://schemas.openxmlformats.org/drawingml/2006/table">
            <a:tbl>
              <a:tblPr firstRow="1" bandRow="1">
                <a:tableStyleId>{5C22544A-7EE6-4342-B048-85BDC9FD1C3A}</a:tableStyleId>
              </a:tblPr>
              <a:tblGrid>
                <a:gridCol w="2887227">
                  <a:extLst>
                    <a:ext uri="{9D8B030D-6E8A-4147-A177-3AD203B41FA5}">
                      <a16:colId xmlns:a16="http://schemas.microsoft.com/office/drawing/2014/main" val="1707830903"/>
                    </a:ext>
                  </a:extLst>
                </a:gridCol>
                <a:gridCol w="2887227">
                  <a:extLst>
                    <a:ext uri="{9D8B030D-6E8A-4147-A177-3AD203B41FA5}">
                      <a16:colId xmlns:a16="http://schemas.microsoft.com/office/drawing/2014/main" val="2851811282"/>
                    </a:ext>
                  </a:extLst>
                </a:gridCol>
                <a:gridCol w="2887227">
                  <a:extLst>
                    <a:ext uri="{9D8B030D-6E8A-4147-A177-3AD203B41FA5}">
                      <a16:colId xmlns:a16="http://schemas.microsoft.com/office/drawing/2014/main" val="912839136"/>
                    </a:ext>
                  </a:extLst>
                </a:gridCol>
              </a:tblGrid>
              <a:tr h="408050">
                <a:tc>
                  <a:txBody>
                    <a:bodyPr/>
                    <a:lstStyle/>
                    <a:p>
                      <a:r>
                        <a:rPr lang="en-US" dirty="0"/>
                        <a:t>Area</a:t>
                      </a:r>
                    </a:p>
                  </a:txBody>
                  <a:tcPr/>
                </a:tc>
                <a:tc>
                  <a:txBody>
                    <a:bodyPr/>
                    <a:lstStyle/>
                    <a:p>
                      <a:r>
                        <a:rPr lang="en-US" dirty="0"/>
                        <a:t>AI Assistant</a:t>
                      </a:r>
                    </a:p>
                  </a:txBody>
                  <a:tcPr/>
                </a:tc>
                <a:tc>
                  <a:txBody>
                    <a:bodyPr/>
                    <a:lstStyle/>
                    <a:p>
                      <a:r>
                        <a:rPr lang="en-US" dirty="0"/>
                        <a:t>Linters</a:t>
                      </a:r>
                    </a:p>
                  </a:txBody>
                  <a:tcPr/>
                </a:tc>
                <a:extLst>
                  <a:ext uri="{0D108BD9-81ED-4DB2-BD59-A6C34878D82A}">
                    <a16:rowId xmlns:a16="http://schemas.microsoft.com/office/drawing/2014/main" val="822854056"/>
                  </a:ext>
                </a:extLst>
              </a:tr>
              <a:tr h="408050">
                <a:tc>
                  <a:txBody>
                    <a:bodyPr/>
                    <a:lstStyle/>
                    <a:p>
                      <a:r>
                        <a:rPr lang="en-US" sz="1400" dirty="0"/>
                        <a:t>Determinism – how were suggestions made?</a:t>
                      </a:r>
                    </a:p>
                  </a:txBody>
                  <a:tcPr/>
                </a:tc>
                <a:tc>
                  <a:txBody>
                    <a:bodyPr/>
                    <a:lstStyle/>
                    <a:p>
                      <a:r>
                        <a:rPr lang="en-US" sz="1400" dirty="0"/>
                        <a:t>LLMs are Probabilistic – they can be confidently wrong</a:t>
                      </a:r>
                    </a:p>
                  </a:txBody>
                  <a:tcPr/>
                </a:tc>
                <a:tc>
                  <a:txBody>
                    <a:bodyPr/>
                    <a:lstStyle/>
                    <a:p>
                      <a:r>
                        <a:rPr lang="en-US" sz="1400" dirty="0"/>
                        <a:t>Linters are deterministic – every issue maps to a specific, documented rule</a:t>
                      </a:r>
                    </a:p>
                  </a:txBody>
                  <a:tcPr/>
                </a:tc>
                <a:extLst>
                  <a:ext uri="{0D108BD9-81ED-4DB2-BD59-A6C34878D82A}">
                    <a16:rowId xmlns:a16="http://schemas.microsoft.com/office/drawing/2014/main" val="3287950677"/>
                  </a:ext>
                </a:extLst>
              </a:tr>
              <a:tr h="408050">
                <a:tc>
                  <a:txBody>
                    <a:bodyPr/>
                    <a:lstStyle/>
                    <a:p>
                      <a:r>
                        <a:rPr lang="en-US" sz="1400" dirty="0"/>
                        <a:t>Security</a:t>
                      </a:r>
                    </a:p>
                  </a:txBody>
                  <a:tcPr/>
                </a:tc>
                <a:tc>
                  <a:txBody>
                    <a:bodyPr/>
                    <a:lstStyle/>
                    <a:p>
                      <a:r>
                        <a:rPr lang="en-US" sz="1400" dirty="0"/>
                        <a:t>LLMs can suggest solutions which are incorrect or out of date</a:t>
                      </a:r>
                    </a:p>
                  </a:txBody>
                  <a:tcPr/>
                </a:tc>
                <a:tc>
                  <a:txBody>
                    <a:bodyPr/>
                    <a:lstStyle/>
                    <a:p>
                      <a:r>
                        <a:rPr lang="en-US" sz="1400" dirty="0"/>
                        <a:t>Security rules are grounded in standards</a:t>
                      </a:r>
                    </a:p>
                  </a:txBody>
                  <a:tcPr/>
                </a:tc>
                <a:extLst>
                  <a:ext uri="{0D108BD9-81ED-4DB2-BD59-A6C34878D82A}">
                    <a16:rowId xmlns:a16="http://schemas.microsoft.com/office/drawing/2014/main" val="760335298"/>
                  </a:ext>
                </a:extLst>
              </a:tr>
              <a:tr h="408050">
                <a:tc>
                  <a:txBody>
                    <a:bodyPr/>
                    <a:lstStyle/>
                    <a:p>
                      <a:r>
                        <a:rPr lang="en-US" sz="1400" dirty="0"/>
                        <a:t>Consistency</a:t>
                      </a:r>
                    </a:p>
                  </a:txBody>
                  <a:tcPr/>
                </a:tc>
                <a:tc>
                  <a:txBody>
                    <a:bodyPr/>
                    <a:lstStyle/>
                    <a:p>
                      <a:r>
                        <a:rPr lang="en-US" sz="1400" dirty="0"/>
                        <a:t>LLMs may offer different suggestions to different team members, causing confusion amongst development teams</a:t>
                      </a:r>
                    </a:p>
                  </a:txBody>
                  <a:tcPr/>
                </a:tc>
                <a:tc>
                  <a:txBody>
                    <a:bodyPr/>
                    <a:lstStyle/>
                    <a:p>
                      <a:r>
                        <a:rPr lang="en-US" sz="1400" dirty="0"/>
                        <a:t>Linters provide consistent rulesets for every developer to follow – and some rules can be configured for organization level quality governance</a:t>
                      </a:r>
                    </a:p>
                  </a:txBody>
                  <a:tcPr/>
                </a:tc>
                <a:extLst>
                  <a:ext uri="{0D108BD9-81ED-4DB2-BD59-A6C34878D82A}">
                    <a16:rowId xmlns:a16="http://schemas.microsoft.com/office/drawing/2014/main" val="411048065"/>
                  </a:ext>
                </a:extLst>
              </a:tr>
              <a:tr h="408050">
                <a:tc>
                  <a:txBody>
                    <a:bodyPr/>
                    <a:lstStyle/>
                    <a:p>
                      <a:r>
                        <a:rPr lang="en-US" sz="1400" dirty="0"/>
                        <a:t>Performance</a:t>
                      </a:r>
                    </a:p>
                  </a:txBody>
                  <a:tcPr/>
                </a:tc>
                <a:tc>
                  <a:txBody>
                    <a:bodyPr/>
                    <a:lstStyle/>
                    <a:p>
                      <a:r>
                        <a:rPr lang="en-US" sz="1400" dirty="0"/>
                        <a:t>Suggestions are made via API calls to LLM</a:t>
                      </a:r>
                    </a:p>
                  </a:txBody>
                  <a:tcPr/>
                </a:tc>
                <a:tc>
                  <a:txBody>
                    <a:bodyPr/>
                    <a:lstStyle/>
                    <a:p>
                      <a:r>
                        <a:rPr lang="en-US" sz="1400" dirty="0"/>
                        <a:t>No latency between codebase and suggestions </a:t>
                      </a:r>
                    </a:p>
                  </a:txBody>
                  <a:tcPr/>
                </a:tc>
                <a:extLst>
                  <a:ext uri="{0D108BD9-81ED-4DB2-BD59-A6C34878D82A}">
                    <a16:rowId xmlns:a16="http://schemas.microsoft.com/office/drawing/2014/main" val="693692795"/>
                  </a:ext>
                </a:extLst>
              </a:tr>
              <a:tr h="408050">
                <a:tc>
                  <a:txBody>
                    <a:bodyPr/>
                    <a:lstStyle/>
                    <a:p>
                      <a:r>
                        <a:rPr lang="en-US" sz="1400" dirty="0"/>
                        <a:t>Cost</a:t>
                      </a:r>
                    </a:p>
                  </a:txBody>
                  <a:tcPr/>
                </a:tc>
                <a:tc>
                  <a:txBody>
                    <a:bodyPr/>
                    <a:lstStyle/>
                    <a:p>
                      <a:r>
                        <a:rPr lang="en-US" sz="1400" dirty="0"/>
                        <a:t>LLMs typically charge subscriptions with usage limits &amp; costs per query</a:t>
                      </a:r>
                    </a:p>
                  </a:txBody>
                  <a:tcPr/>
                </a:tc>
                <a:tc>
                  <a:txBody>
                    <a:bodyPr/>
                    <a:lstStyle/>
                    <a:p>
                      <a:r>
                        <a:rPr lang="en-US" sz="1400" dirty="0"/>
                        <a:t>Linters are typically free or low cost</a:t>
                      </a:r>
                    </a:p>
                  </a:txBody>
                  <a:tcPr/>
                </a:tc>
                <a:extLst>
                  <a:ext uri="{0D108BD9-81ED-4DB2-BD59-A6C34878D82A}">
                    <a16:rowId xmlns:a16="http://schemas.microsoft.com/office/drawing/2014/main" val="2841875074"/>
                  </a:ext>
                </a:extLst>
              </a:tr>
            </a:tbl>
          </a:graphicData>
        </a:graphic>
      </p:graphicFrame>
    </p:spTree>
    <p:extLst>
      <p:ext uri="{BB962C8B-B14F-4D97-AF65-F5344CB8AC3E}">
        <p14:creationId xmlns:p14="http://schemas.microsoft.com/office/powerpoint/2010/main" val="19330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FC3D7-1079-0CEC-3A45-22F9D3A2D5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CBD9D3-7048-7310-6A9C-74FFB6C669A5}"/>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
        <p:nvSpPr>
          <p:cNvPr id="6" name="Content Placeholder 5">
            <a:extLst>
              <a:ext uri="{FF2B5EF4-FFF2-40B4-BE49-F238E27FC236}">
                <a16:creationId xmlns:a16="http://schemas.microsoft.com/office/drawing/2014/main" id="{393113DB-9425-4EEB-1D1B-5F805FC66F3E}"/>
              </a:ext>
            </a:extLst>
          </p:cNvPr>
          <p:cNvSpPr>
            <a:spLocks noGrp="1"/>
          </p:cNvSpPr>
          <p:nvPr>
            <p:ph idx="1"/>
          </p:nvPr>
        </p:nvSpPr>
        <p:spPr/>
        <p:txBody>
          <a:bodyPr/>
          <a:lstStyle/>
          <a:p>
            <a:r>
              <a:rPr lang="en-US" dirty="0"/>
              <a:t>Sonar has also integrated features primarily:</a:t>
            </a:r>
          </a:p>
          <a:p>
            <a:pPr lvl="1"/>
            <a:r>
              <a:rPr lang="en-US" dirty="0"/>
              <a:t>Sonar AI Code Assurance</a:t>
            </a:r>
          </a:p>
          <a:p>
            <a:pPr lvl="1"/>
            <a:r>
              <a:rPr lang="en-US" dirty="0"/>
              <a:t>AI-Generated Code detection</a:t>
            </a:r>
          </a:p>
          <a:p>
            <a:r>
              <a:rPr lang="en-US" dirty="0"/>
              <a:t>These tools target AI-generated code to fix potential security vulnerabilities, subtle bugs, or other Hallucinations</a:t>
            </a:r>
          </a:p>
        </p:txBody>
      </p:sp>
      <p:sp>
        <p:nvSpPr>
          <p:cNvPr id="3" name="Title 2">
            <a:extLst>
              <a:ext uri="{FF2B5EF4-FFF2-40B4-BE49-F238E27FC236}">
                <a16:creationId xmlns:a16="http://schemas.microsoft.com/office/drawing/2014/main" id="{8A84449B-8026-2FD6-338E-52E1F1911B53}"/>
              </a:ext>
            </a:extLst>
          </p:cNvPr>
          <p:cNvSpPr>
            <a:spLocks noGrp="1"/>
          </p:cNvSpPr>
          <p:nvPr>
            <p:ph type="title"/>
          </p:nvPr>
        </p:nvSpPr>
        <p:spPr/>
        <p:txBody>
          <a:bodyPr/>
          <a:lstStyle/>
          <a:p>
            <a:r>
              <a:rPr lang="en-US" dirty="0"/>
              <a:t>Sonar Lint vs AI</a:t>
            </a:r>
          </a:p>
        </p:txBody>
      </p:sp>
    </p:spTree>
    <p:extLst>
      <p:ext uri="{BB962C8B-B14F-4D97-AF65-F5344CB8AC3E}">
        <p14:creationId xmlns:p14="http://schemas.microsoft.com/office/powerpoint/2010/main" val="389529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7074</TotalTime>
  <Words>1896</Words>
  <Application>Microsoft Office PowerPoint</Application>
  <PresentationFormat>On-screen Show (4:3)</PresentationFormat>
  <Paragraphs>176</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2_Custom Design</vt:lpstr>
      <vt:lpstr>DevOps</vt:lpstr>
      <vt:lpstr>Outline</vt:lpstr>
      <vt:lpstr>PowerPoint Presentation</vt:lpstr>
      <vt:lpstr>DevOps</vt:lpstr>
      <vt:lpstr>DevOps</vt:lpstr>
      <vt:lpstr>PowerPoint Presentation</vt:lpstr>
      <vt:lpstr>DevOps &amp; Agile</vt:lpstr>
      <vt:lpstr>DevOps &amp; Agile</vt:lpstr>
      <vt:lpstr>DevOps &amp; Agile</vt:lpstr>
      <vt:lpstr>PowerPoint Presentation</vt:lpstr>
      <vt:lpstr>Continuous Integration</vt:lpstr>
      <vt:lpstr>Continuous Integration | Benefits</vt:lpstr>
      <vt:lpstr>PowerPoint Presentation</vt:lpstr>
      <vt:lpstr>Continuous Delivery</vt:lpstr>
      <vt:lpstr>Continuous Delivery</vt:lpstr>
      <vt:lpstr>Continuous Delivery  | Benefits</vt:lpstr>
      <vt:lpstr>Continuous Delivery  | Costs/Considerations</vt:lpstr>
      <vt:lpstr>PowerPoint Presentation</vt:lpstr>
      <vt:lpstr>Continuous Deployment</vt:lpstr>
      <vt:lpstr>Continuous Deployment | Benefits</vt:lpstr>
      <vt:lpstr>Continuous Deployment | Costs/Risks</vt:lpstr>
      <vt:lpstr>PowerPoint Presentation</vt:lpstr>
      <vt:lpstr>Sonar</vt:lpstr>
      <vt:lpstr>Code Quality Analysis | Core Concepts</vt:lpstr>
      <vt:lpstr>Sonar Cloud &amp; Sonar Qube</vt:lpstr>
      <vt:lpstr>Sonar Lint</vt:lpstr>
      <vt:lpstr>Linters vs AI</vt:lpstr>
      <vt:lpstr>Sonar Lint vs AI</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9</cp:revision>
  <cp:lastPrinted>2016-06-20T20:58:50Z</cp:lastPrinted>
  <dcterms:created xsi:type="dcterms:W3CDTF">2016-11-09T18:19:08Z</dcterms:created>
  <dcterms:modified xsi:type="dcterms:W3CDTF">2026-03-09T15:33:00Z</dcterms:modified>
</cp:coreProperties>
</file>