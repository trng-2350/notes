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30"/>
  </p:notesMasterIdLst>
  <p:handoutMasterIdLst>
    <p:handoutMasterId r:id="rId31"/>
  </p:handoutMasterIdLst>
  <p:sldIdLst>
    <p:sldId id="256" r:id="rId2"/>
    <p:sldId id="257" r:id="rId3"/>
    <p:sldId id="358" r:id="rId4"/>
    <p:sldId id="343" r:id="rId5"/>
    <p:sldId id="361" r:id="rId6"/>
    <p:sldId id="359" r:id="rId7"/>
    <p:sldId id="365" r:id="rId8"/>
    <p:sldId id="364" r:id="rId9"/>
    <p:sldId id="360" r:id="rId10"/>
    <p:sldId id="366" r:id="rId11"/>
    <p:sldId id="368" r:id="rId12"/>
    <p:sldId id="369" r:id="rId13"/>
    <p:sldId id="367" r:id="rId14"/>
    <p:sldId id="370" r:id="rId15"/>
    <p:sldId id="362" r:id="rId16"/>
    <p:sldId id="363" r:id="rId17"/>
    <p:sldId id="373" r:id="rId18"/>
    <p:sldId id="374" r:id="rId19"/>
    <p:sldId id="375" r:id="rId20"/>
    <p:sldId id="376" r:id="rId21"/>
    <p:sldId id="377" r:id="rId22"/>
    <p:sldId id="378" r:id="rId23"/>
    <p:sldId id="383" r:id="rId24"/>
    <p:sldId id="384" r:id="rId25"/>
    <p:sldId id="380" r:id="rId26"/>
    <p:sldId id="381" r:id="rId27"/>
    <p:sldId id="382" r:id="rId28"/>
    <p:sldId id="379" r:id="rId29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474C55"/>
    <a:srgbClr val="669A91"/>
    <a:srgbClr val="9171A7"/>
    <a:srgbClr val="CCCC00"/>
    <a:srgbClr val="B07750"/>
    <a:srgbClr val="AC545C"/>
    <a:srgbClr val="33CCCC"/>
    <a:srgbClr val="9966FF"/>
    <a:srgbClr val="616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389" autoAdjust="0"/>
  </p:normalViewPr>
  <p:slideViewPr>
    <p:cSldViewPr snapToGrid="0">
      <p:cViewPr varScale="1">
        <p:scale>
          <a:sx n="95" d="100"/>
          <a:sy n="95" d="100"/>
        </p:scale>
        <p:origin x="2046" y="96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504" y="-48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3/9/2026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3/9/2026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preserve="1" userDrawn="1">
  <p:cSld name="Section_Titl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19CA9B-AF8F-87A7-664B-F95C0134414C}"/>
              </a:ext>
            </a:extLst>
          </p:cNvPr>
          <p:cNvGrpSpPr/>
          <p:nvPr userDrawn="1"/>
        </p:nvGrpSpPr>
        <p:grpSpPr>
          <a:xfrm>
            <a:off x="6681759" y="0"/>
            <a:ext cx="2462241" cy="773113"/>
            <a:chOff x="7264458" y="365740"/>
            <a:chExt cx="1553307" cy="487719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2A9D49A4-C029-2001-5A0F-3F2082CAD2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9A9B437-540E-333F-9B54-390C0EE615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645A3999-205C-7640-E332-1C3336AC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55F5EA6-ACB4-F73B-8708-83192579DB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2B4DF57-055A-A5B3-F9EA-D5A8751833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2D5EF9E0-0962-BE13-EA0D-E37FC7AD8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B24C6E3-9AC5-E695-8BED-7BE61A5CB6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47756FA6-C29B-BFEB-7653-543BD807F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8A89EE8-B866-AAED-26C2-BE18B4FBF0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DB3E0E0-34C3-52AE-7CD3-F1AB984B2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6622341-E269-B3DE-12CB-68A866A7FB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2B18E42-6F06-C998-AC7F-4559FE8283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89642E-9A28-1238-56CF-BB1CC02E4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B97D7BD-2CAD-CF0D-7625-C390C88021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1BD1B0C-B2D3-C1B8-799E-D42AB3B0AA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403D9FBC-D098-4A6C-D21D-AD6C28E57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01D3E76D-1730-AFA4-D967-418E4B74E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912810A0-76DC-7E83-8BFC-C1A4F60F8D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325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7" r:id="rId1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reference/dockerfile/" TargetMode="External"/><Relationship Id="rId2" Type="http://schemas.openxmlformats.org/officeDocument/2006/relationships/hyperlink" Target="https://hub.docker.com/" TargetMode="Externa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ocker.com/build/building/best-practices/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A4D7FFD-15BD-6A1F-B717-92B55498A4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Docker</a:t>
            </a:r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C8A36B9-6DAA-9178-3579-608F2BF2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857F9-B427-353B-7FBC-A8CC7C439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 to Docker</a:t>
            </a:r>
          </a:p>
          <a:p>
            <a:r>
              <a:rPr lang="en-US" dirty="0"/>
              <a:t>Virtualization – Containers &amp; VMs</a:t>
            </a:r>
          </a:p>
          <a:p>
            <a:r>
              <a:rPr lang="en-US" dirty="0"/>
              <a:t>Docker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A87FC6-514A-FAC5-42F7-E82FF5DD71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07977D4-5C72-27D3-A63F-65BF7AEBA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Docker</a:t>
            </a:r>
          </a:p>
        </p:txBody>
      </p:sp>
    </p:spTree>
    <p:extLst>
      <p:ext uri="{BB962C8B-B14F-4D97-AF65-F5344CB8AC3E}">
        <p14:creationId xmlns:p14="http://schemas.microsoft.com/office/powerpoint/2010/main" val="2968094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444B04-2EA6-FCF4-5F43-ABE166F4F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Open-source project that automates the deployment of software applications inside containers</a:t>
            </a:r>
          </a:p>
          <a:p>
            <a:r>
              <a:rPr lang="en-US" dirty="0"/>
              <a:t>Provides an additional layer of abstraction and automation of OS-level virtualization on </a:t>
            </a:r>
            <a:r>
              <a:rPr lang="en-US" dirty="0" err="1"/>
              <a:t>linux</a:t>
            </a:r>
            <a:endParaRPr lang="en-US" dirty="0"/>
          </a:p>
          <a:p>
            <a:r>
              <a:rPr lang="en-US" dirty="0"/>
              <a:t>i.e. Docker is a tool that allows developers, system admins, etc…to deploy their applications in a sandbox (called containers) which run on a host operating system (i.e. </a:t>
            </a:r>
            <a:r>
              <a:rPr lang="en-US" dirty="0" err="1"/>
              <a:t>linux</a:t>
            </a:r>
            <a:r>
              <a:rPr lang="en-US" dirty="0"/>
              <a:t>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E8E6CB8-99A2-9E4C-F3B1-A570F4A41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Docker?</a:t>
            </a:r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E34B1-4896-0238-7693-632D370C3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0F4D4-B8E2-993B-0858-9853AF02A3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840979-6044-9264-56D9-CD049D1F3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key benefit of Docker is that it allows users to package an application with all of its dependencies into a standardized unit for software development</a:t>
            </a:r>
          </a:p>
          <a:p>
            <a:r>
              <a:rPr lang="en-US" dirty="0"/>
              <a:t>Unlike virtual machines, containers do not have high overhead and hence enable more efficient usage of the underlying system and resources.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835052A-356C-ED61-42C6-A019D6C27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Docker?</a:t>
            </a:r>
          </a:p>
        </p:txBody>
      </p:sp>
    </p:spTree>
    <p:extLst>
      <p:ext uri="{BB962C8B-B14F-4D97-AF65-F5344CB8AC3E}">
        <p14:creationId xmlns:p14="http://schemas.microsoft.com/office/powerpoint/2010/main" val="3662438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72B7B-AB0B-4E11-18F2-D509D2AB7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78D04A-9E4A-6FFD-6B19-02BEF16C66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289B9A-BEDF-7D79-C9FF-2F88ADCE4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 – Containers &amp; VMs</a:t>
            </a:r>
          </a:p>
        </p:txBody>
      </p:sp>
    </p:spTree>
    <p:extLst>
      <p:ext uri="{BB962C8B-B14F-4D97-AF65-F5344CB8AC3E}">
        <p14:creationId xmlns:p14="http://schemas.microsoft.com/office/powerpoint/2010/main" val="734305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52A06-577B-6072-9174-56E416E15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ED985-7043-A78C-412B-E8AB15C13A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865318-526D-71C3-E4FE-35A26A5F6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container is a mechanism for packaging an application (or limited number of processes) with its dependencies so that it runs in its own isolated sandbox.</a:t>
            </a:r>
          </a:p>
          <a:p>
            <a:r>
              <a:rPr lang="en-US" dirty="0"/>
              <a:t>Containerization help to ensure that application or set of processes can run reliably, regardless of the host environment.</a:t>
            </a:r>
          </a:p>
          <a:p>
            <a:r>
              <a:rPr lang="en-US" dirty="0"/>
              <a:t>The container shouldn’t be able to modify or interact with anything it doesn’t need and, changes in the container should not affect the host or other containers (and vice versa)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3AB6A14-A2E6-BAFF-EC8F-6950BF1A1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</a:t>
            </a:r>
          </a:p>
        </p:txBody>
      </p:sp>
    </p:spTree>
    <p:extLst>
      <p:ext uri="{BB962C8B-B14F-4D97-AF65-F5344CB8AC3E}">
        <p14:creationId xmlns:p14="http://schemas.microsoft.com/office/powerpoint/2010/main" val="1224662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8297C-E3A7-85D0-F388-E7D02F485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064AE-AD16-04DF-4F23-67F63FC737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3EBEAEB-38A6-9B4D-5CA8-BFAF0A7F8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28210A35-80A4-DD77-3802-23AF0B2348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0" y="1947706"/>
            <a:ext cx="4953000" cy="3904002"/>
          </a:xfrm>
        </p:spPr>
      </p:pic>
    </p:spTree>
    <p:extLst>
      <p:ext uri="{BB962C8B-B14F-4D97-AF65-F5344CB8AC3E}">
        <p14:creationId xmlns:p14="http://schemas.microsoft.com/office/powerpoint/2010/main" val="903022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80C91-61E7-E670-A5DF-746FE4895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D2E590-1D2C-51BA-CCEC-02F89D2BBA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F955CB-EB5E-397E-6B02-271D8AB78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Containers are built from images (templates for the container)</a:t>
            </a:r>
          </a:p>
          <a:p>
            <a:r>
              <a:rPr lang="en-US" dirty="0"/>
              <a:t>They are run on an engine (the host OS), i.e. docker engine</a:t>
            </a:r>
          </a:p>
          <a:p>
            <a:r>
              <a:rPr lang="en-US" dirty="0"/>
              <a:t>They are ideally stateless</a:t>
            </a:r>
          </a:p>
          <a:p>
            <a:pPr lvl="1"/>
            <a:r>
              <a:rPr lang="en-US" dirty="0"/>
              <a:t>Any state needed to persist for an application should be stored in a way that is essentially ‘detachable’ from the actual container. i.e. kept in a separate volume.</a:t>
            </a:r>
          </a:p>
          <a:p>
            <a:r>
              <a:rPr lang="en-US" dirty="0"/>
              <a:t>Volumes are docker’s mechanism to store data outside a container on the host machine. Containers can read and rite to the volume while running, but data lives beyond the life of the container</a:t>
            </a:r>
          </a:p>
          <a:p>
            <a:r>
              <a:rPr lang="en-US" dirty="0"/>
              <a:t>Containers are a lightweight form of Virtualization, each container is isolated from the others and from the host, meaning they have their own filesystem, processes, and network.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62897AC-16FD-8619-B518-96CB0507C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</a:t>
            </a:r>
          </a:p>
        </p:txBody>
      </p:sp>
    </p:spTree>
    <p:extLst>
      <p:ext uri="{BB962C8B-B14F-4D97-AF65-F5344CB8AC3E}">
        <p14:creationId xmlns:p14="http://schemas.microsoft.com/office/powerpoint/2010/main" val="701732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E606B-A018-63DB-61CF-77D29C89F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FF9CD-87AD-E8EA-05BD-AAE99C8E84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9B8C9D-A976-A6E0-232B-34FF7D6CD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Secure</a:t>
            </a:r>
          </a:p>
          <a:p>
            <a:pPr lvl="1"/>
            <a:r>
              <a:rPr lang="en-US" dirty="0"/>
              <a:t>Isolation &amp; Virtualization keeps your containerized apps more secure</a:t>
            </a:r>
          </a:p>
          <a:p>
            <a:r>
              <a:rPr lang="en-US" dirty="0"/>
              <a:t>Standardized, thus Portable</a:t>
            </a:r>
          </a:p>
          <a:p>
            <a:pPr lvl="1"/>
            <a:r>
              <a:rPr lang="en-US" dirty="0"/>
              <a:t>Similar to Java’s idea of ‘write once – run anywhere’</a:t>
            </a:r>
          </a:p>
          <a:p>
            <a:r>
              <a:rPr lang="en-US" dirty="0"/>
              <a:t>Lightweight</a:t>
            </a:r>
          </a:p>
          <a:p>
            <a:pPr lvl="1"/>
            <a:r>
              <a:rPr lang="en-US" dirty="0"/>
              <a:t>Shares the host operating system’s kernel</a:t>
            </a:r>
          </a:p>
          <a:p>
            <a:r>
              <a:rPr lang="en-US" dirty="0"/>
              <a:t>Flexible and Loosely Coupled</a:t>
            </a:r>
          </a:p>
          <a:p>
            <a:r>
              <a:rPr lang="en-US" dirty="0"/>
              <a:t>Scalable</a:t>
            </a:r>
          </a:p>
          <a:p>
            <a:pPr lvl="1"/>
            <a:r>
              <a:rPr lang="en-US" dirty="0"/>
              <a:t>Easy to spin up, and due to lightweight nature, they can be scaled up quickly</a:t>
            </a:r>
          </a:p>
          <a:p>
            <a:pPr lvl="1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2D8B10-2EC5-034A-DF0E-216C4D05C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 | Benefits</a:t>
            </a:r>
          </a:p>
        </p:txBody>
      </p:sp>
    </p:spTree>
    <p:extLst>
      <p:ext uri="{BB962C8B-B14F-4D97-AF65-F5344CB8AC3E}">
        <p14:creationId xmlns:p14="http://schemas.microsoft.com/office/powerpoint/2010/main" val="1882489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47D00-D10B-DCF1-70A5-8D432E51B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92654-878C-7DA4-6D6A-9BC08324D6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1760E3-FE51-D35D-2E67-DEF2088C0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/>
          </a:bodyPr>
          <a:lstStyle/>
          <a:p>
            <a:r>
              <a:rPr lang="en-US" dirty="0"/>
              <a:t>Virtual Machines simulate a physical server so that multiple “servers” can run on a single machine</a:t>
            </a:r>
          </a:p>
          <a:p>
            <a:r>
              <a:rPr lang="en-US" dirty="0"/>
              <a:t>They virtualize the entire supporting operating system</a:t>
            </a:r>
          </a:p>
          <a:p>
            <a:r>
              <a:rPr lang="en-US" dirty="0"/>
              <a:t>For instance, Using a virtual machine, your host computer could be windows based, and you could run a </a:t>
            </a:r>
            <a:r>
              <a:rPr lang="en-US" dirty="0" err="1"/>
              <a:t>linux</a:t>
            </a:r>
            <a:r>
              <a:rPr lang="en-US" dirty="0"/>
              <a:t> OS and an application on top of it</a:t>
            </a:r>
          </a:p>
          <a:p>
            <a:r>
              <a:rPr lang="en-US" dirty="0"/>
              <a:t>Virtual machines are enabled by h</a:t>
            </a:r>
            <a:r>
              <a:rPr lang="en-US" i="1" dirty="0"/>
              <a:t>ypervisors</a:t>
            </a:r>
            <a:r>
              <a:rPr lang="en-US" dirty="0"/>
              <a:t>, software that coordinates between multiple VMs and interfaces with underlying infrastructure</a:t>
            </a:r>
          </a:p>
          <a:p>
            <a:pPr lvl="1"/>
            <a:r>
              <a:rPr lang="en-US" dirty="0"/>
              <a:t>Note: Some hypervisors interact directly with the hardware, while others run on top of the underlying OS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5BB35F0-FF6A-2AED-44D2-CAD57CED7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Machines</a:t>
            </a:r>
          </a:p>
        </p:txBody>
      </p:sp>
    </p:spTree>
    <p:extLst>
      <p:ext uri="{BB962C8B-B14F-4D97-AF65-F5344CB8AC3E}">
        <p14:creationId xmlns:p14="http://schemas.microsoft.com/office/powerpoint/2010/main" val="503330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D39D2-675A-2DCF-9EF6-71E1A5206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75861-12D3-D9FE-1111-08572DCD12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9F7272-EC26-C91E-7859-6481EA6CC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Containers bundle together applications with their supporting libraries &amp; dependencies, allowing them to run isolated from one another</a:t>
            </a:r>
          </a:p>
          <a:p>
            <a:r>
              <a:rPr lang="en-US" dirty="0"/>
              <a:t>Containers share the underlying OS kernel, and are much more lightweight than virtual machines</a:t>
            </a:r>
          </a:p>
          <a:p>
            <a:r>
              <a:rPr lang="en-US" dirty="0"/>
              <a:t>Containers provide their processes a virtualized view of the underlying recourses.</a:t>
            </a:r>
          </a:p>
          <a:p>
            <a:r>
              <a:rPr lang="en-US" dirty="0"/>
              <a:t>Processes within a container only see a particular version of their environment and have limited access to resources – isolating them from the rest of the processes running on a given host.</a:t>
            </a:r>
          </a:p>
          <a:p>
            <a:r>
              <a:rPr lang="en-US" dirty="0"/>
              <a:t>Containerization is enabled by an engine running on the host, i.e. Docker engine.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B4BB98C-1AAE-79AF-5FC4-A583A2751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</a:t>
            </a:r>
          </a:p>
        </p:txBody>
      </p:sp>
    </p:spTree>
    <p:extLst>
      <p:ext uri="{BB962C8B-B14F-4D97-AF65-F5344CB8AC3E}">
        <p14:creationId xmlns:p14="http://schemas.microsoft.com/office/powerpoint/2010/main" val="445533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5C411-EBBE-02FE-A725-50E8D2F6C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E1807-05D4-E23D-27C4-8D9614AD45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D373C9-E217-00F2-6D43-C7355AF9D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VMs and Containers both provide the ability to isolate processes, but they do so at different levels.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2CB56C6-D60F-B16A-9D9B-AD2D69D46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 vs Virtual Machines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49E160F-9D61-1CD1-3577-E6BE9FF0CA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6222117"/>
              </p:ext>
            </p:extLst>
          </p:nvPr>
        </p:nvGraphicFramePr>
        <p:xfrm>
          <a:off x="325657" y="3181913"/>
          <a:ext cx="8492685" cy="3050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0895">
                  <a:extLst>
                    <a:ext uri="{9D8B030D-6E8A-4147-A177-3AD203B41FA5}">
                      <a16:colId xmlns:a16="http://schemas.microsoft.com/office/drawing/2014/main" val="2543681450"/>
                    </a:ext>
                  </a:extLst>
                </a:gridCol>
                <a:gridCol w="2830895">
                  <a:extLst>
                    <a:ext uri="{9D8B030D-6E8A-4147-A177-3AD203B41FA5}">
                      <a16:colId xmlns:a16="http://schemas.microsoft.com/office/drawing/2014/main" val="3750408138"/>
                    </a:ext>
                  </a:extLst>
                </a:gridCol>
                <a:gridCol w="2830895">
                  <a:extLst>
                    <a:ext uri="{9D8B030D-6E8A-4147-A177-3AD203B41FA5}">
                      <a16:colId xmlns:a16="http://schemas.microsoft.com/office/drawing/2014/main" val="1356169450"/>
                    </a:ext>
                  </a:extLst>
                </a:gridCol>
              </a:tblGrid>
              <a:tr h="190918">
                <a:tc>
                  <a:txBody>
                    <a:bodyPr/>
                    <a:lstStyle/>
                    <a:p>
                      <a:r>
                        <a:rPr lang="en-US" dirty="0"/>
                        <a:t>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Virtual 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Container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244298"/>
                  </a:ext>
                </a:extLst>
              </a:tr>
              <a:tr h="671229">
                <a:tc>
                  <a:txBody>
                    <a:bodyPr/>
                    <a:lstStyle/>
                    <a:p>
                      <a:r>
                        <a:rPr lang="en-US" dirty="0"/>
                        <a:t>What is virtualized?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Entire 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Application with its Libraries &amp; Dependencies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718585"/>
                  </a:ext>
                </a:extLst>
              </a:tr>
              <a:tr h="671229">
                <a:tc>
                  <a:txBody>
                    <a:bodyPr/>
                    <a:lstStyle/>
                    <a:p>
                      <a:r>
                        <a:rPr lang="en-US" dirty="0"/>
                        <a:t>How is it enabled?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Using a Hypervisor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With a Container Engine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765075"/>
                  </a:ext>
                </a:extLst>
              </a:tr>
              <a:tr h="671229">
                <a:tc>
                  <a:txBody>
                    <a:bodyPr/>
                    <a:lstStyle/>
                    <a:p>
                      <a:r>
                        <a:rPr lang="en-US" dirty="0"/>
                        <a:t>Can run its own apps?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984864"/>
                  </a:ext>
                </a:extLst>
              </a:tr>
              <a:tr h="671229">
                <a:tc>
                  <a:txBody>
                    <a:bodyPr/>
                    <a:lstStyle/>
                    <a:p>
                      <a:r>
                        <a:rPr lang="en-US" dirty="0"/>
                        <a:t>Startup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Milliseconds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406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2721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1F73B-AFF0-791C-5414-5B470F75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BC870-31A1-F0F7-F2CD-07F6195E9F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62F5E4-C250-F668-D10B-78727B76C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Containers are faster, more memory efficient and portable than Virtual Machines; however, they are reliant on the OS of the host machine.</a:t>
            </a:r>
          </a:p>
          <a:p>
            <a:r>
              <a:rPr lang="en-US" dirty="0"/>
              <a:t>Typically, VMs and Containers are used together in cloud computing </a:t>
            </a:r>
          </a:p>
          <a:p>
            <a:pPr lvl="1"/>
            <a:r>
              <a:rPr lang="en-US" dirty="0"/>
              <a:t>i.e. you create a virtual machine on a cloud server, then run containers using that VM.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21FDF33-6442-92A3-79E7-074E0FDCB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 vs Virtual Machines</a:t>
            </a:r>
          </a:p>
        </p:txBody>
      </p:sp>
    </p:spTree>
    <p:extLst>
      <p:ext uri="{BB962C8B-B14F-4D97-AF65-F5344CB8AC3E}">
        <p14:creationId xmlns:p14="http://schemas.microsoft.com/office/powerpoint/2010/main" val="544863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FB8CC-FF59-D1F6-258A-A0076EDD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289FCB-42D8-8457-7439-87DB66103B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845D85-0C11-487F-C494-A507FFADF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55660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630B0-9413-B4CF-6B23-4FA479C65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3D9E8-440A-7ECF-1285-22B9FC8567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8C70CA-7186-478C-8B71-268DDE84A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Docker adheres to a client-server architecture.</a:t>
            </a:r>
          </a:p>
          <a:p>
            <a:r>
              <a:rPr lang="en-US" dirty="0"/>
              <a:t>The client allows you to run commands and interact with the docker objects, managed by the docker daemon.</a:t>
            </a:r>
          </a:p>
          <a:p>
            <a:r>
              <a:rPr lang="en-US" dirty="0"/>
              <a:t>This architecture translates into these </a:t>
            </a:r>
            <a:r>
              <a:rPr lang="en-US" i="1" dirty="0"/>
              <a:t>primary</a:t>
            </a:r>
            <a:r>
              <a:rPr lang="en-US" dirty="0"/>
              <a:t> components that allow you to run and interact with ‘</a:t>
            </a:r>
            <a:r>
              <a:rPr lang="en-US" dirty="0" err="1"/>
              <a:t>Dockerized</a:t>
            </a:r>
            <a:r>
              <a:rPr lang="en-US" dirty="0"/>
              <a:t>’ applications:</a:t>
            </a:r>
          </a:p>
          <a:p>
            <a:pPr lvl="1"/>
            <a:r>
              <a:rPr lang="en-US" dirty="0"/>
              <a:t>Docker Daemon</a:t>
            </a:r>
          </a:p>
          <a:p>
            <a:pPr lvl="1"/>
            <a:r>
              <a:rPr lang="en-US" dirty="0"/>
              <a:t>Rest API</a:t>
            </a:r>
          </a:p>
          <a:p>
            <a:pPr lvl="1"/>
            <a:r>
              <a:rPr lang="en-US" dirty="0"/>
              <a:t>Docker CLI client</a:t>
            </a:r>
          </a:p>
          <a:p>
            <a:pPr lvl="1"/>
            <a:r>
              <a:rPr lang="en-US" dirty="0"/>
              <a:t>Docker Registries</a:t>
            </a:r>
          </a:p>
          <a:p>
            <a:pPr lvl="1"/>
            <a:r>
              <a:rPr lang="en-US" dirty="0"/>
              <a:t>Docker Objects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3DA803B-0288-53CC-E1FE-9C1E4E445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798401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A1F54-E3D7-C969-E22A-F91B1DD23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6CDFE-237A-D183-9217-C6B3C79FE2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035FF9D-E5A8-BFCA-6F59-9D4F529E7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Architecture</a:t>
            </a:r>
          </a:p>
        </p:txBody>
      </p:sp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5738A7A8-14CE-450C-B976-A75ABB572B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61" y="1719263"/>
            <a:ext cx="8136478" cy="4411662"/>
          </a:xfrm>
        </p:spPr>
      </p:pic>
    </p:spTree>
    <p:extLst>
      <p:ext uri="{BB962C8B-B14F-4D97-AF65-F5344CB8AC3E}">
        <p14:creationId xmlns:p14="http://schemas.microsoft.com/office/powerpoint/2010/main" val="2836998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342B7-610E-D87F-BFCA-CE1BCB366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140C4-A6A4-0831-FFAA-3B4E9942DF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DEC6B7-BFB1-0C9A-E992-75FC92265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client includes commands that manage docker containers</a:t>
            </a:r>
          </a:p>
          <a:p>
            <a:r>
              <a:rPr lang="en-US" dirty="0"/>
              <a:t>The host is the computer on which the docker daemon runs</a:t>
            </a:r>
          </a:p>
          <a:p>
            <a:r>
              <a:rPr lang="en-US" dirty="0"/>
              <a:t>The docker daemon is responsible for managing docker objects (containers and images)</a:t>
            </a:r>
          </a:p>
          <a:p>
            <a:r>
              <a:rPr lang="en-US" dirty="0"/>
              <a:t>The registry is an additional (optional) component that provides a centralized place to share docker images</a:t>
            </a:r>
          </a:p>
          <a:p>
            <a:r>
              <a:rPr lang="en-US" dirty="0"/>
              <a:t>The REST API (not shown in image) acts as the connection point for the client and the docker daemon.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82767C1-694F-3A39-D8E6-C9C4C27EF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3065073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B5B14-5C74-120E-53D0-953C3FAEF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28F9E-C993-07BF-A0D0-F61184F1C1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9B21BF-8E33-6CD0-1279-F621C4CDA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Docker CLI</a:t>
            </a:r>
          </a:p>
          <a:p>
            <a:pPr lvl="1"/>
            <a:r>
              <a:rPr lang="en-US" dirty="0"/>
              <a:t>The command line interface in what Docker developers typically use for interactions with the Docker daemon</a:t>
            </a:r>
          </a:p>
          <a:p>
            <a:pPr lvl="1"/>
            <a:r>
              <a:rPr lang="en-US" dirty="0"/>
              <a:t>There is also a GUI available for some OS</a:t>
            </a:r>
          </a:p>
          <a:p>
            <a:pPr lvl="1"/>
            <a:r>
              <a:rPr lang="en-US" dirty="0"/>
              <a:t>Docker CLI commands use the ‘docker’ preface</a:t>
            </a:r>
          </a:p>
          <a:p>
            <a:pPr lvl="1"/>
            <a:r>
              <a:rPr lang="en-US" dirty="0"/>
              <a:t>The CLI client may be on the same host machine as the docker daemon with which it communicates, but that is not required.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0F3443-5AA9-A936-133F-CBDE3361C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CLI Client</a:t>
            </a:r>
          </a:p>
        </p:txBody>
      </p:sp>
    </p:spTree>
    <p:extLst>
      <p:ext uri="{BB962C8B-B14F-4D97-AF65-F5344CB8AC3E}">
        <p14:creationId xmlns:p14="http://schemas.microsoft.com/office/powerpoint/2010/main" val="1129305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A1E54-37BB-4F25-AA3A-F1ADA83F7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A0863-A501-F849-5DB4-9BB571F02A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7D375B-964D-1D02-FFEE-EF2CBD2D3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The Docker Daemon </a:t>
            </a:r>
          </a:p>
          <a:p>
            <a:pPr lvl="1"/>
            <a:r>
              <a:rPr lang="en-US" dirty="0"/>
              <a:t>Long running process on the docker host that does all the heavy lifting of managing Docker objects</a:t>
            </a:r>
          </a:p>
          <a:p>
            <a:pPr lvl="1"/>
            <a:r>
              <a:rPr lang="en-US" dirty="0"/>
              <a:t>Those objects include containers, images and more</a:t>
            </a:r>
          </a:p>
          <a:p>
            <a:pPr lvl="1"/>
            <a:r>
              <a:rPr lang="en-US" dirty="0"/>
              <a:t>The docker daemon is at the core of running </a:t>
            </a:r>
            <a:r>
              <a:rPr lang="en-US" dirty="0" err="1"/>
              <a:t>dockerized</a:t>
            </a:r>
            <a:r>
              <a:rPr lang="en-US" dirty="0"/>
              <a:t> applications.</a:t>
            </a:r>
          </a:p>
          <a:p>
            <a:pPr lvl="1"/>
            <a:r>
              <a:rPr lang="en-US" dirty="0"/>
              <a:t>Can communicate with other docker daemons (docker swarm)</a:t>
            </a:r>
          </a:p>
          <a:p>
            <a:r>
              <a:rPr lang="en-US" b="1" dirty="0"/>
              <a:t>REST API</a:t>
            </a:r>
          </a:p>
          <a:p>
            <a:pPr lvl="1"/>
            <a:r>
              <a:rPr lang="en-US" dirty="0"/>
              <a:t>The underlying commands used by CLI and other applications to interact with the Docker daemon</a:t>
            </a:r>
          </a:p>
          <a:p>
            <a:pPr lvl="1"/>
            <a:r>
              <a:rPr lang="en-US" dirty="0"/>
              <a:t>Wen you run a ‘docker’ command using the CLI, it translates into an HTTP request which talks to the docker Daemon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09406EA-7CA6-4B2B-ACF3-6C8C8C587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Daemon</a:t>
            </a:r>
          </a:p>
        </p:txBody>
      </p:sp>
    </p:spTree>
    <p:extLst>
      <p:ext uri="{BB962C8B-B14F-4D97-AF65-F5344CB8AC3E}">
        <p14:creationId xmlns:p14="http://schemas.microsoft.com/office/powerpoint/2010/main" val="3778951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37971-45CC-2FE0-6BC1-0836D90E8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22402-69B0-62F3-8C18-BABFB297E4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FA0BDE-3E04-9FBF-6225-C3E78221F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Docker Registries</a:t>
            </a:r>
            <a:endParaRPr lang="en-US" dirty="0"/>
          </a:p>
          <a:p>
            <a:pPr lvl="1"/>
            <a:r>
              <a:rPr lang="en-US" dirty="0"/>
              <a:t>Docker registries provide a centralized place to store images, allowing you to easily share images between docker hosts</a:t>
            </a:r>
          </a:p>
          <a:p>
            <a:pPr lvl="1"/>
            <a:r>
              <a:rPr lang="en-US" dirty="0"/>
              <a:t>Docker Hub is a public registry (think maven repo) that hosts can use to pull images from and push images to by default.</a:t>
            </a:r>
          </a:p>
          <a:p>
            <a:r>
              <a:rPr lang="en-US" b="1" dirty="0"/>
              <a:t>Docker Objects</a:t>
            </a:r>
          </a:p>
          <a:p>
            <a:pPr lvl="1"/>
            <a:r>
              <a:rPr lang="en-US" dirty="0"/>
              <a:t>Building blocks that are managed by Docker Daemon</a:t>
            </a:r>
          </a:p>
          <a:p>
            <a:pPr lvl="1"/>
            <a:r>
              <a:rPr lang="en-US" dirty="0"/>
              <a:t>Most fundamental objects are images and containers</a:t>
            </a:r>
          </a:p>
          <a:p>
            <a:pPr lvl="1"/>
            <a:r>
              <a:rPr lang="en-US" b="1" dirty="0"/>
              <a:t>Images</a:t>
            </a:r>
            <a:r>
              <a:rPr lang="en-US" dirty="0"/>
              <a:t>: Templates used to create containers, detailing dependencies and processes.</a:t>
            </a:r>
          </a:p>
          <a:p>
            <a:pPr lvl="1"/>
            <a:r>
              <a:rPr lang="en-US" b="1" dirty="0"/>
              <a:t>Containers</a:t>
            </a:r>
            <a:r>
              <a:rPr lang="en-US" dirty="0"/>
              <a:t>: runnable instances of outlined processes which contains its dependencies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4BB28DC-5EB8-6D77-A4A5-DD004F0EE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Daemon</a:t>
            </a:r>
          </a:p>
        </p:txBody>
      </p:sp>
    </p:spTree>
    <p:extLst>
      <p:ext uri="{BB962C8B-B14F-4D97-AF65-F5344CB8AC3E}">
        <p14:creationId xmlns:p14="http://schemas.microsoft.com/office/powerpoint/2010/main" val="3807145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DB9EB-CEB0-70FA-B3BD-B0EB3C6E5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73C59-0E84-BFDF-32F5-DDCE68ADBF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8E9BE4-29B7-085F-7592-4A8AF0FB3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300011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Docker Images are read-only, self-contained packages that act as blueprints for a container</a:t>
            </a:r>
          </a:p>
          <a:p>
            <a:r>
              <a:rPr lang="en-US" dirty="0"/>
              <a:t>Docker Images are built in layers, wit each layer representing discrete commands or instructions</a:t>
            </a:r>
          </a:p>
          <a:p>
            <a:r>
              <a:rPr lang="en-US" dirty="0"/>
              <a:t>Images are defined within a </a:t>
            </a:r>
            <a:r>
              <a:rPr lang="en-US" dirty="0" err="1"/>
              <a:t>dockerfile</a:t>
            </a:r>
            <a:r>
              <a:rPr lang="en-US" dirty="0"/>
              <a:t> that defines what is needed for the images.</a:t>
            </a:r>
          </a:p>
          <a:p>
            <a:r>
              <a:rPr lang="en-US" dirty="0"/>
              <a:t>Images are also named and tagged with a version</a:t>
            </a:r>
          </a:p>
          <a:p>
            <a:r>
              <a:rPr lang="en-US" dirty="0"/>
              <a:t>Each image has a unique id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EE07765-BBC8-972F-6E55-FEA16F6F8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Images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4AA805-2721-D943-2BE6-614E1D700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575" y="4564797"/>
            <a:ext cx="5372850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785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BEB64-0907-7240-7A36-C9F9FD070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0B9E4-8073-2C8F-280D-9B4864288B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41ACD3-36E3-3994-8BB4-BF759FC1C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There are many docker images available for use on </a:t>
            </a:r>
            <a:r>
              <a:rPr lang="en-US" dirty="0" err="1"/>
              <a:t>DockerHub</a:t>
            </a:r>
            <a:r>
              <a:rPr lang="en-US" dirty="0"/>
              <a:t> (such as an image that already has Node): </a:t>
            </a:r>
            <a:r>
              <a:rPr lang="en-US" dirty="0">
                <a:hlinkClick r:id="rId2"/>
              </a:rPr>
              <a:t>https://hub.docker.com/</a:t>
            </a:r>
            <a:endParaRPr lang="en-US" dirty="0"/>
          </a:p>
          <a:p>
            <a:endParaRPr lang="en-US" dirty="0"/>
          </a:p>
          <a:p>
            <a:r>
              <a:rPr lang="en-US" dirty="0"/>
              <a:t>If you need to define your own image, you create a simple text file named ‘</a:t>
            </a:r>
            <a:r>
              <a:rPr lang="en-US" dirty="0" err="1"/>
              <a:t>Dockerfile</a:t>
            </a:r>
            <a:r>
              <a:rPr lang="en-US" dirty="0"/>
              <a:t>’ (no extension) in your project directory. </a:t>
            </a:r>
          </a:p>
          <a:p>
            <a:r>
              <a:rPr lang="en-US" dirty="0"/>
              <a:t>This file contains instructions, using docker commands.</a:t>
            </a:r>
          </a:p>
          <a:p>
            <a:r>
              <a:rPr lang="en-US" dirty="0"/>
              <a:t>A reference of </a:t>
            </a:r>
            <a:r>
              <a:rPr lang="en-US" dirty="0" err="1"/>
              <a:t>dockerfile</a:t>
            </a:r>
            <a:r>
              <a:rPr lang="en-US" dirty="0"/>
              <a:t> commands can be found in the docker documentation: </a:t>
            </a:r>
            <a:r>
              <a:rPr lang="en-US" dirty="0">
                <a:hlinkClick r:id="rId3"/>
              </a:rPr>
              <a:t>https://docs.docker.com/reference/dockerfile/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C3ECF00-47C0-F55C-150D-EE65E2042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Images</a:t>
            </a:r>
          </a:p>
        </p:txBody>
      </p:sp>
    </p:spTree>
    <p:extLst>
      <p:ext uri="{BB962C8B-B14F-4D97-AF65-F5344CB8AC3E}">
        <p14:creationId xmlns:p14="http://schemas.microsoft.com/office/powerpoint/2010/main" val="3068981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DB075-D945-B764-C53D-942B5C417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57BBA-8EB9-057A-CA15-157C3732D3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85A701F-D3F4-26E4-009C-940BF7EE4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Images | Example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3CDA0FB9-3961-34C1-EEDC-327F9F2B8F7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22" y="1693985"/>
            <a:ext cx="8369355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49247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47057-0901-9D3A-B7C7-92264517E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93CBF7-AFB9-3B8C-407E-2025767130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037DAA-3AF1-99CD-3AE4-C96C9925D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019838"/>
          </a:xfrm>
        </p:spPr>
        <p:txBody>
          <a:bodyPr>
            <a:normAutofit/>
          </a:bodyPr>
          <a:lstStyle/>
          <a:p>
            <a:r>
              <a:rPr lang="en-US" dirty="0"/>
              <a:t>Docker containers are isolated, runnable instances built from a docker image.</a:t>
            </a:r>
          </a:p>
          <a:p>
            <a:r>
              <a:rPr lang="en-US" dirty="0"/>
              <a:t>The image lays out everything the processes which run in the container will need</a:t>
            </a:r>
          </a:p>
          <a:p>
            <a:r>
              <a:rPr lang="en-US" dirty="0"/>
              <a:t>The docker daemon manages the containers.</a:t>
            </a:r>
          </a:p>
          <a:p>
            <a:r>
              <a:rPr lang="en-US" dirty="0"/>
              <a:t>The docker engine allows docker containers to be standardized and very portable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9C77F9D-FDD9-59B0-377D-CD4BC165E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Container</a:t>
            </a:r>
          </a:p>
        </p:txBody>
      </p:sp>
    </p:spTree>
    <p:extLst>
      <p:ext uri="{BB962C8B-B14F-4D97-AF65-F5344CB8AC3E}">
        <p14:creationId xmlns:p14="http://schemas.microsoft.com/office/powerpoint/2010/main" val="3316046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CA783-F334-269B-1D03-8117A9381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500FC-DAE0-24B6-673E-1A8F4B5194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F3B19C-AFDC-9DB2-0289-8B6ABF898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0198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Created</a:t>
            </a:r>
          </a:p>
          <a:p>
            <a:pPr lvl="1"/>
            <a:r>
              <a:rPr lang="en-US" dirty="0"/>
              <a:t>The container has been initialized, but not yet started</a:t>
            </a:r>
          </a:p>
          <a:p>
            <a:r>
              <a:rPr lang="en-US" dirty="0"/>
              <a:t>Restarting</a:t>
            </a:r>
          </a:p>
          <a:p>
            <a:pPr lvl="1"/>
            <a:r>
              <a:rPr lang="en-US" dirty="0"/>
              <a:t>The container is in the process of stopping and starting again</a:t>
            </a:r>
          </a:p>
          <a:p>
            <a:r>
              <a:rPr lang="en-US" dirty="0"/>
              <a:t>Running</a:t>
            </a:r>
          </a:p>
          <a:p>
            <a:pPr lvl="1"/>
            <a:r>
              <a:rPr lang="en-US" dirty="0"/>
              <a:t>The container is up and actively executing processes</a:t>
            </a:r>
          </a:p>
          <a:p>
            <a:r>
              <a:rPr lang="en-US" dirty="0"/>
              <a:t>Paused</a:t>
            </a:r>
          </a:p>
          <a:p>
            <a:pPr lvl="1"/>
            <a:r>
              <a:rPr lang="en-US" dirty="0"/>
              <a:t>Container’s processes have been temporarily frozen, but not stopped (everything is suspended mid-execution)</a:t>
            </a:r>
          </a:p>
          <a:p>
            <a:r>
              <a:rPr lang="en-US" dirty="0"/>
              <a:t>Exited </a:t>
            </a:r>
          </a:p>
          <a:p>
            <a:pPr lvl="1"/>
            <a:r>
              <a:rPr lang="en-US" dirty="0"/>
              <a:t>The container has finished running and stopped</a:t>
            </a:r>
          </a:p>
          <a:p>
            <a:r>
              <a:rPr lang="en-US" dirty="0"/>
              <a:t>Dead</a:t>
            </a:r>
          </a:p>
          <a:p>
            <a:pPr lvl="1"/>
            <a:r>
              <a:rPr lang="en-US" dirty="0"/>
              <a:t>The container is in a broken, unrecoverable state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9A067A-1FEC-8A35-B7F1-F0F1FB478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Container | states</a:t>
            </a:r>
          </a:p>
        </p:txBody>
      </p:sp>
    </p:spTree>
    <p:extLst>
      <p:ext uri="{BB962C8B-B14F-4D97-AF65-F5344CB8AC3E}">
        <p14:creationId xmlns:p14="http://schemas.microsoft.com/office/powerpoint/2010/main" val="3557255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4871B-E076-B2BB-94D9-C0F0DE8F1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D5756-A39D-8AA4-4465-ECBA9E9F3E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0DC134-6E48-C2C4-AB51-CEDB2610A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01983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Typically, the goal is to have containers exist as stateless (or mostly stateless)</a:t>
            </a:r>
          </a:p>
          <a:p>
            <a:r>
              <a:rPr lang="en-US" dirty="0"/>
              <a:t>However, if you need information to remain hen a container stops, you can use a Docker Volume</a:t>
            </a:r>
          </a:p>
          <a:p>
            <a:r>
              <a:rPr lang="en-US" dirty="0"/>
              <a:t>Volumes are managed using the CLI and the Docker API</a:t>
            </a:r>
          </a:p>
          <a:p>
            <a:r>
              <a:rPr lang="en-US" dirty="0"/>
              <a:t>Volumes facilitate:</a:t>
            </a:r>
          </a:p>
          <a:p>
            <a:pPr lvl="1"/>
            <a:r>
              <a:rPr lang="en-US" dirty="0"/>
              <a:t>Sharing data between different containers</a:t>
            </a:r>
          </a:p>
          <a:p>
            <a:pPr lvl="1"/>
            <a:r>
              <a:rPr lang="en-US" dirty="0"/>
              <a:t>Decoupling of host and container</a:t>
            </a:r>
          </a:p>
          <a:p>
            <a:pPr lvl="1"/>
            <a:r>
              <a:rPr lang="en-US" dirty="0"/>
              <a:t>Storing data remotely</a:t>
            </a:r>
          </a:p>
          <a:p>
            <a:pPr lvl="1"/>
            <a:r>
              <a:rPr lang="en-US" dirty="0"/>
              <a:t>Moving data between hosts or backing up data between hosts</a:t>
            </a:r>
          </a:p>
          <a:p>
            <a:r>
              <a:rPr lang="en-US" dirty="0"/>
              <a:t>Volumes are also helpful because they allow docker to keep the containers slim by saving data in the volume, rather than the writable layer that disappears with the container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A691A6D-83EE-CC53-8A94-58EC12B4A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Volumes</a:t>
            </a:r>
          </a:p>
        </p:txBody>
      </p:sp>
    </p:spTree>
    <p:extLst>
      <p:ext uri="{BB962C8B-B14F-4D97-AF65-F5344CB8AC3E}">
        <p14:creationId xmlns:p14="http://schemas.microsoft.com/office/powerpoint/2010/main" val="4112562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EE53A-5D87-8262-A2BE-75285D9CB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AD6B4-BCAC-0855-1304-C9D0CA284B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E8804-3C27-8698-5629-AA66751B6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029886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Install Docker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Write a </a:t>
            </a:r>
            <a:r>
              <a:rPr lang="en-US" dirty="0" err="1"/>
              <a:t>dockerfile</a:t>
            </a:r>
            <a:r>
              <a:rPr lang="en-US" dirty="0"/>
              <a:t> (if building a custom image) or identify an existing image on a registry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CLI commands to send instructions to Docker Daemon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Docker Daemon pulls images from registry or creates image (depending on instructions given)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CLI to run processes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Configure volumes if app needs persistent storage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Stop/remove containers when done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Docker best Practices: </a:t>
            </a:r>
            <a:r>
              <a:rPr lang="en-US" dirty="0">
                <a:hlinkClick r:id="rId2"/>
              </a:rPr>
              <a:t>https://docs.docker.com/build/building/best-practices/</a:t>
            </a:r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4AEACE8-6695-AFDE-D2EF-C761E9AC4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Workflow Overview</a:t>
            </a:r>
          </a:p>
        </p:txBody>
      </p:sp>
    </p:spTree>
    <p:extLst>
      <p:ext uri="{BB962C8B-B14F-4D97-AF65-F5344CB8AC3E}">
        <p14:creationId xmlns:p14="http://schemas.microsoft.com/office/powerpoint/2010/main" val="1933392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7207</TotalTime>
  <Words>1612</Words>
  <Application>Microsoft Office PowerPoint</Application>
  <PresentationFormat>On-screen Show (4:3)</PresentationFormat>
  <Paragraphs>189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2_Custom Design</vt:lpstr>
      <vt:lpstr>Docker</vt:lpstr>
      <vt:lpstr>Outline</vt:lpstr>
      <vt:lpstr>Intro to Docker</vt:lpstr>
      <vt:lpstr>What is Docker?</vt:lpstr>
      <vt:lpstr>What is Docker?</vt:lpstr>
      <vt:lpstr>Virtualization – Containers &amp; VMs</vt:lpstr>
      <vt:lpstr>Containers</vt:lpstr>
      <vt:lpstr>Containers</vt:lpstr>
      <vt:lpstr>Containers</vt:lpstr>
      <vt:lpstr>Containers | Benefits</vt:lpstr>
      <vt:lpstr>Virtual Machines</vt:lpstr>
      <vt:lpstr>Containers</vt:lpstr>
      <vt:lpstr>Containers vs Virtual Machines</vt:lpstr>
      <vt:lpstr>Containers vs Virtual Machines</vt:lpstr>
      <vt:lpstr>Docker Architecture</vt:lpstr>
      <vt:lpstr>Docker Architecture</vt:lpstr>
      <vt:lpstr>Docker Architecture</vt:lpstr>
      <vt:lpstr>Docker Architecture</vt:lpstr>
      <vt:lpstr>Docker CLI Client</vt:lpstr>
      <vt:lpstr>Docker Daemon</vt:lpstr>
      <vt:lpstr>Docker Daemon</vt:lpstr>
      <vt:lpstr>Docker Images</vt:lpstr>
      <vt:lpstr>Docker Images</vt:lpstr>
      <vt:lpstr>Docker Images | Example</vt:lpstr>
      <vt:lpstr>Docker Container</vt:lpstr>
      <vt:lpstr>Docker Container | states</vt:lpstr>
      <vt:lpstr>Docker Volumes</vt:lpstr>
      <vt:lpstr>Docker Workflow Overview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Joseph Highe</cp:lastModifiedBy>
  <cp:revision>12</cp:revision>
  <cp:lastPrinted>2016-06-20T20:58:50Z</cp:lastPrinted>
  <dcterms:created xsi:type="dcterms:W3CDTF">2016-11-09T18:19:08Z</dcterms:created>
  <dcterms:modified xsi:type="dcterms:W3CDTF">2026-03-09T17:46:08Z</dcterms:modified>
</cp:coreProperties>
</file>