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90" r:id="rId1"/>
  </p:sldMasterIdLst>
  <p:notesMasterIdLst>
    <p:notesMasterId r:id="rId61"/>
  </p:notesMasterIdLst>
  <p:handoutMasterIdLst>
    <p:handoutMasterId r:id="rId62"/>
  </p:handoutMasterIdLst>
  <p:sldIdLst>
    <p:sldId id="256" r:id="rId2"/>
    <p:sldId id="343" r:id="rId3"/>
    <p:sldId id="357" r:id="rId4"/>
    <p:sldId id="257" r:id="rId5"/>
    <p:sldId id="370" r:id="rId6"/>
    <p:sldId id="359" r:id="rId7"/>
    <p:sldId id="360" r:id="rId8"/>
    <p:sldId id="361" r:id="rId9"/>
    <p:sldId id="378" r:id="rId10"/>
    <p:sldId id="379" r:id="rId11"/>
    <p:sldId id="362" r:id="rId12"/>
    <p:sldId id="380" r:id="rId13"/>
    <p:sldId id="363" r:id="rId14"/>
    <p:sldId id="385" r:id="rId15"/>
    <p:sldId id="364" r:id="rId16"/>
    <p:sldId id="384" r:id="rId17"/>
    <p:sldId id="358" r:id="rId18"/>
    <p:sldId id="371" r:id="rId19"/>
    <p:sldId id="405" r:id="rId20"/>
    <p:sldId id="406" r:id="rId21"/>
    <p:sldId id="403" r:id="rId22"/>
    <p:sldId id="407" r:id="rId23"/>
    <p:sldId id="408" r:id="rId24"/>
    <p:sldId id="366" r:id="rId25"/>
    <p:sldId id="367" r:id="rId26"/>
    <p:sldId id="368" r:id="rId27"/>
    <p:sldId id="369" r:id="rId28"/>
    <p:sldId id="386" r:id="rId29"/>
    <p:sldId id="388" r:id="rId30"/>
    <p:sldId id="387" r:id="rId31"/>
    <p:sldId id="390" r:id="rId32"/>
    <p:sldId id="389" r:id="rId33"/>
    <p:sldId id="396" r:id="rId34"/>
    <p:sldId id="383" r:id="rId35"/>
    <p:sldId id="381" r:id="rId36"/>
    <p:sldId id="382" r:id="rId37"/>
    <p:sldId id="397" r:id="rId38"/>
    <p:sldId id="399" r:id="rId39"/>
    <p:sldId id="398" r:id="rId40"/>
    <p:sldId id="400" r:id="rId41"/>
    <p:sldId id="401" r:id="rId42"/>
    <p:sldId id="402" r:id="rId43"/>
    <p:sldId id="372" r:id="rId44"/>
    <p:sldId id="373" r:id="rId45"/>
    <p:sldId id="391" r:id="rId46"/>
    <p:sldId id="374" r:id="rId47"/>
    <p:sldId id="375" r:id="rId48"/>
    <p:sldId id="392" r:id="rId49"/>
    <p:sldId id="376" r:id="rId50"/>
    <p:sldId id="393" r:id="rId51"/>
    <p:sldId id="395" r:id="rId52"/>
    <p:sldId id="394" r:id="rId53"/>
    <p:sldId id="409" r:id="rId54"/>
    <p:sldId id="410" r:id="rId55"/>
    <p:sldId id="414" r:id="rId56"/>
    <p:sldId id="411" r:id="rId57"/>
    <p:sldId id="415" r:id="rId58"/>
    <p:sldId id="412" r:id="rId59"/>
    <p:sldId id="413" r:id="rId60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 userDrawn="1">
          <p15:clr>
            <a:srgbClr val="A4A3A4"/>
          </p15:clr>
        </p15:guide>
        <p15:guide id="2" pos="2282" userDrawn="1">
          <p15:clr>
            <a:srgbClr val="A4A3A4"/>
          </p15:clr>
        </p15:guide>
        <p15:guide id="3" orient="horz" pos="2928" userDrawn="1">
          <p15:clr>
            <a:srgbClr val="A4A3A4"/>
          </p15:clr>
        </p15:guide>
        <p15:guide id="4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regg" initials="G" lastIdx="13" clrIdx="0"/>
  <p:cmAuthor id="1" name="Tatiana" initials="T" lastIdx="1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C55"/>
    <a:srgbClr val="669A91"/>
    <a:srgbClr val="9171A7"/>
    <a:srgbClr val="CCCC00"/>
    <a:srgbClr val="B07750"/>
    <a:srgbClr val="AC545C"/>
    <a:srgbClr val="33CCCC"/>
    <a:srgbClr val="9966FF"/>
    <a:srgbClr val="616875"/>
    <a:srgbClr val="CFD1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6389" autoAdjust="0"/>
  </p:normalViewPr>
  <p:slideViewPr>
    <p:cSldViewPr snapToGrid="0">
      <p:cViewPr varScale="1">
        <p:scale>
          <a:sx n="95" d="100"/>
          <a:sy n="95" d="100"/>
        </p:scale>
        <p:origin x="2046" y="96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outlineViewPr>
    <p:cViewPr>
      <p:scale>
        <a:sx n="33" d="100"/>
        <a:sy n="33" d="100"/>
      </p:scale>
      <p:origin x="0" y="-890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3504" y="-48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CA869C63-99CE-7C40-A7E9-3930C61B23AB}" type="datetimeFigureOut">
              <a:t>3/10/2026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155B6EDB-6C4A-2346-91D8-76F2620B19F2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52477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E3E59D94-626A-4CE8-9932-5221A04BF234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59" tIns="46579" rIns="93159" bIns="4657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59" tIns="46579" rIns="93159" bIns="4657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043CB7BC-4AFB-4847-AC93-5F4E37C870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9140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Predefined role example: instance admin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CB7BC-4AFB-4847-AC93-5F4E37C870A2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3863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9E155-5DF4-0597-1C70-E305A8504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522272-10CA-11C9-823C-B456E3F8DA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8345DE-858F-2246-C6D1-36D44E6E87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Predefined role example: instance admin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A979C8-41B0-1EC7-D1C3-51E386F63D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CB7BC-4AFB-4847-AC93-5F4E37C870A2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3426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72364-A5FB-30F5-5F02-B674742B6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578963-DBED-13C1-01F4-82F54069FE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721558-7A77-430A-D79E-5AAA88B6AC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Predefined role example: instance admin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82B228-1B09-887A-B8CA-713A70BB43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CB7BC-4AFB-4847-AC93-5F4E37C870A2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1038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E438B-C875-FDF3-9E13-3535776EC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CEEF73-0D05-5BDA-4921-5C3199E53C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9E40DE-9CCA-DDC0-A0F4-DF6B7BB6FB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Predefined role example: instance admin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84E024-DACB-684C-4136-0E7C0F0E4D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CB7BC-4AFB-4847-AC93-5F4E37C870A2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6808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8491E-5685-EF41-DD06-FED6BC5D6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0E1756-30B9-8F1F-B917-3FF02A8295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10D8D3-BB04-99A7-BEB6-6EAAB98298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Predefined role example: instance admin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FA5093-A3B1-ECC1-2CFC-DCA4E452C4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CB7BC-4AFB-4847-AC93-5F4E37C870A2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3956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78AA0-F412-14B1-F0B2-E93018CFB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9BAE7F-933F-924A-9DC6-002726AEB2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71F926-698F-E6DE-1E72-FA41A0D742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Predefined role example: instance admin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EB70CF-812C-4309-A796-61F34264E6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CB7BC-4AFB-4847-AC93-5F4E37C870A2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3240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3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86" b="1379"/>
          <a:stretch/>
        </p:blipFill>
        <p:spPr>
          <a:xfrm flipV="1">
            <a:off x="0" y="0"/>
            <a:ext cx="9144000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99" b="6701"/>
          <a:stretch/>
        </p:blipFill>
        <p:spPr>
          <a:xfrm flipV="1">
            <a:off x="0" y="1740436"/>
            <a:ext cx="9144000" cy="15022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2890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0989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70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01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64444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22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708408" y="153883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351116" y="154035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4708408" y="409915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9"/>
          </p:nvPr>
        </p:nvSpPr>
        <p:spPr>
          <a:xfrm>
            <a:off x="351116" y="410067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52677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Content Placeholder 45"/>
          <p:cNvSpPr>
            <a:spLocks noGrp="1"/>
          </p:cNvSpPr>
          <p:nvPr>
            <p:ph sz="quarter" idx="13"/>
          </p:nvPr>
        </p:nvSpPr>
        <p:spPr>
          <a:xfrm>
            <a:off x="157163" y="133350"/>
            <a:ext cx="8826500" cy="59515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6810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6413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martArt Placeholder 2"/>
          <p:cNvSpPr>
            <a:spLocks noGrp="1"/>
          </p:cNvSpPr>
          <p:nvPr>
            <p:ph type="dgm" sz="quarter" idx="13"/>
          </p:nvPr>
        </p:nvSpPr>
        <p:spPr>
          <a:xfrm>
            <a:off x="133350" y="125413"/>
            <a:ext cx="8850313" cy="6008687"/>
          </a:xfrm>
        </p:spPr>
        <p:txBody>
          <a:bodyPr/>
          <a:lstStyle/>
          <a:p>
            <a:r>
              <a:rPr lang="en-US"/>
              <a:t>Click icon to add SmartArt graphic</a:t>
            </a:r>
          </a:p>
        </p:txBody>
      </p:sp>
    </p:spTree>
    <p:extLst>
      <p:ext uri="{BB962C8B-B14F-4D97-AF65-F5344CB8AC3E}">
        <p14:creationId xmlns:p14="http://schemas.microsoft.com/office/powerpoint/2010/main" val="2998561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6251171"/>
            <a:ext cx="9144000" cy="6068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65" y="6367323"/>
            <a:ext cx="1260213" cy="394766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80010" y="1097280"/>
            <a:ext cx="8383980" cy="491012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251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flipV="1">
            <a:off x="0" y="1219200"/>
            <a:ext cx="9144000" cy="563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38531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119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4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0"/>
          <p:cNvSpPr txBox="1">
            <a:spLocks noGrp="1"/>
          </p:cNvSpPr>
          <p:nvPr>
            <p:ph type="body" idx="1"/>
          </p:nvPr>
        </p:nvSpPr>
        <p:spPr>
          <a:xfrm>
            <a:off x="157163" y="133350"/>
            <a:ext cx="8826500" cy="595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90149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preserve="1" userDrawn="1">
  <p:cSld name="Section_Title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3E5519-BCE2-45F2-2CB8-0E6D0DAEE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664" y="2816925"/>
            <a:ext cx="6222671" cy="1224150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619CA9B-AF8F-87A7-664B-F95C0134414C}"/>
              </a:ext>
            </a:extLst>
          </p:cNvPr>
          <p:cNvGrpSpPr/>
          <p:nvPr userDrawn="1"/>
        </p:nvGrpSpPr>
        <p:grpSpPr>
          <a:xfrm>
            <a:off x="6681759" y="0"/>
            <a:ext cx="2462241" cy="773113"/>
            <a:chOff x="7264458" y="365740"/>
            <a:chExt cx="1553307" cy="487719"/>
          </a:xfrm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2A9D49A4-C029-2001-5A0F-3F2082CAD22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89A9B437-540E-333F-9B54-390C0EE615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645A3999-205C-7640-E332-1C3336AC3C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B55F5EA6-ACB4-F73B-8708-83192579DB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F2B4DF57-055A-A5B3-F9EA-D5A8751833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2D5EF9E0-0962-BE13-EA0D-E37FC7AD86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EB24C6E3-9AC5-E695-8BED-7BE61A5CB6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47756FA6-C29B-BFEB-7653-543BD807F2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38A89EE8-B866-AAED-26C2-BE18B4FBF0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5DB3E0E0-34C3-52AE-7CD3-F1AB984B26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F6622341-E269-B3DE-12CB-68A866A7FB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62B18E42-6F06-C998-AC7F-4559FE8283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9889642E-9A28-1238-56CF-BB1CC02E4B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DB97D7BD-2CAD-CF0D-7625-C390C88021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51BD1B0C-B2D3-C1B8-799E-D42AB3B0AA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403D9FBC-D098-4A6C-D21D-AD6C28E57C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01D3E76D-1730-AFA4-D967-418E4B74EA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23">
              <a:extLst>
                <a:ext uri="{FF2B5EF4-FFF2-40B4-BE49-F238E27FC236}">
                  <a16:creationId xmlns:a16="http://schemas.microsoft.com/office/drawing/2014/main" id="{912810A0-76DC-7E83-8BFC-C1A4F60F8D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13258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/>
          <p:cNvGrpSpPr/>
          <p:nvPr userDrawn="1"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Freeform 6"/>
            <p:cNvSpPr>
              <a:spLocks noEditPoints="1"/>
            </p:cNvSpPr>
            <p:nvPr userDrawn="1"/>
          </p:nvSpPr>
          <p:spPr bwMode="auto">
            <a:xfrm>
              <a:off x="166688" y="-1244600"/>
              <a:ext cx="876300" cy="850900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7"/>
            <p:cNvSpPr>
              <a:spLocks/>
            </p:cNvSpPr>
            <p:nvPr userDrawn="1"/>
          </p:nvSpPr>
          <p:spPr bwMode="auto">
            <a:xfrm>
              <a:off x="1258888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8"/>
            <p:cNvSpPr>
              <a:spLocks/>
            </p:cNvSpPr>
            <p:nvPr userDrawn="1"/>
          </p:nvSpPr>
          <p:spPr bwMode="auto">
            <a:xfrm>
              <a:off x="2219326" y="-1244600"/>
              <a:ext cx="906463" cy="850900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9"/>
            <p:cNvSpPr>
              <a:spLocks noEditPoints="1"/>
            </p:cNvSpPr>
            <p:nvPr userDrawn="1"/>
          </p:nvSpPr>
          <p:spPr bwMode="auto">
            <a:xfrm>
              <a:off x="3125788" y="-1244600"/>
              <a:ext cx="1017588" cy="850900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0"/>
            <p:cNvSpPr>
              <a:spLocks/>
            </p:cNvSpPr>
            <p:nvPr userDrawn="1"/>
          </p:nvSpPr>
          <p:spPr bwMode="auto">
            <a:xfrm>
              <a:off x="4106863" y="-1244600"/>
              <a:ext cx="928688" cy="850900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1"/>
            <p:cNvSpPr>
              <a:spLocks/>
            </p:cNvSpPr>
            <p:nvPr userDrawn="1"/>
          </p:nvSpPr>
          <p:spPr bwMode="auto">
            <a:xfrm>
              <a:off x="5214938" y="-1244600"/>
              <a:ext cx="906463" cy="873125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2"/>
            <p:cNvSpPr>
              <a:spLocks noEditPoints="1"/>
            </p:cNvSpPr>
            <p:nvPr userDrawn="1"/>
          </p:nvSpPr>
          <p:spPr bwMode="auto">
            <a:xfrm>
              <a:off x="6384926" y="-1244600"/>
              <a:ext cx="873125" cy="850900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3"/>
            <p:cNvSpPr>
              <a:spLocks/>
            </p:cNvSpPr>
            <p:nvPr userDrawn="1"/>
          </p:nvSpPr>
          <p:spPr bwMode="auto">
            <a:xfrm>
              <a:off x="7477126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4"/>
            <p:cNvSpPr>
              <a:spLocks/>
            </p:cNvSpPr>
            <p:nvPr userDrawn="1"/>
          </p:nvSpPr>
          <p:spPr bwMode="auto">
            <a:xfrm>
              <a:off x="3233738" y="-1751013"/>
              <a:ext cx="152400" cy="146050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5"/>
            <p:cNvSpPr>
              <a:spLocks/>
            </p:cNvSpPr>
            <p:nvPr userDrawn="1"/>
          </p:nvSpPr>
          <p:spPr bwMode="auto">
            <a:xfrm>
              <a:off x="3719513" y="-2219325"/>
              <a:ext cx="219075" cy="263525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6"/>
            <p:cNvSpPr>
              <a:spLocks/>
            </p:cNvSpPr>
            <p:nvPr userDrawn="1"/>
          </p:nvSpPr>
          <p:spPr bwMode="auto">
            <a:xfrm>
              <a:off x="4289426" y="-2582863"/>
              <a:ext cx="222250" cy="407988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7"/>
            <p:cNvSpPr>
              <a:spLocks/>
            </p:cNvSpPr>
            <p:nvPr userDrawn="1"/>
          </p:nvSpPr>
          <p:spPr bwMode="auto">
            <a:xfrm>
              <a:off x="4910138" y="-2876550"/>
              <a:ext cx="188913" cy="561975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8"/>
            <p:cNvSpPr>
              <a:spLocks/>
            </p:cNvSpPr>
            <p:nvPr userDrawn="1"/>
          </p:nvSpPr>
          <p:spPr bwMode="auto">
            <a:xfrm>
              <a:off x="5541963" y="-3081338"/>
              <a:ext cx="174625" cy="70326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9"/>
            <p:cNvSpPr>
              <a:spLocks/>
            </p:cNvSpPr>
            <p:nvPr userDrawn="1"/>
          </p:nvSpPr>
          <p:spPr bwMode="auto">
            <a:xfrm>
              <a:off x="6140451" y="-3203575"/>
              <a:ext cx="271463" cy="83185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0"/>
            <p:cNvSpPr>
              <a:spLocks/>
            </p:cNvSpPr>
            <p:nvPr userDrawn="1"/>
          </p:nvSpPr>
          <p:spPr bwMode="auto">
            <a:xfrm>
              <a:off x="6724651" y="-3240088"/>
              <a:ext cx="404813" cy="95091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1"/>
            <p:cNvSpPr>
              <a:spLocks/>
            </p:cNvSpPr>
            <p:nvPr userDrawn="1"/>
          </p:nvSpPr>
          <p:spPr bwMode="auto">
            <a:xfrm>
              <a:off x="7299326" y="-3173413"/>
              <a:ext cx="558800" cy="1039813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2"/>
            <p:cNvSpPr>
              <a:spLocks/>
            </p:cNvSpPr>
            <p:nvPr userDrawn="1"/>
          </p:nvSpPr>
          <p:spPr bwMode="auto">
            <a:xfrm>
              <a:off x="7864476" y="-3006725"/>
              <a:ext cx="720725" cy="1103313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23"/>
            <p:cNvSpPr>
              <a:spLocks/>
            </p:cNvSpPr>
            <p:nvPr userDrawn="1"/>
          </p:nvSpPr>
          <p:spPr bwMode="auto">
            <a:xfrm>
              <a:off x="8393113" y="-2740025"/>
              <a:ext cx="909638" cy="1138238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accent2"/>
                </a:solidFill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04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704" r:id="rId3"/>
    <p:sldLayoutId id="2147483705" r:id="rId4"/>
    <p:sldLayoutId id="2147483694" r:id="rId5"/>
    <p:sldLayoutId id="2147483698" r:id="rId6"/>
    <p:sldLayoutId id="2147483699" r:id="rId7"/>
    <p:sldLayoutId id="2147483695" r:id="rId8"/>
    <p:sldLayoutId id="2147483703" r:id="rId9"/>
    <p:sldLayoutId id="2147483701" r:id="rId10"/>
    <p:sldLayoutId id="2147483702" r:id="rId11"/>
    <p:sldLayoutId id="2147483696" r:id="rId12"/>
    <p:sldLayoutId id="2147483697" r:id="rId13"/>
    <p:sldLayoutId id="2147483706" r:id="rId14"/>
    <p:sldLayoutId id="2147483707" r:id="rId15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 spc="1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»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Google Cloud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796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947FC-ED58-14EC-766E-B345CBB21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D0A314-1889-7642-D5E4-583ADD03E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7"/>
            <a:ext cx="8383980" cy="4316452"/>
          </a:xfrm>
        </p:spPr>
        <p:txBody>
          <a:bodyPr numCol="2">
            <a:normAutofit/>
          </a:bodyPr>
          <a:lstStyle/>
          <a:p>
            <a:r>
              <a:rPr lang="en-US" dirty="0"/>
              <a:t>What is GCP?</a:t>
            </a:r>
          </a:p>
          <a:p>
            <a:r>
              <a:rPr lang="en-US" dirty="0"/>
              <a:t>Regions &amp; Zones</a:t>
            </a:r>
          </a:p>
          <a:p>
            <a:r>
              <a:rPr lang="en-US" dirty="0"/>
              <a:t>Service Overview</a:t>
            </a:r>
          </a:p>
          <a:p>
            <a:r>
              <a:rPr lang="en-US" dirty="0"/>
              <a:t>Managed Instance Groups</a:t>
            </a:r>
          </a:p>
          <a:p>
            <a:r>
              <a:rPr lang="en-US" dirty="0"/>
              <a:t>Access Management</a:t>
            </a:r>
          </a:p>
          <a:p>
            <a:r>
              <a:rPr lang="en-US" dirty="0"/>
              <a:t>Firewall Rules</a:t>
            </a:r>
          </a:p>
          <a:p>
            <a:r>
              <a:rPr lang="en-US" dirty="0"/>
              <a:t>Compute Engine</a:t>
            </a:r>
          </a:p>
          <a:p>
            <a:r>
              <a:rPr lang="en-US" dirty="0"/>
              <a:t>VMI</a:t>
            </a:r>
          </a:p>
          <a:p>
            <a:r>
              <a:rPr lang="en-US" dirty="0"/>
              <a:t>App Engine</a:t>
            </a:r>
          </a:p>
          <a:p>
            <a:r>
              <a:rPr lang="en-US" dirty="0"/>
              <a:t>Block Storage</a:t>
            </a:r>
          </a:p>
          <a:p>
            <a:r>
              <a:rPr lang="en-US" dirty="0"/>
              <a:t>Cloud SQL</a:t>
            </a:r>
          </a:p>
          <a:p>
            <a:r>
              <a:rPr lang="en-US" dirty="0"/>
              <a:t>Cloud Storage</a:t>
            </a:r>
          </a:p>
          <a:p>
            <a:r>
              <a:rPr lang="en-US" dirty="0"/>
              <a:t>GCP Run Functions</a:t>
            </a:r>
          </a:p>
          <a:p>
            <a:r>
              <a:rPr lang="en-US" dirty="0"/>
              <a:t>GCP Cloud Monitoring</a:t>
            </a:r>
          </a:p>
          <a:p>
            <a:r>
              <a:rPr lang="en-US" dirty="0"/>
              <a:t>GCP Pub/Sub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DCEA2-50D6-C516-65CC-742821A02E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433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8AAE37-6C44-EFD1-A224-1FC82F61AD6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597E6BDC-DC3A-A131-3C64-1F04AFB6626D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What is GCP?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8E09B7-A980-6E75-DAC8-46C12A489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10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4960CB-D186-B38E-2504-102548F9DA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Google Cloud Platform (GCP) is Google suite of cloud computing services that runs on the same infrastructure google uses internally for products like Gmail, YouTube, and Google Search.</a:t>
            </a:r>
          </a:p>
          <a:p>
            <a:r>
              <a:rPr lang="en-US" dirty="0"/>
              <a:t>Competes with Amazon Web Services and Microsoft Azure</a:t>
            </a:r>
          </a:p>
          <a:p>
            <a:r>
              <a:rPr lang="en-US" dirty="0"/>
              <a:t>Service Models Available:</a:t>
            </a:r>
          </a:p>
          <a:p>
            <a:pPr lvl="1"/>
            <a:r>
              <a:rPr lang="en-US" dirty="0"/>
              <a:t>IaaS</a:t>
            </a:r>
          </a:p>
          <a:p>
            <a:pPr lvl="1"/>
            <a:r>
              <a:rPr lang="en-US" dirty="0"/>
              <a:t>PaaS</a:t>
            </a:r>
          </a:p>
          <a:p>
            <a:pPr lvl="1"/>
            <a:r>
              <a:rPr lang="en-US" dirty="0"/>
              <a:t>SaaS</a:t>
            </a:r>
          </a:p>
          <a:p>
            <a:r>
              <a:rPr lang="en-US" dirty="0"/>
              <a:t>Pay-as-you-go-pricing</a:t>
            </a:r>
          </a:p>
          <a:p>
            <a:r>
              <a:rPr lang="en-US" dirty="0"/>
              <a:t>Global Infrastructure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7A55D41B-BB5D-72F2-BBF2-08AAA2E83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Google Cloud Platform – Intro</a:t>
            </a:r>
          </a:p>
        </p:txBody>
      </p:sp>
    </p:spTree>
    <p:extLst>
      <p:ext uri="{BB962C8B-B14F-4D97-AF65-F5344CB8AC3E}">
        <p14:creationId xmlns:p14="http://schemas.microsoft.com/office/powerpoint/2010/main" val="3975998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313DB-C9A9-0B4C-ED30-11275B072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F0969B-3E43-F0BE-DED2-E2DFBCE7E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1F1F0E-2AF4-E440-EE7A-0B0D99CF10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Network Performance</a:t>
            </a:r>
            <a:r>
              <a:rPr lang="en-US" dirty="0"/>
              <a:t>: Google owns one of the world’s largest networks, providing exceptional speed between regions</a:t>
            </a:r>
          </a:p>
          <a:p>
            <a:r>
              <a:rPr lang="en-US" b="1" dirty="0"/>
              <a:t>Data Analytics</a:t>
            </a:r>
            <a:r>
              <a:rPr lang="en-US" dirty="0"/>
              <a:t>: </a:t>
            </a:r>
            <a:r>
              <a:rPr lang="en-US" dirty="0" err="1"/>
              <a:t>BigQuery</a:t>
            </a:r>
            <a:r>
              <a:rPr lang="en-US" dirty="0"/>
              <a:t> and data processing tools are industry-leading</a:t>
            </a:r>
          </a:p>
          <a:p>
            <a:r>
              <a:rPr lang="en-US" b="1" dirty="0"/>
              <a:t>Machine Learning</a:t>
            </a:r>
            <a:r>
              <a:rPr lang="en-US" dirty="0"/>
              <a:t>: Advanced AI/ML services (Vertex AI, TensorFlow)</a:t>
            </a:r>
          </a:p>
          <a:p>
            <a:r>
              <a:rPr lang="en-US" b="1" dirty="0"/>
              <a:t>Live Migration</a:t>
            </a:r>
            <a:r>
              <a:rPr lang="en-US" dirty="0"/>
              <a:t>: VMs can be migrated between hosts without downtime</a:t>
            </a:r>
          </a:p>
          <a:p>
            <a:r>
              <a:rPr lang="en-US" b="1" dirty="0"/>
              <a:t>Pricing Flexibility</a:t>
            </a:r>
            <a:r>
              <a:rPr lang="en-US" dirty="0"/>
              <a:t>: Per-second billing (not per-hour), automatic sustained-use discounts.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DE34B54-FE77-675E-B6F3-9A5A68D0B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Google Cloud Platform - Advantages</a:t>
            </a:r>
          </a:p>
        </p:txBody>
      </p:sp>
    </p:spTree>
    <p:extLst>
      <p:ext uri="{BB962C8B-B14F-4D97-AF65-F5344CB8AC3E}">
        <p14:creationId xmlns:p14="http://schemas.microsoft.com/office/powerpoint/2010/main" val="160783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53A1A-3A17-9D01-4F3D-5BE53223A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30D9F9-57EC-3779-B726-86DC87589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7D7EAD-DD97-8947-5C45-CC3E16DF88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Projects are the base-level organizing entity in GCP</a:t>
            </a:r>
          </a:p>
          <a:p>
            <a:r>
              <a:rPr lang="en-US" dirty="0"/>
              <a:t>Every resource belongs to exactly one project</a:t>
            </a:r>
          </a:p>
          <a:p>
            <a:r>
              <a:rPr lang="en-US" dirty="0"/>
              <a:t>Each project has:</a:t>
            </a:r>
          </a:p>
          <a:p>
            <a:pPr lvl="1"/>
            <a:r>
              <a:rPr lang="en-US" b="1" dirty="0"/>
              <a:t>Project ID</a:t>
            </a:r>
            <a:r>
              <a:rPr lang="en-US" dirty="0"/>
              <a:t>: Globally unique, immutable identifier</a:t>
            </a:r>
          </a:p>
          <a:p>
            <a:pPr lvl="1"/>
            <a:r>
              <a:rPr lang="en-US" b="1" dirty="0"/>
              <a:t>Project Name</a:t>
            </a:r>
            <a:r>
              <a:rPr lang="en-US" dirty="0"/>
              <a:t>: Human-readable, can be changed</a:t>
            </a:r>
          </a:p>
          <a:p>
            <a:pPr lvl="1"/>
            <a:r>
              <a:rPr lang="en-US" b="1" dirty="0"/>
              <a:t>Project Number</a:t>
            </a:r>
            <a:r>
              <a:rPr lang="en-US" dirty="0"/>
              <a:t>: Auto-generated numeric identifier</a:t>
            </a:r>
          </a:p>
          <a:p>
            <a:r>
              <a:rPr lang="en-US" dirty="0"/>
              <a:t>Billing, quotas, and permissions are managed at the project level</a:t>
            </a:r>
          </a:p>
          <a:p>
            <a:r>
              <a:rPr lang="en-US" dirty="0"/>
              <a:t>Think of projects like isolated workspaces or Maven modules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EC3887C-4A8E-9634-89FF-86747FF88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GCP - Projects</a:t>
            </a:r>
          </a:p>
        </p:txBody>
      </p:sp>
    </p:spTree>
    <p:extLst>
      <p:ext uri="{BB962C8B-B14F-4D97-AF65-F5344CB8AC3E}">
        <p14:creationId xmlns:p14="http://schemas.microsoft.com/office/powerpoint/2010/main" val="677694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E5662-F600-84E3-7179-0D4B69C14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AF838C-5665-2102-03C0-F08666C74F9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B2444AC8-A3C6-EB23-34E7-BFD8D28CE7EE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Regions and Zones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93CD69-FAA8-3D10-A653-CD214A9F1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491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08466-4005-EBED-A623-A25D84C0F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2D574D-C17E-66B5-98BA-AEA69A429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4357BD-30EA-9349-1101-055E9BA17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16051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GCP infrastructure is organized into regions and zones to provide geographic distribution, fault tolerance and lo latency</a:t>
            </a:r>
          </a:p>
          <a:p>
            <a:r>
              <a:rPr lang="en-US" b="1" dirty="0"/>
              <a:t>Regions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Physical geographic locations</a:t>
            </a:r>
          </a:p>
          <a:p>
            <a:pPr lvl="2"/>
            <a:r>
              <a:rPr lang="en-US" dirty="0"/>
              <a:t>ex: us-central1, europe-west1</a:t>
            </a:r>
          </a:p>
          <a:p>
            <a:pPr lvl="1"/>
            <a:r>
              <a:rPr lang="en-US" dirty="0"/>
              <a:t>Each regions is completely independent</a:t>
            </a:r>
          </a:p>
          <a:p>
            <a:pPr lvl="1"/>
            <a:r>
              <a:rPr lang="en-US" dirty="0"/>
              <a:t>Contains 3 or more zones</a:t>
            </a:r>
          </a:p>
          <a:p>
            <a:r>
              <a:rPr lang="en-US" dirty="0"/>
              <a:t>Choose regions based on:</a:t>
            </a:r>
          </a:p>
          <a:p>
            <a:pPr lvl="1"/>
            <a:r>
              <a:rPr lang="en-US" b="1" dirty="0"/>
              <a:t>Latency</a:t>
            </a:r>
            <a:r>
              <a:rPr lang="en-US" dirty="0"/>
              <a:t>: Deployment close to your users</a:t>
            </a:r>
          </a:p>
          <a:p>
            <a:pPr lvl="1"/>
            <a:r>
              <a:rPr lang="en-US" b="1" dirty="0"/>
              <a:t>Cost</a:t>
            </a:r>
            <a:r>
              <a:rPr lang="en-US" dirty="0"/>
              <a:t>: Pricing varies by region</a:t>
            </a:r>
          </a:p>
          <a:p>
            <a:pPr lvl="1"/>
            <a:r>
              <a:rPr lang="en-US" b="1" dirty="0"/>
              <a:t>Compliance</a:t>
            </a:r>
            <a:r>
              <a:rPr lang="en-US" dirty="0"/>
              <a:t>: Data residency requirements</a:t>
            </a:r>
          </a:p>
          <a:p>
            <a:pPr lvl="1"/>
            <a:r>
              <a:rPr lang="en-US" b="1" dirty="0"/>
              <a:t>Service availability</a:t>
            </a:r>
            <a:r>
              <a:rPr lang="en-US" dirty="0"/>
              <a:t>: Service availability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A81487F-FC55-13BF-E083-45933199E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Regions and Zones - Regions</a:t>
            </a:r>
          </a:p>
        </p:txBody>
      </p:sp>
    </p:spTree>
    <p:extLst>
      <p:ext uri="{BB962C8B-B14F-4D97-AF65-F5344CB8AC3E}">
        <p14:creationId xmlns:p14="http://schemas.microsoft.com/office/powerpoint/2010/main" val="2687044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4826E-0626-DC5B-0388-FFA27A786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6BC313-4167-3EEE-22BD-79C8800BE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A9EC64-707E-CFE6-2809-483EAFA0E6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Zones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Isolated locations within a region</a:t>
            </a:r>
          </a:p>
          <a:p>
            <a:pPr lvl="1"/>
            <a:r>
              <a:rPr lang="en-US" dirty="0"/>
              <a:t>Named with region + letter.</a:t>
            </a:r>
          </a:p>
          <a:p>
            <a:pPr lvl="2"/>
            <a:r>
              <a:rPr lang="en-US" dirty="0"/>
              <a:t>Ex: us-central1-a, us-central1-b</a:t>
            </a:r>
          </a:p>
          <a:p>
            <a:pPr lvl="1"/>
            <a:r>
              <a:rPr lang="en-US" dirty="0"/>
              <a:t>Each zone runs on independent power, cooling and networking</a:t>
            </a:r>
          </a:p>
          <a:p>
            <a:pPr lvl="1"/>
            <a:r>
              <a:rPr lang="en-US" dirty="0"/>
              <a:t>Failure Domain: a zone failure doesn’t affect other zones</a:t>
            </a:r>
          </a:p>
          <a:p>
            <a:pPr lvl="1"/>
            <a:r>
              <a:rPr lang="en-US" dirty="0"/>
              <a:t>Designed to protect against datacenter-level failures</a:t>
            </a:r>
          </a:p>
          <a:p>
            <a:pPr lvl="1"/>
            <a:r>
              <a:rPr lang="en-US" dirty="0"/>
              <a:t>Resources in the same zone have lowest latency between them</a:t>
            </a:r>
          </a:p>
          <a:p>
            <a:pPr lvl="1"/>
            <a:r>
              <a:rPr lang="en-US" dirty="0"/>
              <a:t>Zones contain the physical infrastructure that runs services such as Compute Engine and GKE</a:t>
            </a:r>
          </a:p>
          <a:p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EF02D62-4AC1-80B4-26FD-2D2651ABD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Regions and Zones - Zones</a:t>
            </a:r>
          </a:p>
        </p:txBody>
      </p:sp>
    </p:spTree>
    <p:extLst>
      <p:ext uri="{BB962C8B-B14F-4D97-AF65-F5344CB8AC3E}">
        <p14:creationId xmlns:p14="http://schemas.microsoft.com/office/powerpoint/2010/main" val="2969079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180F0-9EE2-6E0A-6C0B-6327F4FB4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5BB07E-CCB7-D2EA-1853-A63D8E40F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670EF4-3C57-B50A-D9FA-974BBF8E4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Multi-Zone</a:t>
            </a:r>
          </a:p>
          <a:p>
            <a:pPr lvl="1"/>
            <a:r>
              <a:rPr lang="en-US" dirty="0"/>
              <a:t>Running your application in more than one zone (usually in the same region)</a:t>
            </a:r>
          </a:p>
          <a:p>
            <a:pPr lvl="2"/>
            <a:r>
              <a:rPr lang="en-US" dirty="0"/>
              <a:t>Ex: us-central1-a and us-central1-b</a:t>
            </a:r>
          </a:p>
          <a:p>
            <a:pPr lvl="1"/>
            <a:r>
              <a:rPr lang="en-US" dirty="0"/>
              <a:t>If one zone goes down, your other zone(s) can still serve users</a:t>
            </a:r>
          </a:p>
          <a:p>
            <a:pPr lvl="1"/>
            <a:r>
              <a:rPr lang="en-US" dirty="0"/>
              <a:t>Cheaper, lower latency, but more vulnerable</a:t>
            </a:r>
          </a:p>
          <a:p>
            <a:r>
              <a:rPr lang="en-US" b="1" dirty="0"/>
              <a:t>Multi-Region</a:t>
            </a:r>
          </a:p>
          <a:p>
            <a:pPr lvl="1"/>
            <a:r>
              <a:rPr lang="en-US" dirty="0"/>
              <a:t>Running your application in more than one region</a:t>
            </a:r>
          </a:p>
          <a:p>
            <a:pPr lvl="2"/>
            <a:r>
              <a:rPr lang="en-US" dirty="0"/>
              <a:t>Ex: us-central1 and us-east1</a:t>
            </a:r>
          </a:p>
          <a:p>
            <a:pPr lvl="1"/>
            <a:r>
              <a:rPr lang="en-US" dirty="0"/>
              <a:t>If an entire region goes down (natural disaster, major networking issues, etc…), your application can still server users (albeit with some latency)</a:t>
            </a:r>
          </a:p>
          <a:p>
            <a:pPr lvl="1"/>
            <a:r>
              <a:rPr lang="en-US" dirty="0"/>
              <a:t>More expensive, higher latency, but more resilient</a:t>
            </a:r>
          </a:p>
          <a:p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5B74B9B-8859-9812-01B3-00E7D0DCF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Regions and Zones – Architecture</a:t>
            </a:r>
          </a:p>
        </p:txBody>
      </p:sp>
    </p:spTree>
    <p:extLst>
      <p:ext uri="{BB962C8B-B14F-4D97-AF65-F5344CB8AC3E}">
        <p14:creationId xmlns:p14="http://schemas.microsoft.com/office/powerpoint/2010/main" val="1293992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82ECB-6764-B936-CE10-89A374C94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D22FD2-3BB5-8ECA-1B8C-CE14C0ED2D3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0749B60E-ABE0-42C8-6D6D-A9ECF7EF3CD9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Service Overview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33DAB8-79D5-7BE0-AF26-437771C3E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865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DB701-B2B2-EF7A-F53D-0460DB877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8A767F-9A8D-A6AE-6DE6-36641D4C0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B5DC67-40D2-14C1-06BA-8C1874F77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 cloud computing, what you might be used to thinking of as software and hardware products become services.</a:t>
            </a:r>
          </a:p>
          <a:p>
            <a:r>
              <a:rPr lang="en-US" dirty="0"/>
              <a:t>These services provide access to the underlying resources.</a:t>
            </a:r>
          </a:p>
          <a:p>
            <a:r>
              <a:rPr lang="en-US" dirty="0"/>
              <a:t>The list of available Google Cloud services is long, and it keeps growing.</a:t>
            </a:r>
          </a:p>
          <a:p>
            <a:r>
              <a:rPr lang="en-US" dirty="0"/>
              <a:t>When you develop your website or web app on Google Cloud, you mix and match these services into combinations that provide the infrastructure you need; and, then add your code to enable the scenarios you want to build.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9E0F7DC-81B5-E9F6-BC28-A72ADEA59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Resources through services</a:t>
            </a:r>
          </a:p>
        </p:txBody>
      </p:sp>
    </p:spTree>
    <p:extLst>
      <p:ext uri="{BB962C8B-B14F-4D97-AF65-F5344CB8AC3E}">
        <p14:creationId xmlns:p14="http://schemas.microsoft.com/office/powerpoint/2010/main" val="4062952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D85F5-8D20-24CB-DA02-F4DEFDC07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676614-E13C-B02B-A2A7-2A664F9EE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84B311-ACD3-2B97-A8F8-477105510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380962"/>
            <a:ext cx="8383980" cy="1191555"/>
          </a:xfrm>
        </p:spPr>
        <p:txBody>
          <a:bodyPr>
            <a:normAutofit/>
          </a:bodyPr>
          <a:lstStyle/>
          <a:p>
            <a:r>
              <a:rPr lang="en-US" dirty="0"/>
              <a:t>GCP offers 100+ services across various categories. Some key services include: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6B1654D-4383-4DFE-60BF-3110FA434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GCP Services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FA907F3-721F-2DDB-9F2E-55074BBA82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5307872"/>
              </p:ext>
            </p:extLst>
          </p:nvPr>
        </p:nvGraphicFramePr>
        <p:xfrm>
          <a:off x="269791" y="2365164"/>
          <a:ext cx="8604418" cy="43636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9356">
                  <a:extLst>
                    <a:ext uri="{9D8B030D-6E8A-4147-A177-3AD203B41FA5}">
                      <a16:colId xmlns:a16="http://schemas.microsoft.com/office/drawing/2014/main" val="2966589421"/>
                    </a:ext>
                  </a:extLst>
                </a:gridCol>
                <a:gridCol w="4895062">
                  <a:extLst>
                    <a:ext uri="{9D8B030D-6E8A-4147-A177-3AD203B41FA5}">
                      <a16:colId xmlns:a16="http://schemas.microsoft.com/office/drawing/2014/main" val="46758053"/>
                    </a:ext>
                  </a:extLst>
                </a:gridCol>
              </a:tblGrid>
              <a:tr h="381698">
                <a:tc>
                  <a:txBody>
                    <a:bodyPr/>
                    <a:lstStyle/>
                    <a:p>
                      <a:r>
                        <a:rPr lang="en-US" dirty="0"/>
                        <a:t>Service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Services (Examples)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0434073"/>
                  </a:ext>
                </a:extLst>
              </a:tr>
              <a:tr h="796395">
                <a:tc>
                  <a:txBody>
                    <a:bodyPr/>
                    <a:lstStyle/>
                    <a:p>
                      <a:r>
                        <a:rPr lang="en-US" dirty="0"/>
                        <a:t>Compute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-Compute Engine</a:t>
                      </a:r>
                    </a:p>
                    <a:p>
                      <a:r>
                        <a:rPr lang="en-US" dirty="0"/>
                        <a:t>-Google Kubernetes Engine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2647533"/>
                  </a:ext>
                </a:extLst>
              </a:tr>
              <a:tr h="796395">
                <a:tc>
                  <a:txBody>
                    <a:bodyPr/>
                    <a:lstStyle/>
                    <a:p>
                      <a:r>
                        <a:rPr lang="en-US" dirty="0"/>
                        <a:t>Storage &amp; Databases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-Cloud Storage</a:t>
                      </a:r>
                    </a:p>
                    <a:p>
                      <a:r>
                        <a:rPr lang="en-US" dirty="0"/>
                        <a:t>-Cloud SQL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1383337"/>
                  </a:ext>
                </a:extLst>
              </a:tr>
              <a:tr h="796395">
                <a:tc>
                  <a:txBody>
                    <a:bodyPr/>
                    <a:lstStyle/>
                    <a:p>
                      <a:r>
                        <a:rPr lang="en-US" dirty="0"/>
                        <a:t>Networking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-Virtual Private Cloud</a:t>
                      </a:r>
                    </a:p>
                    <a:p>
                      <a:r>
                        <a:rPr lang="en-US" dirty="0"/>
                        <a:t>-Cloud Load Balancing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5615570"/>
                  </a:ext>
                </a:extLst>
              </a:tr>
              <a:tr h="796395">
                <a:tc>
                  <a:txBody>
                    <a:bodyPr/>
                    <a:lstStyle/>
                    <a:p>
                      <a:r>
                        <a:rPr lang="en-US" dirty="0"/>
                        <a:t>Big Data &amp; Analytics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r>
                        <a:rPr lang="en-US" dirty="0" err="1"/>
                        <a:t>BigQuery</a:t>
                      </a:r>
                      <a:endParaRPr lang="en-US" dirty="0"/>
                    </a:p>
                    <a:p>
                      <a:r>
                        <a:rPr lang="en-US" dirty="0"/>
                        <a:t>-Pub/Sub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0737280"/>
                  </a:ext>
                </a:extLst>
              </a:tr>
              <a:tr h="796395">
                <a:tc>
                  <a:txBody>
                    <a:bodyPr/>
                    <a:lstStyle/>
                    <a:p>
                      <a:r>
                        <a:rPr lang="en-US" dirty="0"/>
                        <a:t>Management &amp; 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-Cloud Monitoring</a:t>
                      </a:r>
                    </a:p>
                    <a:p>
                      <a:r>
                        <a:rPr lang="en-US" dirty="0"/>
                        <a:t>-Cloud Logging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34629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65314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2C2EF-7E6A-29F0-02DB-8BBE8388F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D5439B-9DF7-D755-F933-545C68F29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379F9E-CAA9-64C8-5302-DF033FC2B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/>
          </a:bodyPr>
          <a:lstStyle/>
          <a:p>
            <a:r>
              <a:rPr lang="en-US" dirty="0"/>
              <a:t>Google Cloud console (Web UI)</a:t>
            </a:r>
          </a:p>
          <a:p>
            <a:pPr lvl="1"/>
            <a:r>
              <a:rPr lang="en-US" dirty="0"/>
              <a:t>Browser-based dashboard where you can click through menus to create, configure and manage GCP resources</a:t>
            </a:r>
          </a:p>
          <a:p>
            <a:r>
              <a:rPr lang="en-US" dirty="0"/>
              <a:t>Command-Line interface</a:t>
            </a:r>
          </a:p>
          <a:p>
            <a:pPr lvl="1"/>
            <a:r>
              <a:rPr lang="en-US" dirty="0"/>
              <a:t>Using terminal commands (such as </a:t>
            </a:r>
            <a:r>
              <a:rPr lang="en-US" dirty="0" err="1"/>
              <a:t>gcloud</a:t>
            </a:r>
            <a:r>
              <a:rPr lang="en-US" dirty="0"/>
              <a:t> tool) to manage GCP resources from your Computer</a:t>
            </a:r>
          </a:p>
          <a:p>
            <a:r>
              <a:rPr lang="en-US" dirty="0"/>
              <a:t>Client libraries</a:t>
            </a:r>
          </a:p>
          <a:p>
            <a:pPr lvl="1"/>
            <a:r>
              <a:rPr lang="en-US" dirty="0"/>
              <a:t>Programming libraries (Java, Python, Node.js) that let your application code directly call GCP services through APIs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9DC4AC3-F64A-D7B7-603B-9530B19F3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Interacting with Services</a:t>
            </a:r>
          </a:p>
        </p:txBody>
      </p:sp>
    </p:spTree>
    <p:extLst>
      <p:ext uri="{BB962C8B-B14F-4D97-AF65-F5344CB8AC3E}">
        <p14:creationId xmlns:p14="http://schemas.microsoft.com/office/powerpoint/2010/main" val="4051013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195D3-173A-4F60-D22F-AB79DB8BD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9A19F9-DABD-B243-493E-D0DC5779010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C5E7ADAF-DCBF-FB64-04CB-0ECE9CE32423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Autoscaled</a:t>
            </a: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Managed Instance Groups (MIGs)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AFBC65-C3B2-00CA-229A-F9BA5B3F3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4808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4A45D-8D1C-96C9-F0C5-4BB978CDD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9EB56B-2BE2-12A6-07C9-D455DBB28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8BCC89-F6FF-44D9-127C-63DB9E3DA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Managed Instance Groups (MIGs) allow you to operate and manage multiple, identical Virtual Machines (VMs) as a single entity.</a:t>
            </a:r>
          </a:p>
          <a:p>
            <a:r>
              <a:rPr lang="en-US" dirty="0"/>
              <a:t>They provide:</a:t>
            </a:r>
          </a:p>
          <a:p>
            <a:pPr lvl="1"/>
            <a:r>
              <a:rPr lang="en-US" dirty="0"/>
              <a:t>Automatic repairing failed VMs</a:t>
            </a:r>
          </a:p>
          <a:p>
            <a:pPr lvl="1"/>
            <a:r>
              <a:rPr lang="en-US" dirty="0"/>
              <a:t>Regional (multi-zone) deployment</a:t>
            </a:r>
          </a:p>
          <a:p>
            <a:pPr lvl="1"/>
            <a:r>
              <a:rPr lang="en-US" dirty="0"/>
              <a:t>Load Balancing</a:t>
            </a:r>
          </a:p>
          <a:p>
            <a:pPr lvl="1"/>
            <a:r>
              <a:rPr lang="en-US" dirty="0"/>
              <a:t>Automated Updates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88FB735-FD1E-35F5-102F-F3EF8AA71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Managed Instance Groups</a:t>
            </a:r>
          </a:p>
        </p:txBody>
      </p:sp>
    </p:spTree>
    <p:extLst>
      <p:ext uri="{BB962C8B-B14F-4D97-AF65-F5344CB8AC3E}">
        <p14:creationId xmlns:p14="http://schemas.microsoft.com/office/powerpoint/2010/main" val="3747009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C49D3-53C8-2814-9A35-0F075CD97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79DAFA-2345-57BD-0E71-9A0E987EC5F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B698C603-C476-CEB0-697C-1B37AD6F3629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Access Management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C9C03B-F607-1FD9-2C3E-A20B797B4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8677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82843-AB88-D7D5-CB75-A8D2DEAFD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75237D-1FD7-D7D0-DFFB-EBA9A2C50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3DB241-84E8-BE1D-5CED-E2EFA9AC5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366576"/>
            <a:ext cx="8383980" cy="5362261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Identity and Access Management (IAM)</a:t>
            </a:r>
          </a:p>
          <a:p>
            <a:r>
              <a:rPr lang="en-US" dirty="0"/>
              <a:t>IAM involves 3 components, which essentially answer </a:t>
            </a:r>
            <a:r>
              <a:rPr lang="en-US" i="1" dirty="0"/>
              <a:t>who </a:t>
            </a:r>
            <a:r>
              <a:rPr lang="en-US" dirty="0"/>
              <a:t>can access </a:t>
            </a:r>
            <a:r>
              <a:rPr lang="en-US" i="1" dirty="0"/>
              <a:t>what</a:t>
            </a:r>
            <a:r>
              <a:rPr lang="en-US" dirty="0"/>
              <a:t> resources </a:t>
            </a:r>
            <a:r>
              <a:rPr lang="en-US" i="1" dirty="0"/>
              <a:t>where</a:t>
            </a:r>
            <a:r>
              <a:rPr lang="en-US" dirty="0"/>
              <a:t>:</a:t>
            </a:r>
          </a:p>
          <a:p>
            <a:r>
              <a:rPr lang="en-US" dirty="0"/>
              <a:t>[WHO] - Principles</a:t>
            </a:r>
          </a:p>
          <a:p>
            <a:pPr lvl="1"/>
            <a:r>
              <a:rPr lang="en-US" dirty="0"/>
              <a:t>Users (you)</a:t>
            </a:r>
          </a:p>
          <a:p>
            <a:pPr lvl="1"/>
            <a:r>
              <a:rPr lang="en-US" dirty="0"/>
              <a:t>Groups</a:t>
            </a:r>
          </a:p>
          <a:p>
            <a:pPr lvl="1"/>
            <a:r>
              <a:rPr lang="en-US" dirty="0"/>
              <a:t>service accounts (identify for apps)</a:t>
            </a:r>
          </a:p>
          <a:p>
            <a:pPr lvl="1"/>
            <a:r>
              <a:rPr lang="en-US" dirty="0"/>
              <a:t>domains</a:t>
            </a:r>
          </a:p>
          <a:p>
            <a:r>
              <a:rPr lang="en-US" dirty="0"/>
              <a:t>[WHAT] - Roles: Collections of permissions</a:t>
            </a:r>
          </a:p>
          <a:p>
            <a:pPr lvl="1"/>
            <a:r>
              <a:rPr lang="en-US" dirty="0"/>
              <a:t>Basic Roles: </a:t>
            </a:r>
          </a:p>
          <a:p>
            <a:pPr lvl="2"/>
            <a:r>
              <a:rPr lang="en-US" dirty="0"/>
              <a:t>Viewer (read-only), Editor (modify many things), Owner (full control)</a:t>
            </a:r>
          </a:p>
          <a:p>
            <a:pPr lvl="1"/>
            <a:r>
              <a:rPr lang="en-US" dirty="0"/>
              <a:t>Predefined Roles (pre-determined by google)</a:t>
            </a:r>
          </a:p>
          <a:p>
            <a:pPr lvl="1"/>
            <a:r>
              <a:rPr lang="en-US" dirty="0"/>
              <a:t>Custom Roles (specific permissions)</a:t>
            </a:r>
          </a:p>
          <a:p>
            <a:r>
              <a:rPr lang="en-US" dirty="0"/>
              <a:t>[WHERE] - Resources: The Google Cloud Resources you want to let the principle access</a:t>
            </a:r>
          </a:p>
          <a:p>
            <a:pPr lvl="1"/>
            <a:r>
              <a:rPr lang="en-US" dirty="0"/>
              <a:t>Most Google Cloud Services have their own resources (for instance Compute Engine has resources like ‘instances’)</a:t>
            </a:r>
          </a:p>
          <a:p>
            <a:pPr lvl="1"/>
            <a:r>
              <a:rPr lang="en-US" dirty="0"/>
              <a:t>You grant roles on a resource</a:t>
            </a:r>
          </a:p>
          <a:p>
            <a:pPr lvl="1"/>
            <a:r>
              <a:rPr lang="en-US" dirty="0"/>
              <a:t>Granting a principle a role means that the principle can use the permissions in that role to access the resource.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D374DE34-845D-5127-5144-DD39D8EFD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Management | IAM</a:t>
            </a:r>
          </a:p>
        </p:txBody>
      </p:sp>
    </p:spTree>
    <p:extLst>
      <p:ext uri="{BB962C8B-B14F-4D97-AF65-F5344CB8AC3E}">
        <p14:creationId xmlns:p14="http://schemas.microsoft.com/office/powerpoint/2010/main" val="361845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3C71C-0A62-4FE2-6B44-C9655ED93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454D8-BF7E-09C1-9AF4-B025F15AF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D37C77-4FB3-D07B-D323-B050BFFA4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366576"/>
            <a:ext cx="8383980" cy="5362261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You grant roles to principles using </a:t>
            </a:r>
            <a:r>
              <a:rPr lang="en-US" i="1" dirty="0"/>
              <a:t>allow policies</a:t>
            </a:r>
          </a:p>
          <a:p>
            <a:r>
              <a:rPr lang="en-US" dirty="0"/>
              <a:t>An allow policy is a YAML or JSON object that is attached to a Google Cloud resource.</a:t>
            </a:r>
          </a:p>
          <a:p>
            <a:r>
              <a:rPr lang="en-US" dirty="0"/>
              <a:t>Each policy contains a list of </a:t>
            </a:r>
            <a:r>
              <a:rPr lang="en-US" i="1" dirty="0"/>
              <a:t>role bindings</a:t>
            </a:r>
            <a:r>
              <a:rPr lang="en-US" dirty="0"/>
              <a:t> that associate IAM roles with the principles who are grated those roles.</a:t>
            </a:r>
          </a:p>
          <a:p>
            <a:r>
              <a:rPr lang="en-US" dirty="0"/>
              <a:t>When an authenticated principle attempts to access a resource, IAM checks the resource’s allow policy to determine whether the principles has the required permissions</a:t>
            </a:r>
          </a:p>
          <a:p>
            <a:r>
              <a:rPr lang="en-US" dirty="0"/>
              <a:t>If the principle is in a role binding that includes a role with the required permissions, they are allowed access.</a:t>
            </a:r>
          </a:p>
          <a:p>
            <a:r>
              <a:rPr lang="en-US" dirty="0"/>
              <a:t>Note: There are also ‘Deny Policies’ which prevent principles from using certain permissions, even if they’re granted a role with that permission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E6A105A-F14A-6285-10C7-AB12AF085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Management | IAM Policies</a:t>
            </a:r>
          </a:p>
        </p:txBody>
      </p:sp>
    </p:spTree>
    <p:extLst>
      <p:ext uri="{BB962C8B-B14F-4D97-AF65-F5344CB8AC3E}">
        <p14:creationId xmlns:p14="http://schemas.microsoft.com/office/powerpoint/2010/main" val="234458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86D7F-B210-78D3-7070-EBDA9E0B2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8B1B9F-2D21-27FC-4078-D79CB22DF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DBF6BA-7C03-1AE7-1CC1-DA64881BD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366577"/>
            <a:ext cx="4021168" cy="5312564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Google cloud has container resources – such as projects, folders, and organizations, which allow you to organize resources in a </a:t>
            </a:r>
            <a:r>
              <a:rPr lang="en-US" i="1" dirty="0"/>
              <a:t>resource hierarchy</a:t>
            </a:r>
            <a:r>
              <a:rPr lang="en-US" dirty="0"/>
              <a:t>.</a:t>
            </a:r>
          </a:p>
          <a:p>
            <a:r>
              <a:rPr lang="en-US" dirty="0"/>
              <a:t>The hierarchy is shown in this image (Org &gt; Folders &gt; Projects &gt; Resources)</a:t>
            </a:r>
          </a:p>
          <a:p>
            <a:r>
              <a:rPr lang="en-US" dirty="0"/>
              <a:t>If you set an allow policy on a container resource, then the policy also applies to all resources in that container.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EEAEB2D-1590-DA07-3228-E67AAC3B8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Management | Policy Inheritance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08F298-B175-C86B-F473-69CD2970D6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91424"/>
            <a:ext cx="4419569" cy="531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341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BE5BD-9BAF-DD0D-31E1-1B97AB47F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4487EC-5AC1-AA28-03A1-29F6512BE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84EC04-3E80-496B-CCE5-283A3EB6F6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/>
          </a:bodyPr>
          <a:lstStyle/>
          <a:p>
            <a:r>
              <a:rPr lang="en-US" dirty="0"/>
              <a:t>Access Context Manager (ACM) is a security service that enables ‘Attribute-Based Access Control (ABAC).</a:t>
            </a:r>
          </a:p>
          <a:p>
            <a:r>
              <a:rPr lang="en-US" dirty="0"/>
              <a:t>Adds contextual conditions to IAM permissions, for instance: access based on device IP or user identity, rather than permissions for the entire network </a:t>
            </a:r>
          </a:p>
          <a:p>
            <a:r>
              <a:rPr lang="en-US" dirty="0"/>
              <a:t>Allows organizations to define access levels and service perimeters to enforce Zero Trust policies across GCP resources.</a:t>
            </a:r>
          </a:p>
          <a:p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869DC1E-F9DE-683F-A7F3-6000651FA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Management | ACM</a:t>
            </a:r>
          </a:p>
        </p:txBody>
      </p:sp>
    </p:spTree>
    <p:extLst>
      <p:ext uri="{BB962C8B-B14F-4D97-AF65-F5344CB8AC3E}">
        <p14:creationId xmlns:p14="http://schemas.microsoft.com/office/powerpoint/2010/main" val="1051788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4A1BF-729B-76FE-F347-50F1E2D6E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A5BBF-578D-A122-1308-501F0661F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EAFEEE-D6FD-CC3E-A55D-2FD2FE572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Key Components of ACM are:</a:t>
            </a:r>
          </a:p>
          <a:p>
            <a:pPr lvl="1"/>
            <a:r>
              <a:rPr lang="en-US" dirty="0"/>
              <a:t>Access Policies</a:t>
            </a:r>
          </a:p>
          <a:p>
            <a:pPr lvl="2"/>
            <a:r>
              <a:rPr lang="en-US" dirty="0"/>
              <a:t>Organization-wide container for:</a:t>
            </a:r>
          </a:p>
          <a:p>
            <a:pPr lvl="3"/>
            <a:r>
              <a:rPr lang="en-US" dirty="0"/>
              <a:t>Access Levels</a:t>
            </a:r>
          </a:p>
          <a:p>
            <a:pPr lvl="3"/>
            <a:r>
              <a:rPr lang="en-US" dirty="0"/>
              <a:t>Service Perimeters (sandboxes of resources that can exchange data freely within a perimeter)</a:t>
            </a:r>
          </a:p>
          <a:p>
            <a:pPr lvl="2"/>
            <a:r>
              <a:rPr lang="en-US" dirty="0"/>
              <a:t>Supports:</a:t>
            </a:r>
          </a:p>
          <a:p>
            <a:pPr lvl="3"/>
            <a:r>
              <a:rPr lang="en-US" dirty="0"/>
              <a:t>Organization-level policies</a:t>
            </a:r>
          </a:p>
          <a:p>
            <a:pPr lvl="3"/>
            <a:r>
              <a:rPr lang="en-US" dirty="0"/>
              <a:t>Scopes (delegated) policies at folder/project level</a:t>
            </a:r>
          </a:p>
          <a:p>
            <a:pPr lvl="2"/>
            <a:r>
              <a:rPr lang="en-US" dirty="0"/>
              <a:t>Uses ‘</a:t>
            </a:r>
            <a:r>
              <a:rPr lang="en-US" dirty="0" err="1"/>
              <a:t>etag</a:t>
            </a:r>
            <a:r>
              <a:rPr lang="en-US" dirty="0"/>
              <a:t>’ versioning to prevent policy-overwrite conflicts</a:t>
            </a:r>
          </a:p>
          <a:p>
            <a:pPr lvl="1"/>
            <a:r>
              <a:rPr lang="en-US" dirty="0"/>
              <a:t>Access Levels</a:t>
            </a:r>
          </a:p>
          <a:p>
            <a:pPr lvl="2"/>
            <a:r>
              <a:rPr lang="en-US" dirty="0"/>
              <a:t>Used to define trust tiers and decide whether a request is allowed</a:t>
            </a:r>
          </a:p>
          <a:p>
            <a:pPr lvl="2"/>
            <a:r>
              <a:rPr lang="en-US" dirty="0"/>
              <a:t>Two Types: Basic Access Level &amp; Custom Access Level</a:t>
            </a:r>
          </a:p>
          <a:p>
            <a:pPr lvl="2"/>
            <a:r>
              <a:rPr lang="en-US" dirty="0"/>
              <a:t>Basic Access Level</a:t>
            </a:r>
          </a:p>
          <a:p>
            <a:pPr lvl="3"/>
            <a:r>
              <a:rPr lang="en-US" dirty="0"/>
              <a:t>Based on predefined request attributes (IP address, device characteristics, user identity)</a:t>
            </a:r>
          </a:p>
          <a:p>
            <a:pPr lvl="3"/>
            <a:r>
              <a:rPr lang="en-US" dirty="0"/>
              <a:t>Conditions combined via AND (all conditions true) or NOR (no conditions true)</a:t>
            </a:r>
          </a:p>
          <a:p>
            <a:pPr lvl="2"/>
            <a:r>
              <a:rPr lang="en-US" dirty="0"/>
              <a:t>Custom Access Levels</a:t>
            </a:r>
          </a:p>
          <a:p>
            <a:pPr lvl="3"/>
            <a:r>
              <a:rPr lang="en-US" dirty="0"/>
              <a:t>Use a subset of CEL (Common Expression Language)</a:t>
            </a:r>
          </a:p>
          <a:p>
            <a:pPr lvl="3"/>
            <a:r>
              <a:rPr lang="en-US" dirty="0"/>
              <a:t>More flexible, can incorporate third-party data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F713FC4-D155-8BC0-96B4-30AD2C445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Management | ACM Components</a:t>
            </a:r>
          </a:p>
        </p:txBody>
      </p:sp>
    </p:spTree>
    <p:extLst>
      <p:ext uri="{BB962C8B-B14F-4D97-AF65-F5344CB8AC3E}">
        <p14:creationId xmlns:p14="http://schemas.microsoft.com/office/powerpoint/2010/main" val="3061292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3E3DD-EDFF-02F2-3896-FB81DF263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393BA-75D4-035F-B239-1ED059A2D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3910CB-783C-B163-C843-60FF4E4E8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/>
          </a:bodyPr>
          <a:lstStyle/>
          <a:p>
            <a:r>
              <a:rPr lang="en-US" dirty="0"/>
              <a:t>Traditional perimeter security (ex: firewalls) are ineffective for:</a:t>
            </a:r>
          </a:p>
          <a:p>
            <a:pPr lvl="1"/>
            <a:r>
              <a:rPr lang="en-US" dirty="0"/>
              <a:t>Mobile workforces</a:t>
            </a:r>
          </a:p>
          <a:p>
            <a:pPr lvl="1"/>
            <a:r>
              <a:rPr lang="en-US" dirty="0"/>
              <a:t>Bring-your-own-devices</a:t>
            </a:r>
          </a:p>
          <a:p>
            <a:pPr lvl="1"/>
            <a:r>
              <a:rPr lang="en-US" dirty="0"/>
              <a:t>Cloud-native environments</a:t>
            </a:r>
          </a:p>
          <a:p>
            <a:r>
              <a:rPr lang="en-US" dirty="0"/>
              <a:t>ACM supports a </a:t>
            </a:r>
            <a:r>
              <a:rPr lang="en-US" b="1" dirty="0" err="1"/>
              <a:t>BeyondCorp</a:t>
            </a:r>
            <a:r>
              <a:rPr lang="en-US" dirty="0"/>
              <a:t> model</a:t>
            </a:r>
          </a:p>
          <a:p>
            <a:pPr lvl="1"/>
            <a:r>
              <a:rPr lang="en-US" dirty="0" err="1"/>
              <a:t>BeyondCorp</a:t>
            </a:r>
            <a:r>
              <a:rPr lang="en-US" dirty="0"/>
              <a:t> is Google’s implementation of the Zero Trust Model.</a:t>
            </a:r>
          </a:p>
          <a:p>
            <a:pPr lvl="1"/>
            <a:r>
              <a:rPr lang="en-US" dirty="0"/>
              <a:t>Access depends on </a:t>
            </a:r>
            <a:r>
              <a:rPr lang="en-US" i="1" dirty="0"/>
              <a:t>context</a:t>
            </a:r>
            <a:r>
              <a:rPr lang="en-US" dirty="0"/>
              <a:t>, not the network alone</a:t>
            </a:r>
          </a:p>
          <a:p>
            <a:pPr lvl="1"/>
            <a:r>
              <a:rPr lang="en-US" dirty="0"/>
              <a:t>Reduces privileged network exposure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ACF0B19-7847-BF57-5E7F-2BDF084DD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Management | ACM Benefits</a:t>
            </a:r>
          </a:p>
        </p:txBody>
      </p:sp>
    </p:spTree>
    <p:extLst>
      <p:ext uri="{BB962C8B-B14F-4D97-AF65-F5344CB8AC3E}">
        <p14:creationId xmlns:p14="http://schemas.microsoft.com/office/powerpoint/2010/main" val="3598973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7329F-4469-C32F-7001-355033F88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DF47B7-1C62-D86E-7E66-337DD63D815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23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FCB612A2-FC7B-6678-CF56-508379794547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Firewall Rules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7E6658-BAEF-5870-47E9-15A6CD491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311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1C3BE-B92D-D04C-1A05-D42246FCA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CD12EF-DB34-1953-19E1-4FD867615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5B6B9C-A63A-ED86-754E-A83D5AA2C9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341664"/>
            <a:ext cx="8383980" cy="5509637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Firewall rules are security controls that determine what network traffic is allowed to reach your virtual machines or leave from them.</a:t>
            </a:r>
          </a:p>
          <a:p>
            <a:r>
              <a:rPr lang="en-US" dirty="0"/>
              <a:t>You can configure rules based on the Direction of Traffic</a:t>
            </a:r>
          </a:p>
          <a:p>
            <a:pPr lvl="1"/>
            <a:r>
              <a:rPr lang="en-US" dirty="0"/>
              <a:t>Ingress (Incoming)</a:t>
            </a:r>
          </a:p>
          <a:p>
            <a:pPr lvl="2"/>
            <a:r>
              <a:rPr lang="en-US" dirty="0"/>
              <a:t>Traffic coming into your VM from external sources i.e. user accessing your website.</a:t>
            </a:r>
          </a:p>
          <a:p>
            <a:pPr lvl="2"/>
            <a:r>
              <a:rPr lang="en-US" dirty="0"/>
              <a:t>Default: DENY ALL</a:t>
            </a:r>
          </a:p>
          <a:p>
            <a:pPr lvl="1"/>
            <a:r>
              <a:rPr lang="en-US" dirty="0"/>
              <a:t>Egress (Outgoing)</a:t>
            </a:r>
          </a:p>
          <a:p>
            <a:pPr lvl="2"/>
            <a:r>
              <a:rPr lang="en-US" dirty="0"/>
              <a:t>Traffic going out of your VM to external destinations, i.e. your application calling an external API</a:t>
            </a:r>
          </a:p>
          <a:p>
            <a:pPr lvl="2"/>
            <a:r>
              <a:rPr lang="en-US" dirty="0"/>
              <a:t>Default: ALLOW ALL</a:t>
            </a:r>
          </a:p>
          <a:p>
            <a:r>
              <a:rPr lang="en-US" dirty="0"/>
              <a:t>Firewall Rules are “stateful” meaning if you allow incoming traffic, the response is automatically allowed back out.</a:t>
            </a:r>
          </a:p>
          <a:p>
            <a:r>
              <a:rPr lang="en-US" dirty="0"/>
              <a:t>Rules have a priority which determines when they are evaluated (lower number = higher priority)</a:t>
            </a:r>
          </a:p>
          <a:p>
            <a:r>
              <a:rPr lang="en-US" dirty="0"/>
              <a:t>The first matching rule is applied</a:t>
            </a:r>
          </a:p>
          <a:p>
            <a:r>
              <a:rPr lang="en-US" dirty="0"/>
              <a:t>If no rules match, the default (deny for ingress or allow for egress) applies.</a:t>
            </a:r>
          </a:p>
          <a:p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D33EECF-184F-325E-FF3D-B6590A78D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Firewall Rules</a:t>
            </a:r>
          </a:p>
        </p:txBody>
      </p:sp>
    </p:spTree>
    <p:extLst>
      <p:ext uri="{BB962C8B-B14F-4D97-AF65-F5344CB8AC3E}">
        <p14:creationId xmlns:p14="http://schemas.microsoft.com/office/powerpoint/2010/main" val="756022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1F9C1-ECA3-E79D-66F9-5AD59C895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60DDBC-474D-8211-D73F-7D29018123C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25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81F994C6-FA0B-294E-2D48-8A26D33790CE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Compute Engine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DC8FFB-B8C4-6B87-CF1B-257DC0024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3110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72344-9EB1-514F-EA42-0BEC4AA26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153DA9-B3AB-5CBD-D187-EA9C7003A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7A1FA2-DEF2-988F-7876-994063EC2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 Engine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DB6D3-2363-9788-440A-1CAB0CCE9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Compute Engine is GCP’s </a:t>
            </a:r>
            <a:r>
              <a:rPr lang="en-US" b="1" dirty="0"/>
              <a:t>IaaS</a:t>
            </a:r>
            <a:r>
              <a:rPr lang="en-US" dirty="0"/>
              <a:t> Offering.</a:t>
            </a:r>
          </a:p>
          <a:p>
            <a:r>
              <a:rPr lang="en-US" dirty="0"/>
              <a:t>It provides Virtual Machines (VMs) that run in Google’s Data centers</a:t>
            </a:r>
          </a:p>
          <a:p>
            <a:pPr lvl="1"/>
            <a:r>
              <a:rPr lang="en-US" dirty="0"/>
              <a:t>i.e. You are renting a computer in Google data center that you can access remotely and control</a:t>
            </a:r>
          </a:p>
          <a:p>
            <a:r>
              <a:rPr lang="en-US" dirty="0"/>
              <a:t>With Compute Engine, you can create and run instances on Google infrastructure</a:t>
            </a:r>
          </a:p>
          <a:p>
            <a:r>
              <a:rPr lang="en-US" dirty="0"/>
              <a:t>Instances are single virtual machines with a complete OS, CPU, memory, disk and network interface.</a:t>
            </a:r>
          </a:p>
          <a:p>
            <a:r>
              <a:rPr lang="en-US" dirty="0"/>
              <a:t>Instances act list a physical computer; but, exist as software.</a:t>
            </a:r>
          </a:p>
          <a:p>
            <a:r>
              <a:rPr lang="en-US" dirty="0"/>
              <a:t>GCP Compute allows for on-demand, scalable computing resources.</a:t>
            </a:r>
          </a:p>
          <a:p>
            <a:r>
              <a:rPr lang="en-US" dirty="0"/>
              <a:t>Typically used when you require more control over the computing environment</a:t>
            </a:r>
          </a:p>
          <a:p>
            <a:r>
              <a:rPr lang="en-US" dirty="0"/>
              <a:t>Offers seamless connectivity with other Google Cloud Services</a:t>
            </a:r>
          </a:p>
        </p:txBody>
      </p:sp>
    </p:spTree>
    <p:extLst>
      <p:ext uri="{BB962C8B-B14F-4D97-AF65-F5344CB8AC3E}">
        <p14:creationId xmlns:p14="http://schemas.microsoft.com/office/powerpoint/2010/main" val="3606263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CAE80-903F-456D-7088-FA24D231F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8A6765-9EDB-3920-54A3-A6F4486CB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849E768-AD8A-041E-1C34-7793C2B7C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Compute Engine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6FEA981-1272-90C9-FF83-BB3A96AD6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No hardware to buy</a:t>
            </a:r>
            <a:r>
              <a:rPr lang="en-US" dirty="0"/>
              <a:t>: no upfront costs for servers</a:t>
            </a:r>
          </a:p>
          <a:p>
            <a:r>
              <a:rPr lang="en-US" b="1" dirty="0"/>
              <a:t>Scalability</a:t>
            </a:r>
            <a:r>
              <a:rPr lang="en-US" dirty="0"/>
              <a:t>: Create 1 VM or 1000 in minutes</a:t>
            </a:r>
          </a:p>
          <a:p>
            <a:r>
              <a:rPr lang="en-US" b="1" dirty="0"/>
              <a:t>Pay-as-you-go</a:t>
            </a:r>
            <a:r>
              <a:rPr lang="en-US" dirty="0"/>
              <a:t>: only pay for hat you use (per-second billing)</a:t>
            </a:r>
          </a:p>
          <a:p>
            <a:r>
              <a:rPr lang="en-US" b="1" dirty="0"/>
              <a:t>Global infrastructure</a:t>
            </a:r>
            <a:r>
              <a:rPr lang="en-US" dirty="0"/>
              <a:t>: Deploy VMs worldwide, close to your users</a:t>
            </a:r>
          </a:p>
          <a:p>
            <a:r>
              <a:rPr lang="en-US" b="1" dirty="0"/>
              <a:t>Flexibility</a:t>
            </a:r>
            <a:r>
              <a:rPr lang="en-US" dirty="0"/>
              <a:t>: Choose exact CPU, RAM, disk size you need</a:t>
            </a:r>
          </a:p>
          <a:p>
            <a:r>
              <a:rPr lang="en-US" b="1" dirty="0"/>
              <a:t>Live migration</a:t>
            </a:r>
            <a:r>
              <a:rPr lang="en-US" dirty="0"/>
              <a:t>: Google can move your VM to different hardware without downtime (during maintenance)</a:t>
            </a:r>
          </a:p>
        </p:txBody>
      </p:sp>
    </p:spTree>
    <p:extLst>
      <p:ext uri="{BB962C8B-B14F-4D97-AF65-F5344CB8AC3E}">
        <p14:creationId xmlns:p14="http://schemas.microsoft.com/office/powerpoint/2010/main" val="3010377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EAAF2-6B80-A1B2-A887-25CE6B6E4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9A55E3-F989-E8C9-97A8-DCB14D72E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D05F546-9CEB-5475-700A-25EDAA996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10" y="-4950"/>
            <a:ext cx="6402627" cy="1224150"/>
          </a:xfrm>
        </p:spPr>
        <p:txBody>
          <a:bodyPr/>
          <a:lstStyle/>
          <a:p>
            <a:r>
              <a:rPr lang="en-US" dirty="0"/>
              <a:t>Compute Engine – Structure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1A32F58-9401-9609-DC15-96C6A63A5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511591"/>
            <a:ext cx="8383980" cy="5217246"/>
          </a:xfrm>
        </p:spPr>
        <p:txBody>
          <a:bodyPr numCol="2">
            <a:normAutofit fontScale="92500" lnSpcReduction="20000"/>
          </a:bodyPr>
          <a:lstStyle/>
          <a:p>
            <a:r>
              <a:rPr lang="en-US" b="1" dirty="0"/>
              <a:t>Disks (Storage)</a:t>
            </a:r>
          </a:p>
          <a:p>
            <a:pPr lvl="1"/>
            <a:r>
              <a:rPr lang="en-US" dirty="0"/>
              <a:t>Boot Disk</a:t>
            </a:r>
          </a:p>
          <a:p>
            <a:pPr lvl="2"/>
            <a:r>
              <a:rPr lang="en-US" dirty="0"/>
              <a:t>Contains OS</a:t>
            </a:r>
          </a:p>
          <a:p>
            <a:pPr lvl="2"/>
            <a:r>
              <a:rPr lang="en-US" dirty="0"/>
              <a:t>Created automatically when you create a VM</a:t>
            </a:r>
          </a:p>
          <a:p>
            <a:pPr lvl="2"/>
            <a:r>
              <a:rPr lang="en-US" dirty="0"/>
              <a:t>Can be deleted with VM or kept separate</a:t>
            </a:r>
          </a:p>
          <a:p>
            <a:pPr lvl="1"/>
            <a:r>
              <a:rPr lang="en-US" dirty="0"/>
              <a:t>Additional Data Disk</a:t>
            </a:r>
          </a:p>
          <a:p>
            <a:pPr lvl="2"/>
            <a:r>
              <a:rPr lang="en-US" dirty="0"/>
              <a:t>Optional disks to allow more storage</a:t>
            </a:r>
          </a:p>
          <a:p>
            <a:pPr lvl="1"/>
            <a:r>
              <a:rPr lang="en-US" dirty="0"/>
              <a:t>Persistence</a:t>
            </a:r>
          </a:p>
          <a:p>
            <a:pPr lvl="2"/>
            <a:r>
              <a:rPr lang="en-US" dirty="0"/>
              <a:t>Persistent disks: data survives VM deletion</a:t>
            </a:r>
          </a:p>
          <a:p>
            <a:pPr lvl="2"/>
            <a:r>
              <a:rPr lang="en-US" dirty="0"/>
              <a:t>Local SSDs: Data is lost when VM stops (temporary, but very fast)</a:t>
            </a:r>
          </a:p>
          <a:p>
            <a:endParaRPr lang="en-US" dirty="0"/>
          </a:p>
          <a:p>
            <a:r>
              <a:rPr lang="en-US" b="1" dirty="0"/>
              <a:t>IP Addresses</a:t>
            </a:r>
          </a:p>
          <a:p>
            <a:pPr lvl="1"/>
            <a:r>
              <a:rPr lang="en-US" dirty="0"/>
              <a:t>Internal IP (Private)</a:t>
            </a:r>
          </a:p>
          <a:p>
            <a:pPr lvl="2"/>
            <a:r>
              <a:rPr lang="en-US" dirty="0"/>
              <a:t>Always automatically assigned</a:t>
            </a:r>
          </a:p>
          <a:p>
            <a:pPr lvl="2"/>
            <a:r>
              <a:rPr lang="en-US" dirty="0"/>
              <a:t>Free</a:t>
            </a:r>
          </a:p>
          <a:p>
            <a:pPr lvl="2"/>
            <a:r>
              <a:rPr lang="en-US" dirty="0"/>
              <a:t>Other VMs in the same network can reach this IP</a:t>
            </a:r>
          </a:p>
          <a:p>
            <a:pPr lvl="1"/>
            <a:r>
              <a:rPr lang="en-US" dirty="0"/>
              <a:t>External IP (Public)</a:t>
            </a:r>
          </a:p>
          <a:p>
            <a:pPr lvl="2"/>
            <a:r>
              <a:rPr lang="en-US" dirty="0"/>
              <a:t>Optional</a:t>
            </a:r>
          </a:p>
          <a:p>
            <a:pPr lvl="2"/>
            <a:r>
              <a:rPr lang="en-US" dirty="0"/>
              <a:t>Allows internet to reach your VM</a:t>
            </a:r>
          </a:p>
          <a:p>
            <a:pPr lvl="2"/>
            <a:r>
              <a:rPr lang="en-US" dirty="0"/>
              <a:t>Ephemeral: Changes when VM restarts (free while VM running)</a:t>
            </a:r>
          </a:p>
          <a:p>
            <a:pPr lvl="2"/>
            <a:r>
              <a:rPr lang="en-US" dirty="0"/>
              <a:t>Static: Permanent, reserved IP (small charge, even when not in use)</a:t>
            </a:r>
          </a:p>
        </p:txBody>
      </p:sp>
    </p:spTree>
    <p:extLst>
      <p:ext uri="{BB962C8B-B14F-4D97-AF65-F5344CB8AC3E}">
        <p14:creationId xmlns:p14="http://schemas.microsoft.com/office/powerpoint/2010/main" val="2522813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82DE6-41B0-069E-0DC5-99D324996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4D292E-6E5C-B07B-6817-8BF543CB0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0E01774-996B-98AF-B66F-6B2B813E5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Preemptible (Spot VMs)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BFD05FA-F472-5BBB-EA0E-1E35F0B1C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Preemptible VMs (older version) and Spot VMs are cheaper alternatives (up to 90% off).</a:t>
            </a:r>
          </a:p>
          <a:p>
            <a:r>
              <a:rPr lang="en-US" dirty="0"/>
              <a:t>These are excess Compute engine capacity.</a:t>
            </a:r>
          </a:p>
          <a:p>
            <a:r>
              <a:rPr lang="en-US" dirty="0"/>
              <a:t>Google can stop or delete them at any time (usually with a short warning)</a:t>
            </a:r>
          </a:p>
          <a:p>
            <a:r>
              <a:rPr lang="en-US" dirty="0"/>
              <a:t>No availability guarantee</a:t>
            </a:r>
          </a:p>
          <a:p>
            <a:r>
              <a:rPr lang="en-US" dirty="0"/>
              <a:t>Useful for:</a:t>
            </a:r>
          </a:p>
          <a:p>
            <a:pPr lvl="1"/>
            <a:r>
              <a:rPr lang="en-US" dirty="0"/>
              <a:t>Batch processing jobs</a:t>
            </a:r>
          </a:p>
          <a:p>
            <a:pPr lvl="1"/>
            <a:r>
              <a:rPr lang="en-US" dirty="0"/>
              <a:t>Data analysis</a:t>
            </a:r>
          </a:p>
          <a:p>
            <a:pPr lvl="1"/>
            <a:r>
              <a:rPr lang="en-US" dirty="0"/>
              <a:t>Fault-tolerant applications</a:t>
            </a:r>
          </a:p>
          <a:p>
            <a:r>
              <a:rPr lang="en-US" dirty="0"/>
              <a:t>Do NOT use them for:</a:t>
            </a:r>
          </a:p>
          <a:p>
            <a:pPr lvl="1"/>
            <a:r>
              <a:rPr lang="en-US" dirty="0"/>
              <a:t>Databases (data loss risk)</a:t>
            </a:r>
          </a:p>
          <a:p>
            <a:pPr lvl="1"/>
            <a:r>
              <a:rPr lang="en-US" dirty="0"/>
              <a:t>Web servers servicing live traffic</a:t>
            </a:r>
          </a:p>
          <a:p>
            <a:pPr lvl="1"/>
            <a:r>
              <a:rPr lang="en-US" dirty="0"/>
              <a:t>Long-running processes that can’t be interrupted</a:t>
            </a:r>
          </a:p>
        </p:txBody>
      </p:sp>
    </p:spTree>
    <p:extLst>
      <p:ext uri="{BB962C8B-B14F-4D97-AF65-F5344CB8AC3E}">
        <p14:creationId xmlns:p14="http://schemas.microsoft.com/office/powerpoint/2010/main" val="3141965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B2B0B-089D-DD8B-805F-8FAC36A61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93D19-3E54-A69D-E0F4-F18B8AB1D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A9236F3-D2F2-0F34-94DF-5AC2BFCD3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Pricing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9A0D839-09ED-5189-AD14-4CEE5CE08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Billed Components</a:t>
            </a:r>
          </a:p>
          <a:p>
            <a:pPr lvl="1"/>
            <a:r>
              <a:rPr lang="en-US" dirty="0"/>
              <a:t>Compute (CPU/RAM): Per-second billing (minimum 1 minute)</a:t>
            </a:r>
          </a:p>
          <a:p>
            <a:pPr lvl="1"/>
            <a:r>
              <a:rPr lang="en-US" dirty="0"/>
              <a:t>Disk Storage: Per GB per month</a:t>
            </a:r>
          </a:p>
          <a:p>
            <a:pPr lvl="1"/>
            <a:r>
              <a:rPr lang="en-US" dirty="0"/>
              <a:t>Network Egress: Data leaving GCP (ingress is free)</a:t>
            </a:r>
          </a:p>
          <a:p>
            <a:pPr lvl="1"/>
            <a:r>
              <a:rPr lang="en-US" dirty="0"/>
              <a:t>External IP: Small charge for static IPs</a:t>
            </a:r>
          </a:p>
          <a:p>
            <a:pPr lvl="1"/>
            <a:r>
              <a:rPr lang="en-US" dirty="0"/>
              <a:t>Licensing: Windows and some OS require additional fees</a:t>
            </a:r>
          </a:p>
          <a:p>
            <a:r>
              <a:rPr lang="en-US" b="1" dirty="0"/>
              <a:t>Cost Optimization</a:t>
            </a:r>
          </a:p>
          <a:p>
            <a:pPr lvl="1"/>
            <a:r>
              <a:rPr lang="en-US" dirty="0"/>
              <a:t>Right-size: Don't over-provision resources</a:t>
            </a:r>
          </a:p>
          <a:p>
            <a:pPr lvl="1"/>
            <a:r>
              <a:rPr lang="en-US" dirty="0"/>
              <a:t>Use Spot VMs: For fault-tolerant workloads (up to 90% savings)</a:t>
            </a:r>
          </a:p>
          <a:p>
            <a:pPr lvl="1"/>
            <a:r>
              <a:rPr lang="en-US" dirty="0"/>
              <a:t>Committed Use Discounts: Commit to 1 or 3 years (50+% savings)</a:t>
            </a:r>
          </a:p>
          <a:p>
            <a:pPr lvl="1"/>
            <a:r>
              <a:rPr lang="en-US" dirty="0"/>
              <a:t>Sustained Use Discounts: Automatic discounts for VMs running &gt;25% of month</a:t>
            </a:r>
          </a:p>
          <a:p>
            <a:pPr lvl="1"/>
            <a:r>
              <a:rPr lang="en-US" dirty="0"/>
              <a:t>Stop VMs when not needed: Development VMs overnight/weekends</a:t>
            </a:r>
          </a:p>
          <a:p>
            <a:pPr lvl="1"/>
            <a:r>
              <a:rPr lang="en-US" dirty="0"/>
              <a:t>Use preemptible for batch: Instead of running 24/7</a:t>
            </a:r>
          </a:p>
        </p:txBody>
      </p:sp>
    </p:spTree>
    <p:extLst>
      <p:ext uri="{BB962C8B-B14F-4D97-AF65-F5344CB8AC3E}">
        <p14:creationId xmlns:p14="http://schemas.microsoft.com/office/powerpoint/2010/main" val="2023673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29986-71F0-321A-8656-B11483C10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410A13-32E6-3C8B-B5CC-926304A4C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B387C90-F306-04D2-CCC0-6DE5CD7B4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Use Compute Engine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5C1B1C8-D6D1-8C2C-AF76-B3385807D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Use Compute Engine when:</a:t>
            </a:r>
          </a:p>
          <a:p>
            <a:pPr lvl="1"/>
            <a:r>
              <a:rPr lang="en-US" dirty="0"/>
              <a:t>Need full control over OS</a:t>
            </a:r>
          </a:p>
          <a:p>
            <a:pPr lvl="1"/>
            <a:r>
              <a:rPr lang="en-US" dirty="0"/>
              <a:t>Running legacy applications</a:t>
            </a:r>
          </a:p>
          <a:p>
            <a:pPr lvl="1"/>
            <a:r>
              <a:rPr lang="en-US" dirty="0"/>
              <a:t>Custom networking requirements</a:t>
            </a:r>
          </a:p>
          <a:p>
            <a:pPr lvl="1"/>
            <a:r>
              <a:rPr lang="en-US" dirty="0"/>
              <a:t>Applications that need GPU</a:t>
            </a:r>
          </a:p>
          <a:p>
            <a:pPr lvl="1"/>
            <a:r>
              <a:rPr lang="en-US" dirty="0"/>
              <a:t>Need specific software licenses</a:t>
            </a:r>
          </a:p>
          <a:p>
            <a:r>
              <a:rPr lang="en-US" b="1" dirty="0"/>
              <a:t>Don’t use Compute Engine when:</a:t>
            </a:r>
          </a:p>
          <a:p>
            <a:pPr lvl="1"/>
            <a:r>
              <a:rPr lang="en-US" dirty="0"/>
              <a:t>Just need to run containers</a:t>
            </a:r>
          </a:p>
          <a:p>
            <a:pPr lvl="2"/>
            <a:r>
              <a:rPr lang="en-US" dirty="0"/>
              <a:t>instead use Cloud Run it is simpler and serverless</a:t>
            </a:r>
          </a:p>
          <a:p>
            <a:pPr lvl="1"/>
            <a:r>
              <a:rPr lang="en-US" dirty="0"/>
              <a:t>Just need a managed database</a:t>
            </a:r>
          </a:p>
          <a:p>
            <a:pPr lvl="2"/>
            <a:r>
              <a:rPr lang="en-US" dirty="0"/>
              <a:t>instead use Cloud SQL for no VM management</a:t>
            </a:r>
          </a:p>
          <a:p>
            <a:pPr lvl="1"/>
            <a:r>
              <a:rPr lang="en-US" dirty="0"/>
              <a:t>Need serverless functions</a:t>
            </a:r>
          </a:p>
          <a:p>
            <a:pPr lvl="2"/>
            <a:r>
              <a:rPr lang="en-US" dirty="0"/>
              <a:t>Instead use Cloud Functions</a:t>
            </a:r>
          </a:p>
          <a:p>
            <a:pPr lvl="1"/>
            <a:r>
              <a:rPr lang="en-US" dirty="0"/>
              <a:t>Running standard web apps</a:t>
            </a:r>
          </a:p>
          <a:p>
            <a:pPr lvl="2"/>
            <a:r>
              <a:rPr lang="en-US" dirty="0"/>
              <a:t>Consider using App Engine for a fully managed tool</a:t>
            </a:r>
          </a:p>
        </p:txBody>
      </p:sp>
    </p:spTree>
    <p:extLst>
      <p:ext uri="{BB962C8B-B14F-4D97-AF65-F5344CB8AC3E}">
        <p14:creationId xmlns:p14="http://schemas.microsoft.com/office/powerpoint/2010/main" val="3061034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71E5F-9459-808F-71D1-99F9865A2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F9EEE3-4A36-2983-0B0D-C273C5B5F44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32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0F8FA99B-7164-29A6-04A7-693852CDF58C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Virtual Machine Images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EE8C93-F46D-DBAB-1373-6229ADF4C2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396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5CBC9-D7DB-F986-4133-E9A9174F0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DCAAFD-3B8F-5610-0A55-CBC59492C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E4176F-95CC-8A0B-D764-D91A59B47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Virtual machine image is a template or snapshot of a complete VM disk that contains:</a:t>
            </a:r>
          </a:p>
          <a:p>
            <a:pPr lvl="1"/>
            <a:r>
              <a:rPr lang="en-US" dirty="0"/>
              <a:t>Operations system</a:t>
            </a:r>
          </a:p>
          <a:p>
            <a:pPr lvl="1"/>
            <a:r>
              <a:rPr lang="en-US" dirty="0"/>
              <a:t>Pre-installed software</a:t>
            </a:r>
          </a:p>
          <a:p>
            <a:pPr lvl="1"/>
            <a:r>
              <a:rPr lang="en-US" dirty="0"/>
              <a:t>Configuration files</a:t>
            </a:r>
          </a:p>
          <a:p>
            <a:pPr lvl="1"/>
            <a:r>
              <a:rPr lang="en-US" dirty="0"/>
              <a:t>Application code</a:t>
            </a:r>
          </a:p>
          <a:p>
            <a:r>
              <a:rPr lang="en-US" dirty="0"/>
              <a:t>Google provides some ready to use instances which are maintained with regular security patches. </a:t>
            </a:r>
          </a:p>
          <a:p>
            <a:r>
              <a:rPr lang="en-US" dirty="0"/>
              <a:t>Alternatively, you can create images from your own configured VMs with your specific software stack.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7A6082F-6C0B-A453-5D64-AD1DE7A67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Machine Images</a:t>
            </a:r>
          </a:p>
        </p:txBody>
      </p:sp>
    </p:spTree>
    <p:extLst>
      <p:ext uri="{BB962C8B-B14F-4D97-AF65-F5344CB8AC3E}">
        <p14:creationId xmlns:p14="http://schemas.microsoft.com/office/powerpoint/2010/main" val="2446514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EA0D2-1919-0416-44DC-CE6A17293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C71B56-C0CA-4FC6-1103-E53CA6C01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727AE5-2469-C213-C2AE-EA50BC183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/>
          </a:bodyPr>
          <a:lstStyle/>
          <a:p>
            <a:r>
              <a:rPr lang="en-US" dirty="0"/>
              <a:t>Virtual Machine Images provide the following advantages:</a:t>
            </a:r>
          </a:p>
          <a:p>
            <a:pPr lvl="1"/>
            <a:r>
              <a:rPr lang="en-US" b="1" dirty="0"/>
              <a:t>Rapid Deployment</a:t>
            </a:r>
            <a:r>
              <a:rPr lang="en-US" dirty="0"/>
              <a:t> (create identical web servers in minutes)</a:t>
            </a:r>
          </a:p>
          <a:p>
            <a:pPr lvl="1"/>
            <a:r>
              <a:rPr lang="en-US" b="1" dirty="0"/>
              <a:t>Consistency</a:t>
            </a:r>
            <a:r>
              <a:rPr lang="en-US" dirty="0"/>
              <a:t>: Every VM has the same configuration</a:t>
            </a:r>
          </a:p>
          <a:p>
            <a:pPr lvl="1"/>
            <a:r>
              <a:rPr lang="en-US" b="1" dirty="0"/>
              <a:t>Disaster recovery</a:t>
            </a:r>
            <a:r>
              <a:rPr lang="en-US" dirty="0"/>
              <a:t>: Restore VMs quickly from images</a:t>
            </a:r>
          </a:p>
          <a:p>
            <a:pPr lvl="1"/>
            <a:r>
              <a:rPr lang="en-US" b="1" dirty="0"/>
              <a:t>Version Control</a:t>
            </a:r>
            <a:r>
              <a:rPr lang="en-US" dirty="0"/>
              <a:t>: Keep different versions of your setup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CC42BE5-8CB9-AC95-3278-659F1B213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VMIs?</a:t>
            </a:r>
          </a:p>
        </p:txBody>
      </p:sp>
    </p:spTree>
    <p:extLst>
      <p:ext uri="{BB962C8B-B14F-4D97-AF65-F5344CB8AC3E}">
        <p14:creationId xmlns:p14="http://schemas.microsoft.com/office/powerpoint/2010/main" val="2300673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01F23-862A-AFAC-D29F-FF6EE1AC1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3BD3E0-7BF0-8D4E-F2F1-7440B372121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35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6AF74FBA-635F-D5DC-3066-02F4FE7FB5FF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App Engine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F25EF2-3062-2CEB-48DC-CA37AEADF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4845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0646E-84E1-8C4C-0738-9618466C8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5C18C7-F86E-F9AE-8852-8A06A8936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061940C-ED57-18C9-DD07-772BF9DE5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 Engine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E4D7DC9-569E-7823-8EDF-2657DD76CC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Google Cloud App Engine is a fully managed, serverless application platform with simple administration.</a:t>
            </a:r>
          </a:p>
          <a:p>
            <a:r>
              <a:rPr lang="en-US" dirty="0"/>
              <a:t>App Engine is a hardware agnostic platform for development which lets you easily deploy your projects into the larger Google cloud ecosystem.</a:t>
            </a:r>
          </a:p>
          <a:p>
            <a:r>
              <a:rPr lang="en-US" dirty="0"/>
              <a:t>You write your code in one of the supported languages, and this PaaS (platform-as-a-service) will handle the rest.</a:t>
            </a:r>
          </a:p>
          <a:p>
            <a:r>
              <a:rPr lang="en-US" dirty="0"/>
              <a:t>When your code is ready, you simply tell GCP to deploy it to their data centers, and make use of all the features GCP has to offer.</a:t>
            </a:r>
          </a:p>
        </p:txBody>
      </p:sp>
    </p:spTree>
    <p:extLst>
      <p:ext uri="{BB962C8B-B14F-4D97-AF65-F5344CB8AC3E}">
        <p14:creationId xmlns:p14="http://schemas.microsoft.com/office/powerpoint/2010/main" val="2935099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6FBB5-845F-2E54-7B3C-3F533E39E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636073-C594-B2DA-DE19-D617F29F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80EE8A3-B031-803D-C69B-33AD5833E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 Engine | Serverless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7DD4684-81A6-7F51-5AE9-C1BBA4E9B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92500"/>
          </a:bodyPr>
          <a:lstStyle/>
          <a:p>
            <a:r>
              <a:rPr lang="en-US" dirty="0"/>
              <a:t>If an application is reachable on a network, it can’t be serverless – this is true of apps in GCP</a:t>
            </a:r>
          </a:p>
          <a:p>
            <a:r>
              <a:rPr lang="en-US" dirty="0"/>
              <a:t>When we say “serverless” with respect to app engine, we don’t mean “no servers”. Instead, it means, we are abstracted away from those concerns.</a:t>
            </a:r>
          </a:p>
          <a:p>
            <a:r>
              <a:rPr lang="en-US" dirty="0"/>
              <a:t>We don’t need to worry about the server hardware – where it is located, how much power it has, etc… GCP handles all of this.</a:t>
            </a:r>
          </a:p>
          <a:p>
            <a:r>
              <a:rPr lang="en-US" dirty="0"/>
              <a:t>If we are getting little to no traffic, GCP will scale down resources, and if we get more, the resources will scale up – our costs decrease or increase with respect to those changes.</a:t>
            </a:r>
          </a:p>
        </p:txBody>
      </p:sp>
    </p:spTree>
    <p:extLst>
      <p:ext uri="{BB962C8B-B14F-4D97-AF65-F5344CB8AC3E}">
        <p14:creationId xmlns:p14="http://schemas.microsoft.com/office/powerpoint/2010/main" val="863311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678F1-3E18-47D2-7BAD-0E3514981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07B87C-DB84-D988-54C4-C8F018C86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C0A40E8-8906-F2B8-478B-6F3DE036F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 Engine | Supported Languages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423B43-423B-9EB1-2454-1387FB63B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/>
          </a:bodyPr>
          <a:lstStyle/>
          <a:p>
            <a:r>
              <a:rPr lang="en-US" dirty="0"/>
              <a:t>App Engine supports a few common languages natively, meaning we will find a fully supported development environment with many tool we are familiar with:</a:t>
            </a:r>
          </a:p>
          <a:p>
            <a:pPr lvl="1"/>
            <a:r>
              <a:rPr lang="en-US" dirty="0"/>
              <a:t>GO</a:t>
            </a:r>
          </a:p>
          <a:p>
            <a:pPr lvl="1"/>
            <a:r>
              <a:rPr lang="en-US" dirty="0"/>
              <a:t>PHP</a:t>
            </a:r>
          </a:p>
          <a:p>
            <a:pPr lvl="1"/>
            <a:r>
              <a:rPr lang="en-US" dirty="0"/>
              <a:t>Java</a:t>
            </a:r>
          </a:p>
          <a:p>
            <a:pPr lvl="1"/>
            <a:r>
              <a:rPr lang="en-US" dirty="0"/>
              <a:t>Python</a:t>
            </a:r>
          </a:p>
          <a:p>
            <a:pPr lvl="1"/>
            <a:r>
              <a:rPr lang="en-US" dirty="0"/>
              <a:t>Node (JS)</a:t>
            </a:r>
          </a:p>
          <a:p>
            <a:pPr lvl="1"/>
            <a:r>
              <a:rPr lang="en-US" dirty="0"/>
              <a:t>.NET (C#)</a:t>
            </a:r>
          </a:p>
          <a:p>
            <a:pPr lvl="1"/>
            <a:r>
              <a:rPr lang="en-US" dirty="0"/>
              <a:t>Ruby</a:t>
            </a:r>
          </a:p>
        </p:txBody>
      </p:sp>
    </p:spTree>
    <p:extLst>
      <p:ext uri="{BB962C8B-B14F-4D97-AF65-F5344CB8AC3E}">
        <p14:creationId xmlns:p14="http://schemas.microsoft.com/office/powerpoint/2010/main" val="729184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80CE7-6CA8-F8B9-9017-A9DDBB9D6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D7EB9E-5A04-66AC-C590-D975C7879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D6F3ADB0-E2FB-A238-F5BF-B26BD1559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 Engine | Environments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35DCEB7-5954-ED1A-A5CD-86545556E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Each App Engine project uses one (or both) of the following environments: </a:t>
            </a:r>
            <a:r>
              <a:rPr lang="en-US" i="1" dirty="0"/>
              <a:t>standard</a:t>
            </a:r>
            <a:r>
              <a:rPr lang="en-US" dirty="0"/>
              <a:t>, and </a:t>
            </a:r>
            <a:r>
              <a:rPr lang="en-US" i="1" dirty="0"/>
              <a:t>flexible</a:t>
            </a:r>
            <a:endParaRPr lang="en-US" dirty="0"/>
          </a:p>
          <a:p>
            <a:r>
              <a:rPr lang="en-US" dirty="0"/>
              <a:t>Standard</a:t>
            </a:r>
          </a:p>
          <a:p>
            <a:pPr lvl="1"/>
            <a:r>
              <a:rPr lang="en-US" dirty="0"/>
              <a:t>Used for natively supported languages (see previous slide)</a:t>
            </a:r>
          </a:p>
          <a:p>
            <a:pPr lvl="1"/>
            <a:r>
              <a:rPr lang="en-US" dirty="0"/>
              <a:t>Best for apps which require rapid scaling</a:t>
            </a:r>
          </a:p>
          <a:p>
            <a:pPr lvl="1"/>
            <a:r>
              <a:rPr lang="en-US" dirty="0"/>
              <a:t>This environment can scale down to 0 (no cost) resources, and scale up to handle traffic as it comes.</a:t>
            </a:r>
          </a:p>
          <a:p>
            <a:pPr lvl="1"/>
            <a:r>
              <a:rPr lang="en-US" dirty="0"/>
              <a:t>Best for handling sudden extreme changes in traffic</a:t>
            </a:r>
          </a:p>
          <a:p>
            <a:r>
              <a:rPr lang="en-US" dirty="0"/>
              <a:t>Flexible</a:t>
            </a:r>
          </a:p>
          <a:p>
            <a:pPr lvl="1"/>
            <a:r>
              <a:rPr lang="en-US" dirty="0"/>
              <a:t>Runs applications in Docker containers.</a:t>
            </a:r>
          </a:p>
          <a:p>
            <a:pPr lvl="1"/>
            <a:r>
              <a:rPr lang="en-US" dirty="0"/>
              <a:t>Supports any language and framework which can run in a docker container.</a:t>
            </a:r>
          </a:p>
          <a:p>
            <a:pPr lvl="1"/>
            <a:r>
              <a:rPr lang="en-US" dirty="0"/>
              <a:t>Scales slower, and cannot scale down to 0, only down to minimum of one running container</a:t>
            </a:r>
          </a:p>
          <a:p>
            <a:pPr lvl="1"/>
            <a:r>
              <a:rPr lang="en-US" dirty="0"/>
              <a:t>Adding more instances will take minutes, as opposed to seconds</a:t>
            </a:r>
          </a:p>
        </p:txBody>
      </p:sp>
    </p:spTree>
    <p:extLst>
      <p:ext uri="{BB962C8B-B14F-4D97-AF65-F5344CB8AC3E}">
        <p14:creationId xmlns:p14="http://schemas.microsoft.com/office/powerpoint/2010/main" val="2533706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39200-DCAC-F523-0DA2-1F754C96A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D191CA-32CA-6A71-2247-20A839045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573AE48-A92C-40E1-F773-4E35B156D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 Engine | How does it work?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72830D8-57B2-8C27-9049-E9DC333E3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Where App Engine ends, and the rest of GCP services begin is a little hard to define.</a:t>
            </a:r>
          </a:p>
          <a:p>
            <a:r>
              <a:rPr lang="en-US" dirty="0"/>
              <a:t>App Engine allows us to deploy applications, but where do they go?</a:t>
            </a:r>
          </a:p>
          <a:p>
            <a:pPr lvl="1"/>
            <a:r>
              <a:rPr lang="en-US" dirty="0"/>
              <a:t>Application work can be handled by a few difference services, including GCP Cloud Compute. Front ends can be deployed to Firebase (another Google Product).</a:t>
            </a:r>
          </a:p>
          <a:p>
            <a:r>
              <a:rPr lang="en-US" dirty="0"/>
              <a:t>Is App Engine scaling our apps up and down or some other service?</a:t>
            </a:r>
          </a:p>
          <a:p>
            <a:pPr lvl="1"/>
            <a:r>
              <a:rPr lang="en-US" dirty="0"/>
              <a:t>App Engine is doing this!</a:t>
            </a:r>
          </a:p>
          <a:p>
            <a:pPr lvl="1"/>
            <a:r>
              <a:rPr lang="en-US" dirty="0"/>
              <a:t>Scaling is what these cloud platforms are all about! – GCP will scale these resources based on traffic and/or work being done.</a:t>
            </a:r>
          </a:p>
          <a:p>
            <a:pPr lvl="1"/>
            <a:r>
              <a:rPr lang="en-US" dirty="0"/>
              <a:t>GCP will perform both vertical and/or horizontal scaling, depending on the needs of the application.</a:t>
            </a:r>
          </a:p>
          <a:p>
            <a:r>
              <a:rPr lang="en-US" dirty="0"/>
              <a:t>There is some overlap with over services, and App Engine represents an entry point into the wider GCP ecosystem.</a:t>
            </a:r>
          </a:p>
        </p:txBody>
      </p:sp>
    </p:spTree>
    <p:extLst>
      <p:ext uri="{BB962C8B-B14F-4D97-AF65-F5344CB8AC3E}">
        <p14:creationId xmlns:p14="http://schemas.microsoft.com/office/powerpoint/2010/main" val="3467727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0FE25-BD36-75D4-6A26-9312543BF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D70A38-1D0D-3D7D-6A12-0CBCE2AA6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D18E04AD-13A0-62EB-BDEE-F88BF79FD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 Engine | What Else?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2316BCC-7386-C0C3-9E15-8A1E65866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Load Balancing</a:t>
            </a:r>
          </a:p>
          <a:p>
            <a:pPr lvl="1"/>
            <a:r>
              <a:rPr lang="en-US" dirty="0"/>
              <a:t>If scaling horizontally (adding additional instances to take some workload) – load balancing is performed to split traffic among those instances.</a:t>
            </a:r>
          </a:p>
          <a:p>
            <a:pPr lvl="1"/>
            <a:r>
              <a:rPr lang="en-US" dirty="0"/>
              <a:t>GCP spins up more VMs or Containers to handle routing traffic between the whole set.</a:t>
            </a:r>
          </a:p>
          <a:p>
            <a:r>
              <a:rPr lang="en-US" dirty="0"/>
              <a:t>Fault Tolerance</a:t>
            </a:r>
          </a:p>
          <a:p>
            <a:pPr lvl="1"/>
            <a:r>
              <a:rPr lang="en-US" dirty="0"/>
              <a:t>If an instance goes down for whatever reason, we re-balance traffic on the remaining instances.</a:t>
            </a:r>
          </a:p>
          <a:p>
            <a:pPr lvl="1"/>
            <a:r>
              <a:rPr lang="en-US" dirty="0"/>
              <a:t>Now with the increases traffic load on the instances, GCP scales up more instances to replace any that crashed.</a:t>
            </a:r>
          </a:p>
          <a:p>
            <a:pPr lvl="1"/>
            <a:r>
              <a:rPr lang="en-US" dirty="0"/>
              <a:t>The benchmark for measuring application availability is measured in terms of “nines” – for instance, a benchmark for high availability might be “five nines” or otherwise 99.999%</a:t>
            </a:r>
          </a:p>
          <a:p>
            <a:r>
              <a:rPr lang="en-US" dirty="0"/>
              <a:t>More…</a:t>
            </a:r>
          </a:p>
          <a:p>
            <a:pPr lvl="1"/>
            <a:r>
              <a:rPr lang="en-US" dirty="0"/>
              <a:t>Split traffic to perform A/B Testing</a:t>
            </a:r>
          </a:p>
          <a:p>
            <a:pPr lvl="1"/>
            <a:r>
              <a:rPr lang="en-US" dirty="0"/>
              <a:t>Monitor Application Performance &amp; Debug issues</a:t>
            </a:r>
          </a:p>
          <a:p>
            <a:pPr lvl="1"/>
            <a:r>
              <a:rPr lang="en-US" dirty="0"/>
              <a:t>GCP offers a suite of security features, including SSL (secure socket layer) certificates for hosted sites</a:t>
            </a:r>
          </a:p>
        </p:txBody>
      </p:sp>
    </p:spTree>
    <p:extLst>
      <p:ext uri="{BB962C8B-B14F-4D97-AF65-F5344CB8AC3E}">
        <p14:creationId xmlns:p14="http://schemas.microsoft.com/office/powerpoint/2010/main" val="1097023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9A24A-2A08-4121-6AFA-7D1DE2EB0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C48B03-238C-8EF6-11C9-60B2BFD5634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42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1512D1BF-927D-337C-632E-E3C9E17D005F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Block Storage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A5A858-ABCB-920E-1A96-D58FBCC865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9219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8AF0B-1B8C-0BDE-F97E-FFA11DA85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254CC6-5291-1250-D745-AEA1E89BC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BBED48-9DFD-5CE9-E4E9-1BB17F284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/>
          <a:lstStyle/>
          <a:p>
            <a:r>
              <a:rPr lang="en-US" dirty="0"/>
              <a:t>Block storage provides virtual hard drives for your VMs. In GCP these are called persistent disks</a:t>
            </a:r>
          </a:p>
          <a:p>
            <a:r>
              <a:rPr lang="en-US" dirty="0"/>
              <a:t>Key Characteristics:</a:t>
            </a:r>
          </a:p>
          <a:p>
            <a:pPr lvl="1"/>
            <a:r>
              <a:rPr lang="en-US" b="1" dirty="0"/>
              <a:t>Persistent</a:t>
            </a:r>
            <a:r>
              <a:rPr lang="en-US" dirty="0"/>
              <a:t>: Data survives even when VM is stopped or deleted</a:t>
            </a:r>
          </a:p>
          <a:p>
            <a:pPr lvl="1"/>
            <a:r>
              <a:rPr lang="en-US" b="1" dirty="0"/>
              <a:t>Independent</a:t>
            </a:r>
            <a:r>
              <a:rPr lang="en-US" dirty="0"/>
              <a:t>: Exists separately from VMs, can be detached and moved</a:t>
            </a:r>
          </a:p>
          <a:p>
            <a:pPr lvl="1"/>
            <a:r>
              <a:rPr lang="en-US" b="1" dirty="0"/>
              <a:t>Durable</a:t>
            </a:r>
            <a:r>
              <a:rPr lang="en-US" dirty="0"/>
              <a:t>: Data is automatically replicated for protection</a:t>
            </a:r>
          </a:p>
          <a:p>
            <a:pPr lvl="1"/>
            <a:r>
              <a:rPr lang="en-US" b="1" dirty="0"/>
              <a:t>Resizable</a:t>
            </a:r>
            <a:r>
              <a:rPr lang="en-US" dirty="0"/>
              <a:t>: Can increase size without downtime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453C029-074A-0888-267C-99124F413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Storage (Persistent Disks)</a:t>
            </a:r>
          </a:p>
        </p:txBody>
      </p:sp>
    </p:spTree>
    <p:extLst>
      <p:ext uri="{BB962C8B-B14F-4D97-AF65-F5344CB8AC3E}">
        <p14:creationId xmlns:p14="http://schemas.microsoft.com/office/powerpoint/2010/main" val="3158771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01532-A773-EB38-0FD3-59E19F389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B5ABDB-B53B-F952-DA98-0F7F7258A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C67980-B398-0789-FA81-5C40B8E8C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Boot Disk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Contains the operating system</a:t>
            </a:r>
          </a:p>
          <a:p>
            <a:pPr lvl="1"/>
            <a:r>
              <a:rPr lang="en-US" dirty="0"/>
              <a:t>Every VM must have one</a:t>
            </a:r>
          </a:p>
          <a:p>
            <a:pPr lvl="1"/>
            <a:r>
              <a:rPr lang="en-US" dirty="0"/>
              <a:t>Created automatically when you create a VM</a:t>
            </a:r>
          </a:p>
          <a:p>
            <a:r>
              <a:rPr lang="en-US" b="1" dirty="0"/>
              <a:t>Data Disk</a:t>
            </a:r>
            <a:r>
              <a:rPr lang="en-US" dirty="0"/>
              <a:t> (Additional Disks):</a:t>
            </a:r>
          </a:p>
          <a:p>
            <a:pPr lvl="1"/>
            <a:r>
              <a:rPr lang="en-US" dirty="0"/>
              <a:t>Optional, for storing application data</a:t>
            </a:r>
          </a:p>
          <a:p>
            <a:pPr lvl="1"/>
            <a:r>
              <a:rPr lang="en-US" dirty="0"/>
              <a:t>Can attach multiple data disks to one VM</a:t>
            </a:r>
          </a:p>
          <a:p>
            <a:pPr lvl="1"/>
            <a:r>
              <a:rPr lang="en-US" dirty="0"/>
              <a:t>Can detach and move to different VMs</a:t>
            </a:r>
          </a:p>
          <a:p>
            <a:pPr lvl="1"/>
            <a:r>
              <a:rPr lang="en-US" dirty="0"/>
              <a:t>Example: One disk for OS, another for database files</a:t>
            </a:r>
          </a:p>
          <a:p>
            <a:r>
              <a:rPr lang="en-US" b="1" dirty="0"/>
              <a:t>Zonal vs Regional Disks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Zonal</a:t>
            </a:r>
            <a:r>
              <a:rPr lang="en-US" dirty="0"/>
              <a:t>: Stored in one zone (standard)</a:t>
            </a:r>
          </a:p>
          <a:p>
            <a:pPr lvl="1"/>
            <a:r>
              <a:rPr lang="en-US" b="1" dirty="0"/>
              <a:t>Regional</a:t>
            </a:r>
            <a:r>
              <a:rPr lang="en-US" dirty="0"/>
              <a:t>: Replicated across two zones in a region (high availability)</a:t>
            </a:r>
          </a:p>
          <a:p>
            <a:pPr lvl="1"/>
            <a:r>
              <a:rPr lang="en-US" dirty="0"/>
              <a:t>Regional costs the same but survives zone failures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95E1D79-A1E2-1D1C-0044-46360D57D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</a:t>
            </a:r>
          </a:p>
        </p:txBody>
      </p:sp>
    </p:spTree>
    <p:extLst>
      <p:ext uri="{BB962C8B-B14F-4D97-AF65-F5344CB8AC3E}">
        <p14:creationId xmlns:p14="http://schemas.microsoft.com/office/powerpoint/2010/main" val="3371725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1465B-B088-C091-92DB-FC6D165E5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EBDB39-9E2E-E304-EB98-F0855902552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45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9483B439-AB8C-4B30-B940-6FC4BDB83A24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Cloud SQL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244EF4-E302-68C6-5C50-4C831DE35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9354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EA01A-F0FF-3E59-C598-87982006B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F1A3C4-B55D-77E2-FFF4-C23BEA553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CC900D-463B-6904-EBF5-F26D16A9D1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Cloud SQL is a fully managed relational database service managed by Google, you can just use the database.</a:t>
            </a:r>
          </a:p>
          <a:p>
            <a:r>
              <a:rPr lang="en-US" dirty="0"/>
              <a:t>Google handles:</a:t>
            </a:r>
          </a:p>
          <a:p>
            <a:pPr lvl="1"/>
            <a:r>
              <a:rPr lang="en-US" b="1" dirty="0"/>
              <a:t>Backups</a:t>
            </a:r>
            <a:r>
              <a:rPr lang="en-US" dirty="0"/>
              <a:t>: Daily automatic backups</a:t>
            </a:r>
          </a:p>
          <a:p>
            <a:pPr lvl="1"/>
            <a:r>
              <a:rPr lang="en-US" b="1" dirty="0"/>
              <a:t>Updates</a:t>
            </a:r>
            <a:r>
              <a:rPr lang="en-US" dirty="0"/>
              <a:t>: Security patches and version updates</a:t>
            </a:r>
          </a:p>
          <a:p>
            <a:pPr lvl="1"/>
            <a:r>
              <a:rPr lang="en-US" b="1" dirty="0"/>
              <a:t>Replication</a:t>
            </a:r>
            <a:r>
              <a:rPr lang="en-US" dirty="0"/>
              <a:t>: Data is replicated for safety</a:t>
            </a:r>
          </a:p>
          <a:p>
            <a:pPr lvl="1"/>
            <a:r>
              <a:rPr lang="en-US" b="1" dirty="0"/>
              <a:t>Scaling</a:t>
            </a:r>
            <a:r>
              <a:rPr lang="en-US" dirty="0"/>
              <a:t>: Can increase CPU/memory with a few clicks</a:t>
            </a:r>
          </a:p>
          <a:p>
            <a:pPr lvl="1"/>
            <a:r>
              <a:rPr lang="en-US" b="1" dirty="0"/>
              <a:t>High Availability</a:t>
            </a:r>
            <a:r>
              <a:rPr lang="en-US" dirty="0"/>
              <a:t>: Automatic failover if hardware fails</a:t>
            </a:r>
          </a:p>
          <a:p>
            <a:pPr lvl="1"/>
            <a:r>
              <a:rPr lang="en-US" b="1" dirty="0"/>
              <a:t>Monitoring</a:t>
            </a:r>
            <a:r>
              <a:rPr lang="en-US" dirty="0"/>
              <a:t>: Built-in performance monitoring</a:t>
            </a:r>
          </a:p>
          <a:p>
            <a:r>
              <a:rPr lang="en-US" dirty="0"/>
              <a:t>Supports:</a:t>
            </a:r>
          </a:p>
          <a:p>
            <a:pPr lvl="1"/>
            <a:r>
              <a:rPr lang="en-US" dirty="0"/>
              <a:t>MySQL</a:t>
            </a:r>
          </a:p>
          <a:p>
            <a:pPr lvl="1"/>
            <a:r>
              <a:rPr lang="en-US" dirty="0"/>
              <a:t>PostgreSQL</a:t>
            </a:r>
          </a:p>
          <a:p>
            <a:pPr lvl="1"/>
            <a:r>
              <a:rPr lang="en-US" dirty="0"/>
              <a:t>SQL Server</a:t>
            </a:r>
          </a:p>
          <a:p>
            <a:pPr lvl="1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B38C818-461B-1CFD-D157-1655FB5D7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SQL</a:t>
            </a:r>
          </a:p>
        </p:txBody>
      </p:sp>
    </p:spTree>
    <p:extLst>
      <p:ext uri="{BB962C8B-B14F-4D97-AF65-F5344CB8AC3E}">
        <p14:creationId xmlns:p14="http://schemas.microsoft.com/office/powerpoint/2010/main" val="3689668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3A912-F94E-6861-C89D-B3541F61F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C004D9-329C-8AD2-F50E-FEF56235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60FA40-3BE0-33B8-5560-24A6F4077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High Availability:</a:t>
            </a:r>
          </a:p>
          <a:p>
            <a:pPr lvl="1"/>
            <a:r>
              <a:rPr lang="en-US" dirty="0"/>
              <a:t>Can configure with automatic failover</a:t>
            </a:r>
          </a:p>
          <a:p>
            <a:pPr lvl="1"/>
            <a:r>
              <a:rPr lang="en-US" dirty="0"/>
              <a:t>If primary database fails, standby takes over automatically</a:t>
            </a:r>
          </a:p>
          <a:p>
            <a:pPr lvl="1"/>
            <a:r>
              <a:rPr lang="en-US" dirty="0"/>
              <a:t>Minimal downtime</a:t>
            </a:r>
          </a:p>
          <a:p>
            <a:r>
              <a:rPr lang="en-US" dirty="0"/>
              <a:t>Backups:</a:t>
            </a:r>
          </a:p>
          <a:p>
            <a:pPr lvl="1"/>
            <a:r>
              <a:rPr lang="en-US" dirty="0"/>
              <a:t>Automatic daily backups (you choose the time)</a:t>
            </a:r>
          </a:p>
          <a:p>
            <a:pPr lvl="1"/>
            <a:r>
              <a:rPr lang="en-US" dirty="0"/>
              <a:t>Point-in-time recovery (restore to any second in last 7 days)</a:t>
            </a:r>
          </a:p>
          <a:p>
            <a:pPr lvl="1"/>
            <a:r>
              <a:rPr lang="en-US" dirty="0"/>
              <a:t>Manual backups available anytime</a:t>
            </a:r>
          </a:p>
          <a:p>
            <a:r>
              <a:rPr lang="en-US" dirty="0"/>
              <a:t>Connection Methods:</a:t>
            </a:r>
          </a:p>
          <a:p>
            <a:pPr lvl="1"/>
            <a:r>
              <a:rPr lang="en-US" b="1" dirty="0"/>
              <a:t>Public IP</a:t>
            </a:r>
            <a:r>
              <a:rPr lang="en-US" dirty="0"/>
              <a:t>: Connect from anywhere (less secure)</a:t>
            </a:r>
          </a:p>
          <a:p>
            <a:pPr lvl="1"/>
            <a:r>
              <a:rPr lang="en-US" b="1" dirty="0"/>
              <a:t>Private IP</a:t>
            </a:r>
            <a:r>
              <a:rPr lang="en-US" dirty="0"/>
              <a:t>: Connect only from your VPC (more secure, recommended)</a:t>
            </a:r>
          </a:p>
          <a:p>
            <a:pPr lvl="1"/>
            <a:r>
              <a:rPr lang="en-US" b="1" dirty="0"/>
              <a:t>Cloud SQL Proxy</a:t>
            </a:r>
            <a:r>
              <a:rPr lang="en-US" dirty="0"/>
              <a:t>: Secure tunnel for connections</a:t>
            </a:r>
          </a:p>
          <a:p>
            <a:r>
              <a:rPr lang="en-US" dirty="0"/>
              <a:t>Instance Tiers:</a:t>
            </a:r>
          </a:p>
          <a:p>
            <a:pPr lvl="1"/>
            <a:r>
              <a:rPr lang="en-US" b="1" dirty="0"/>
              <a:t>Shared-core</a:t>
            </a:r>
            <a:r>
              <a:rPr lang="en-US" dirty="0"/>
              <a:t> (db-f1-micro, db-g1-small): Low cost, for development/testing</a:t>
            </a:r>
          </a:p>
          <a:p>
            <a:pPr lvl="1"/>
            <a:r>
              <a:rPr lang="en-US" b="1" dirty="0"/>
              <a:t>Dedicated-core</a:t>
            </a:r>
            <a:r>
              <a:rPr lang="en-US" dirty="0"/>
              <a:t> (db-n1-standard-X): Production workloads, dedicated resources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1FC4557-5793-6965-E43A-4D82C78EC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SQL – Key Features</a:t>
            </a:r>
          </a:p>
        </p:txBody>
      </p:sp>
    </p:spTree>
    <p:extLst>
      <p:ext uri="{BB962C8B-B14F-4D97-AF65-F5344CB8AC3E}">
        <p14:creationId xmlns:p14="http://schemas.microsoft.com/office/powerpoint/2010/main" val="3099229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DEED1-E28F-5719-9D85-EE657DF46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4C5D0E2-7DA7-B825-B7E2-5275F46C41A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48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08110271-3B68-4572-BAE6-6E8CD3854D7F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Cloud Storage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2A013D-65A8-D049-3DC0-96B59C24F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80126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A93DB-8B1B-A158-62AB-123C5E78B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81F7FB-B8AE-4D81-5438-62F42695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AE3C95-A52F-54AC-2253-B48B321611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Cloud Storage is object storage for files and unstructured data.</a:t>
            </a:r>
          </a:p>
          <a:p>
            <a:r>
              <a:rPr lang="en-US" dirty="0"/>
              <a:t>Store any type of file (images, videos, backups, logs) and access from anywhere</a:t>
            </a:r>
          </a:p>
          <a:p>
            <a:r>
              <a:rPr lang="en-US" dirty="0"/>
              <a:t>Key Concepts:</a:t>
            </a:r>
          </a:p>
          <a:p>
            <a:pPr lvl="1"/>
            <a:r>
              <a:rPr lang="en-US" b="1" dirty="0"/>
              <a:t>Buckets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Containers that hold your files</a:t>
            </a:r>
          </a:p>
          <a:p>
            <a:pPr lvl="2"/>
            <a:r>
              <a:rPr lang="en-US" dirty="0"/>
              <a:t>Must have globally unique names</a:t>
            </a:r>
          </a:p>
          <a:p>
            <a:pPr lvl="2"/>
            <a:r>
              <a:rPr lang="en-US" dirty="0"/>
              <a:t>Created in a specific location (region, multi-region)</a:t>
            </a:r>
          </a:p>
          <a:p>
            <a:pPr lvl="2"/>
            <a:r>
              <a:rPr lang="en-US" dirty="0"/>
              <a:t>Example: my-app-images, backup-bucket-2024</a:t>
            </a:r>
          </a:p>
          <a:p>
            <a:pPr lvl="1"/>
            <a:r>
              <a:rPr lang="en-US" b="1" dirty="0"/>
              <a:t>Objects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Individual files stored in buckets</a:t>
            </a:r>
          </a:p>
          <a:p>
            <a:pPr lvl="2"/>
            <a:r>
              <a:rPr lang="en-US" dirty="0"/>
              <a:t>Can be any size (up to 5TB per object)</a:t>
            </a:r>
          </a:p>
          <a:p>
            <a:pPr lvl="2"/>
            <a:r>
              <a:rPr lang="en-US" dirty="0"/>
              <a:t>Each object has a unique name (key) within the bucket</a:t>
            </a:r>
          </a:p>
          <a:p>
            <a:pPr lvl="2"/>
            <a:r>
              <a:rPr lang="en-US" dirty="0"/>
              <a:t>Examples: photos/vacation.jpg, logs/2024-01-22.log</a:t>
            </a:r>
          </a:p>
          <a:p>
            <a:pPr lvl="1"/>
            <a:r>
              <a:rPr lang="en-US" b="1" dirty="0"/>
              <a:t>Not a File System:</a:t>
            </a:r>
          </a:p>
          <a:p>
            <a:pPr lvl="2"/>
            <a:r>
              <a:rPr lang="en-US" dirty="0"/>
              <a:t>No folders (but can simulate with naming: folder/subfolder/file.txt)</a:t>
            </a:r>
          </a:p>
          <a:p>
            <a:pPr lvl="2"/>
            <a:r>
              <a:rPr lang="en-US" dirty="0"/>
              <a:t>No mounting to VMs like a disk</a:t>
            </a:r>
          </a:p>
          <a:p>
            <a:pPr lvl="2"/>
            <a:r>
              <a:rPr lang="en-US" dirty="0"/>
              <a:t>Access via API, not file system commands</a:t>
            </a:r>
          </a:p>
          <a:p>
            <a:pPr lvl="2"/>
            <a:r>
              <a:rPr lang="en-US" dirty="0"/>
              <a:t>Each object is standalone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B7111E7-CADB-32AA-5823-7E4D870B3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Storage</a:t>
            </a:r>
          </a:p>
        </p:txBody>
      </p:sp>
    </p:spTree>
    <p:extLst>
      <p:ext uri="{BB962C8B-B14F-4D97-AF65-F5344CB8AC3E}">
        <p14:creationId xmlns:p14="http://schemas.microsoft.com/office/powerpoint/2010/main" val="660524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82F47-1483-CDEB-9DDA-F73B6A3D4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2E0550-ADEB-ACE5-7FAF-A2F39F043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E5E4E7-64C6-B17C-0102-31382C922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/>
          </a:bodyPr>
          <a:lstStyle/>
          <a:p>
            <a:r>
              <a:rPr lang="en-US" dirty="0"/>
              <a:t>Storage Classes offer Trade-offs in Cost vs how often data is accessed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64668B0-4DA6-A5D3-54D0-63EA01D4F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Storage – Storage Classes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AEBA492-3061-063C-BE8D-1986E88488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4628278"/>
              </p:ext>
            </p:extLst>
          </p:nvPr>
        </p:nvGraphicFramePr>
        <p:xfrm>
          <a:off x="270392" y="2609080"/>
          <a:ext cx="8603216" cy="36235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74">
                  <a:extLst>
                    <a:ext uri="{9D8B030D-6E8A-4147-A177-3AD203B41FA5}">
                      <a16:colId xmlns:a16="http://schemas.microsoft.com/office/drawing/2014/main" val="762581036"/>
                    </a:ext>
                  </a:extLst>
                </a:gridCol>
                <a:gridCol w="2381334">
                  <a:extLst>
                    <a:ext uri="{9D8B030D-6E8A-4147-A177-3AD203B41FA5}">
                      <a16:colId xmlns:a16="http://schemas.microsoft.com/office/drawing/2014/main" val="2709492796"/>
                    </a:ext>
                  </a:extLst>
                </a:gridCol>
                <a:gridCol w="2150804">
                  <a:extLst>
                    <a:ext uri="{9D8B030D-6E8A-4147-A177-3AD203B41FA5}">
                      <a16:colId xmlns:a16="http://schemas.microsoft.com/office/drawing/2014/main" val="1381043637"/>
                    </a:ext>
                  </a:extLst>
                </a:gridCol>
                <a:gridCol w="2150804">
                  <a:extLst>
                    <a:ext uri="{9D8B030D-6E8A-4147-A177-3AD203B41FA5}">
                      <a16:colId xmlns:a16="http://schemas.microsoft.com/office/drawing/2014/main" val="3732271935"/>
                    </a:ext>
                  </a:extLst>
                </a:gridCol>
              </a:tblGrid>
              <a:tr h="392023">
                <a:tc>
                  <a:txBody>
                    <a:bodyPr/>
                    <a:lstStyle/>
                    <a:p>
                      <a:r>
                        <a:rPr lang="en-US" dirty="0"/>
                        <a:t>Storage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Storage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Access Fee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 for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5092131"/>
                  </a:ext>
                </a:extLst>
              </a:tr>
              <a:tr h="772362">
                <a:tc>
                  <a:txBody>
                    <a:bodyPr/>
                    <a:lstStyle/>
                    <a:p>
                      <a:r>
                        <a:rPr lang="en-US" dirty="0"/>
                        <a:t>Standard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Active website content, streaming videos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3941473"/>
                  </a:ext>
                </a:extLst>
              </a:tr>
              <a:tr h="772362">
                <a:tc>
                  <a:txBody>
                    <a:bodyPr/>
                    <a:lstStyle/>
                    <a:p>
                      <a:r>
                        <a:rPr lang="en-US" dirty="0"/>
                        <a:t>Nearline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backup, disaster recovery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4068149"/>
                  </a:ext>
                </a:extLst>
              </a:tr>
              <a:tr h="772362">
                <a:tc>
                  <a:txBody>
                    <a:bodyPr/>
                    <a:lstStyle/>
                    <a:p>
                      <a:r>
                        <a:rPr lang="en-US" dirty="0" err="1"/>
                        <a:t>Coldline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Long-term backup, archived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7866717"/>
                  </a:ext>
                </a:extLst>
              </a:tr>
              <a:tr h="772362">
                <a:tc>
                  <a:txBody>
                    <a:bodyPr/>
                    <a:lstStyle/>
                    <a:p>
                      <a:r>
                        <a:rPr lang="en-US" dirty="0"/>
                        <a:t>Archive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Regulatory archives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1613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2661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20787-09DD-3CAF-69AC-C7810ABF6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790E50-ED2F-C802-B64B-9A645E8BD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593D87-A600-7A9A-0933-169CCB21A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376625"/>
            <a:ext cx="8604418" cy="5205046"/>
          </a:xfrm>
        </p:spPr>
        <p:txBody>
          <a:bodyPr numCol="2">
            <a:normAutofit fontScale="70000" lnSpcReduction="20000"/>
          </a:bodyPr>
          <a:lstStyle/>
          <a:p>
            <a:r>
              <a:rPr lang="en-US" b="1" dirty="0"/>
              <a:t>Durability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99.999999999% (“eleven nines”) durability</a:t>
            </a:r>
          </a:p>
          <a:p>
            <a:pPr lvl="1"/>
            <a:r>
              <a:rPr lang="en-US" dirty="0"/>
              <a:t>Your data is replicated multiple times</a:t>
            </a:r>
          </a:p>
          <a:p>
            <a:pPr lvl="1"/>
            <a:r>
              <a:rPr lang="en-US" dirty="0"/>
              <a:t>Virtually impossible to lose data</a:t>
            </a:r>
          </a:p>
          <a:p>
            <a:endParaRPr lang="en-US" dirty="0"/>
          </a:p>
          <a:p>
            <a:r>
              <a:rPr lang="en-US" b="1" dirty="0"/>
              <a:t>Availability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Multi-region: 99.95% availability (stored across multiple regions)</a:t>
            </a:r>
          </a:p>
          <a:p>
            <a:pPr lvl="1"/>
            <a:r>
              <a:rPr lang="en-US" dirty="0"/>
              <a:t>Regional: 99.9% availability (stored in one region)</a:t>
            </a:r>
          </a:p>
          <a:p>
            <a:pPr lvl="1"/>
            <a:r>
              <a:rPr lang="en-US" dirty="0"/>
              <a:t>Dual-region: 99.95% availability (stored in two specific regions)</a:t>
            </a:r>
          </a:p>
          <a:p>
            <a:endParaRPr lang="en-US" dirty="0"/>
          </a:p>
          <a:p>
            <a:r>
              <a:rPr lang="en-US" b="1" dirty="0"/>
              <a:t>Versioning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Keep multiple versions of same object</a:t>
            </a:r>
          </a:p>
          <a:p>
            <a:pPr lvl="1"/>
            <a:r>
              <a:rPr lang="en-US" dirty="0"/>
              <a:t>Can restore previous versions</a:t>
            </a:r>
          </a:p>
          <a:p>
            <a:pPr lvl="1"/>
            <a:r>
              <a:rPr lang="en-US" dirty="0"/>
              <a:t>Protects against accidental deletion or overwrites</a:t>
            </a:r>
          </a:p>
          <a:p>
            <a:r>
              <a:rPr lang="en-US" b="1" dirty="0"/>
              <a:t>Access Control:</a:t>
            </a:r>
          </a:p>
          <a:p>
            <a:pPr lvl="1"/>
            <a:r>
              <a:rPr lang="en-US" dirty="0"/>
              <a:t>Bucket-level: Control who can access entire bucket</a:t>
            </a:r>
          </a:p>
          <a:p>
            <a:pPr lvl="1"/>
            <a:r>
              <a:rPr lang="en-US" dirty="0"/>
              <a:t>Object-level: Control access to individual files</a:t>
            </a:r>
          </a:p>
          <a:p>
            <a:pPr lvl="1"/>
            <a:r>
              <a:rPr lang="en-US" dirty="0"/>
              <a:t>Public or Private: Can make objects publicly accessible or require authentication</a:t>
            </a:r>
          </a:p>
          <a:p>
            <a:pPr lvl="1"/>
            <a:r>
              <a:rPr lang="en-US" dirty="0"/>
              <a:t>Signed URLs: Temporary access to private objects</a:t>
            </a:r>
          </a:p>
          <a:p>
            <a:endParaRPr lang="en-US" dirty="0"/>
          </a:p>
          <a:p>
            <a:r>
              <a:rPr lang="en-US" b="1" dirty="0"/>
              <a:t>Lifecycle Management:</a:t>
            </a:r>
          </a:p>
          <a:p>
            <a:pPr lvl="1"/>
            <a:r>
              <a:rPr lang="en-US" dirty="0"/>
              <a:t>Automatically move objects to cheaper storage classes over time</a:t>
            </a:r>
          </a:p>
          <a:p>
            <a:pPr lvl="1"/>
            <a:r>
              <a:rPr lang="en-US" dirty="0"/>
              <a:t>Example: After 30 days, move from Standard to Nearline</a:t>
            </a:r>
          </a:p>
          <a:p>
            <a:pPr lvl="1"/>
            <a:r>
              <a:rPr lang="en-US" dirty="0"/>
              <a:t>Can auto-delete old objects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C416D75-DF3D-2141-6A39-E190608A0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Storage – Key Features</a:t>
            </a:r>
          </a:p>
        </p:txBody>
      </p:sp>
    </p:spTree>
    <p:extLst>
      <p:ext uri="{BB962C8B-B14F-4D97-AF65-F5344CB8AC3E}">
        <p14:creationId xmlns:p14="http://schemas.microsoft.com/office/powerpoint/2010/main" val="13080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C94B4-53D0-5219-BED2-A12DBC439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3A51F1-9354-432B-3F39-E1CE165101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52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C3FCDAEC-E43C-55BC-3AE1-2E76F439C6D2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GCP Cloud Run Functions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28FDE3-3FE4-C47B-32ED-434E7D9C4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5203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218A5-F9E9-7870-8D9C-79A919D24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EE8F10-4065-2669-EF72-548E45321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7B6C69-3143-B49D-93A5-AF2B31A38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Cloud Run is a fully managed application platform for running containers, code, or functions on Google’s scalable infrastructure</a:t>
            </a:r>
          </a:p>
          <a:p>
            <a:r>
              <a:rPr lang="en-US" dirty="0"/>
              <a:t>It supports any language via your own container images, or source-based deployment (GO, Node.js, Python, Java, .NET, Ruby)</a:t>
            </a:r>
          </a:p>
          <a:p>
            <a:r>
              <a:rPr lang="en-US" dirty="0"/>
              <a:t>Supports 3 ways to run code:</a:t>
            </a:r>
          </a:p>
          <a:p>
            <a:pPr lvl="1"/>
            <a:r>
              <a:rPr lang="en-US" b="1" dirty="0"/>
              <a:t>Cloud Run Services</a:t>
            </a:r>
            <a:r>
              <a:rPr lang="en-US" dirty="0"/>
              <a:t>: Best for handling HTTP requests and events</a:t>
            </a:r>
          </a:p>
          <a:p>
            <a:pPr lvl="1"/>
            <a:r>
              <a:rPr lang="en-US" b="1" dirty="0"/>
              <a:t>Cloud Run Jobs</a:t>
            </a:r>
            <a:r>
              <a:rPr lang="en-US" dirty="0"/>
              <a:t>: Best for one-off or batch work that runs to completion</a:t>
            </a:r>
          </a:p>
          <a:p>
            <a:pPr lvl="1"/>
            <a:r>
              <a:rPr lang="en-US" b="1" dirty="0"/>
              <a:t>Cloud Run Worker Pools</a:t>
            </a:r>
            <a:r>
              <a:rPr lang="en-US" dirty="0"/>
              <a:t>: Best for continuous, background, non-HTTP workloads (queue consumers)</a:t>
            </a:r>
          </a:p>
          <a:p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DF54E6EA-C5BB-5E9D-E959-706DA7005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GCP | Cloud Run Functions</a:t>
            </a:r>
          </a:p>
        </p:txBody>
      </p:sp>
    </p:spTree>
    <p:extLst>
      <p:ext uri="{BB962C8B-B14F-4D97-AF65-F5344CB8AC3E}">
        <p14:creationId xmlns:p14="http://schemas.microsoft.com/office/powerpoint/2010/main" val="34303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3A805-5634-D6B6-CBD1-F4C4B40ED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B844FE-3502-FD35-077E-81157930057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54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9966BF5E-F769-5701-87AE-0A223D3695E4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GCP Cloud Monitoring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8C3DCA-3B5A-62B0-6DA5-288D2EDBA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24763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4640B-3469-2057-90BA-7D865EAA0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B5FAF7-A19C-1CA1-D044-24C23EB66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064AE3-7A3D-A65A-3335-B3ACE1FCA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Cloud Monitoring helps you understand the health, performance and behavior of your applications and Google Cloud Services.</a:t>
            </a:r>
          </a:p>
          <a:p>
            <a:r>
              <a:rPr lang="en-US" dirty="0"/>
              <a:t>It automatically collects system metrics and lets you add your own metrics.</a:t>
            </a:r>
          </a:p>
          <a:p>
            <a:r>
              <a:rPr lang="en-US" dirty="0"/>
              <a:t>Key Capabilities:</a:t>
            </a:r>
          </a:p>
          <a:p>
            <a:pPr lvl="1"/>
            <a:r>
              <a:rPr lang="en-US" b="1" dirty="0"/>
              <a:t>Incidents &amp; Notifications</a:t>
            </a:r>
            <a:r>
              <a:rPr lang="en-US" dirty="0"/>
              <a:t>: Create alert policies</a:t>
            </a:r>
          </a:p>
          <a:p>
            <a:pPr lvl="1"/>
            <a:r>
              <a:rPr lang="en-US" b="1" dirty="0"/>
              <a:t>Proactive Monitoring &amp; Validation</a:t>
            </a:r>
            <a:r>
              <a:rPr lang="en-US" dirty="0"/>
              <a:t>: Test availability, performance &amp; consistency of services, apps, web pages and more</a:t>
            </a:r>
          </a:p>
          <a:p>
            <a:pPr lvl="1"/>
            <a:r>
              <a:rPr lang="en-US" b="1" dirty="0"/>
              <a:t>Data Visualization</a:t>
            </a:r>
            <a:r>
              <a:rPr lang="en-US" dirty="0"/>
              <a:t>: Provides google-managed dashboards or creation of custom dashboards</a:t>
            </a:r>
          </a:p>
          <a:p>
            <a:pPr lvl="1"/>
            <a:r>
              <a:rPr lang="en-US" b="1" dirty="0"/>
              <a:t>Data Collection &amp; Storage</a:t>
            </a:r>
            <a:r>
              <a:rPr lang="en-US" dirty="0"/>
              <a:t>: Collects &amp; stores a variety of metrics including: system data, external metrics, user defined metrics and more</a:t>
            </a:r>
          </a:p>
          <a:p>
            <a:pPr lvl="1"/>
            <a:r>
              <a:rPr lang="en-US" b="1" dirty="0"/>
              <a:t>Query Languages</a:t>
            </a:r>
            <a:r>
              <a:rPr lang="en-US" dirty="0"/>
              <a:t>: Metrics can be obtained using Queries through console, API and CLIs</a:t>
            </a:r>
          </a:p>
          <a:p>
            <a:pPr lvl="1"/>
            <a:r>
              <a:rPr lang="en-US" b="1" dirty="0"/>
              <a:t>Multi-Project Monitoring</a:t>
            </a:r>
            <a:r>
              <a:rPr lang="en-US" dirty="0"/>
              <a:t>: Metrics can be scoped to monitor multiple projects</a:t>
            </a:r>
          </a:p>
          <a:p>
            <a:pPr lvl="1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F9B7BC1-00AE-57AD-95C3-02E15E679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GCP | Cloud Monitoring</a:t>
            </a:r>
          </a:p>
        </p:txBody>
      </p:sp>
    </p:spTree>
    <p:extLst>
      <p:ext uri="{BB962C8B-B14F-4D97-AF65-F5344CB8AC3E}">
        <p14:creationId xmlns:p14="http://schemas.microsoft.com/office/powerpoint/2010/main" val="3292655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B83BA-158E-C578-5E5E-B0C85130E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C719B7-EFFE-0CD7-BDCB-9800D6BF696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56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CA35F335-C81C-1125-167E-E4A89F395E08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GCP Pub/Sub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D40F21-3E3D-84CF-FE96-B198E520B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19955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2C46E-D6D3-E5B0-B56A-B18488F45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AC111B-A991-5926-FF31-FC422DBC9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57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B9C71B-B4C8-B604-97EB-6FF426B35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Google Cloud Pub/Sub is a fully managed, real-time messaging service that allows you to send and receive messages between independency applications</a:t>
            </a:r>
          </a:p>
          <a:p>
            <a:r>
              <a:rPr lang="en-US" dirty="0"/>
              <a:t>It is an asynchronous, scalable messaging services which decouples produces and consumers.</a:t>
            </a:r>
          </a:p>
          <a:p>
            <a:r>
              <a:rPr lang="en-US" dirty="0"/>
              <a:t>Core Concepts:</a:t>
            </a:r>
          </a:p>
          <a:p>
            <a:pPr lvl="1"/>
            <a:r>
              <a:rPr lang="en-US" dirty="0"/>
              <a:t>Publisher: Sends events to Pub/Sub</a:t>
            </a:r>
          </a:p>
          <a:p>
            <a:pPr lvl="1"/>
            <a:r>
              <a:rPr lang="en-US" dirty="0"/>
              <a:t>Topic: named channel/resources where publishes send messages</a:t>
            </a:r>
          </a:p>
          <a:p>
            <a:pPr lvl="1"/>
            <a:r>
              <a:rPr lang="en-US" dirty="0"/>
              <a:t>Message: The data transmitted</a:t>
            </a:r>
          </a:p>
          <a:p>
            <a:pPr lvl="1"/>
            <a:r>
              <a:rPr lang="en-US" dirty="0"/>
              <a:t>Subscriber: Receives messages from a subscription</a:t>
            </a:r>
          </a:p>
          <a:p>
            <a:pPr lvl="2"/>
            <a:r>
              <a:rPr lang="en-US" dirty="0"/>
              <a:t>Subscribers may </a:t>
            </a:r>
            <a:r>
              <a:rPr lang="en-US" i="1" dirty="0"/>
              <a:t>push</a:t>
            </a:r>
            <a:r>
              <a:rPr lang="en-US" dirty="0"/>
              <a:t> messages to a configured HTTPS endpoint, and </a:t>
            </a:r>
            <a:r>
              <a:rPr lang="en-US" i="1" dirty="0"/>
              <a:t>pull</a:t>
            </a:r>
            <a:r>
              <a:rPr lang="en-US" dirty="0"/>
              <a:t> from Pub/Sub to retrieve messages on demand.</a:t>
            </a:r>
          </a:p>
          <a:p>
            <a:pPr lvl="1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B3FF567-41C6-9025-B52C-2DB35A74A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GCP | Pub/Sub</a:t>
            </a:r>
          </a:p>
        </p:txBody>
      </p:sp>
    </p:spTree>
    <p:extLst>
      <p:ext uri="{BB962C8B-B14F-4D97-AF65-F5344CB8AC3E}">
        <p14:creationId xmlns:p14="http://schemas.microsoft.com/office/powerpoint/2010/main" val="2297298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89D3B-EBC7-3F93-7C8F-081506F28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BE3D8B-8114-C408-39A0-517DF1BBA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58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0E4B8E-E92A-8689-551D-1CF0946B3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/>
          </a:bodyPr>
          <a:lstStyle/>
          <a:p>
            <a:r>
              <a:rPr lang="en-US" dirty="0"/>
              <a:t>Event Sources</a:t>
            </a:r>
          </a:p>
          <a:p>
            <a:pPr lvl="1"/>
            <a:r>
              <a:rPr lang="en-US" dirty="0"/>
              <a:t>Any system or service that </a:t>
            </a:r>
            <a:r>
              <a:rPr lang="en-US" i="1" dirty="0"/>
              <a:t>generates</a:t>
            </a:r>
            <a:r>
              <a:rPr lang="en-US" dirty="0"/>
              <a:t> events</a:t>
            </a:r>
          </a:p>
          <a:p>
            <a:pPr lvl="1"/>
            <a:r>
              <a:rPr lang="en-US" dirty="0"/>
              <a:t>This is the </a:t>
            </a:r>
            <a:r>
              <a:rPr lang="en-US" i="1" dirty="0"/>
              <a:t>publisher</a:t>
            </a:r>
            <a:r>
              <a:rPr lang="en-US" dirty="0"/>
              <a:t> – it detects a state change and emits a structured message to a topic</a:t>
            </a:r>
          </a:p>
          <a:p>
            <a:r>
              <a:rPr lang="en-US" dirty="0"/>
              <a:t>Event Bus</a:t>
            </a:r>
          </a:p>
          <a:p>
            <a:pPr lvl="1"/>
            <a:r>
              <a:rPr lang="en-US" dirty="0"/>
              <a:t>The </a:t>
            </a:r>
            <a:r>
              <a:rPr lang="en-US" i="1" dirty="0"/>
              <a:t>routing backbone</a:t>
            </a:r>
            <a:r>
              <a:rPr lang="en-US" dirty="0"/>
              <a:t>. This is the infrastructure that receives events from sources and routes them to the right consumers</a:t>
            </a:r>
          </a:p>
          <a:p>
            <a:pPr lvl="1"/>
            <a:r>
              <a:rPr lang="en-US" dirty="0"/>
              <a:t>Pub/Sub itself acts as the event bus.</a:t>
            </a:r>
          </a:p>
          <a:p>
            <a:r>
              <a:rPr lang="en-US" dirty="0"/>
              <a:t>Pipe</a:t>
            </a:r>
          </a:p>
          <a:p>
            <a:pPr lvl="1"/>
            <a:r>
              <a:rPr lang="en-US" dirty="0"/>
              <a:t>A pipe is a </a:t>
            </a:r>
            <a:r>
              <a:rPr lang="en-US" i="1" dirty="0"/>
              <a:t>configured routing rule</a:t>
            </a:r>
            <a:r>
              <a:rPr lang="en-US" dirty="0"/>
              <a:t> which connects an event source to a destination via event bus.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3F470BF-805E-54B3-63D4-0B92CEB65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GCP | Pub/Sub</a:t>
            </a:r>
          </a:p>
        </p:txBody>
      </p:sp>
    </p:spTree>
    <p:extLst>
      <p:ext uri="{BB962C8B-B14F-4D97-AF65-F5344CB8AC3E}">
        <p14:creationId xmlns:p14="http://schemas.microsoft.com/office/powerpoint/2010/main" val="2429980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theme/theme1.xml><?xml version="1.0" encoding="utf-8"?>
<a:theme xmlns:a="http://schemas.openxmlformats.org/drawingml/2006/main" name="2_Custom Design">
  <a:themeElements>
    <a:clrScheme name="Revature">
      <a:dk1>
        <a:sysClr val="windowText" lastClr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ture Template  101416" id="{E7AE9B54-ECDF-468C-BAC8-D7E5033F34EC}" vid="{F6400A2A-47B1-4620-B2AC-EFF1DCD888C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Revature Template  101416</Template>
  <TotalTime>7415</TotalTime>
  <Words>4130</Words>
  <Application>Microsoft Office PowerPoint</Application>
  <PresentationFormat>On-screen Show (4:3)</PresentationFormat>
  <Paragraphs>569</Paragraphs>
  <Slides>59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2" baseType="lpstr">
      <vt:lpstr>Arial</vt:lpstr>
      <vt:lpstr>Calibri</vt:lpstr>
      <vt:lpstr>2_Custom Design</vt:lpstr>
      <vt:lpstr>Google Cloud Platform</vt:lpstr>
      <vt:lpstr>Outline</vt:lpstr>
      <vt:lpstr>PowerPoint Presentation</vt:lpstr>
      <vt:lpstr>Google Cloud Platform – Intro</vt:lpstr>
      <vt:lpstr>Google Cloud Platform - Advantages</vt:lpstr>
      <vt:lpstr>GCP - Projects</vt:lpstr>
      <vt:lpstr>PowerPoint Presentation</vt:lpstr>
      <vt:lpstr>Regions and Zones - Regions</vt:lpstr>
      <vt:lpstr>Regions and Zones - Zones</vt:lpstr>
      <vt:lpstr>Regions and Zones – Architecture</vt:lpstr>
      <vt:lpstr>PowerPoint Presentation</vt:lpstr>
      <vt:lpstr>Accessing Resources through services</vt:lpstr>
      <vt:lpstr>GCP Services</vt:lpstr>
      <vt:lpstr>Interacting with Services</vt:lpstr>
      <vt:lpstr>PowerPoint Presentation</vt:lpstr>
      <vt:lpstr>Managed Instance Groups</vt:lpstr>
      <vt:lpstr>PowerPoint Presentation</vt:lpstr>
      <vt:lpstr>Access Management | IAM</vt:lpstr>
      <vt:lpstr>Access Management | IAM Policies</vt:lpstr>
      <vt:lpstr>Access Management | Policy Inheritance</vt:lpstr>
      <vt:lpstr>Access Management | ACM</vt:lpstr>
      <vt:lpstr>Access Management | ACM Components</vt:lpstr>
      <vt:lpstr>Access Management | ACM Benefits</vt:lpstr>
      <vt:lpstr>PowerPoint Presentation</vt:lpstr>
      <vt:lpstr>Firewall Rules</vt:lpstr>
      <vt:lpstr>PowerPoint Presentation</vt:lpstr>
      <vt:lpstr>Compute Engine</vt:lpstr>
      <vt:lpstr>Advantages of Compute Engine</vt:lpstr>
      <vt:lpstr>Compute Engine – Structure</vt:lpstr>
      <vt:lpstr>Preemptible (Spot VMs)</vt:lpstr>
      <vt:lpstr>Pricing</vt:lpstr>
      <vt:lpstr>When to Use Compute Engine</vt:lpstr>
      <vt:lpstr>PowerPoint Presentation</vt:lpstr>
      <vt:lpstr>Virtual Machine Images</vt:lpstr>
      <vt:lpstr>Why VMIs?</vt:lpstr>
      <vt:lpstr>PowerPoint Presentation</vt:lpstr>
      <vt:lpstr>App Engine</vt:lpstr>
      <vt:lpstr>App Engine | Serverless</vt:lpstr>
      <vt:lpstr>App Engine | Supported Languages</vt:lpstr>
      <vt:lpstr>App Engine | Environments</vt:lpstr>
      <vt:lpstr>App Engine | How does it work?</vt:lpstr>
      <vt:lpstr>App Engine | What Else?</vt:lpstr>
      <vt:lpstr>PowerPoint Presentation</vt:lpstr>
      <vt:lpstr>Block Storage (Persistent Disks)</vt:lpstr>
      <vt:lpstr>Types</vt:lpstr>
      <vt:lpstr>PowerPoint Presentation</vt:lpstr>
      <vt:lpstr>Cloud SQL</vt:lpstr>
      <vt:lpstr>Cloud SQL – Key Features</vt:lpstr>
      <vt:lpstr>PowerPoint Presentation</vt:lpstr>
      <vt:lpstr>Cloud Storage</vt:lpstr>
      <vt:lpstr>Cloud Storage – Storage Classes</vt:lpstr>
      <vt:lpstr>Cloud Storage – Key Features</vt:lpstr>
      <vt:lpstr>PowerPoint Presentation</vt:lpstr>
      <vt:lpstr>GCP | Cloud Run Functions</vt:lpstr>
      <vt:lpstr>PowerPoint Presentation</vt:lpstr>
      <vt:lpstr>GCP | Cloud Monitoring</vt:lpstr>
      <vt:lpstr>PowerPoint Presentation</vt:lpstr>
      <vt:lpstr>GCP | Pub/Sub</vt:lpstr>
      <vt:lpstr>GCP | Pub/Sub</vt:lpstr>
    </vt:vector>
  </TitlesOfParts>
  <Company>Persistence Holdings, LLC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account 10</dc:creator>
  <cp:lastModifiedBy>Joseph Highe</cp:lastModifiedBy>
  <cp:revision>8</cp:revision>
  <cp:lastPrinted>2016-06-20T20:58:50Z</cp:lastPrinted>
  <dcterms:created xsi:type="dcterms:W3CDTF">2016-11-09T18:19:08Z</dcterms:created>
  <dcterms:modified xsi:type="dcterms:W3CDTF">2026-03-10T16:54:34Z</dcterms:modified>
</cp:coreProperties>
</file>