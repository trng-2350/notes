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344" r:id="rId4"/>
    <p:sldId id="343" r:id="rId5"/>
    <p:sldId id="347" r:id="rId6"/>
    <p:sldId id="348" r:id="rId7"/>
    <p:sldId id="349" r:id="rId8"/>
    <p:sldId id="350" r:id="rId9"/>
    <p:sldId id="356" r:id="rId10"/>
    <p:sldId id="359" r:id="rId11"/>
    <p:sldId id="358" r:id="rId12"/>
    <p:sldId id="360" r:id="rId13"/>
    <p:sldId id="357" r:id="rId14"/>
    <p:sldId id="351" r:id="rId15"/>
    <p:sldId id="352" r:id="rId16"/>
    <p:sldId id="361" r:id="rId17"/>
    <p:sldId id="353" r:id="rId18"/>
    <p:sldId id="346" r:id="rId19"/>
    <p:sldId id="365" r:id="rId20"/>
    <p:sldId id="366" r:id="rId21"/>
    <p:sldId id="364" r:id="rId22"/>
    <p:sldId id="367" r:id="rId23"/>
    <p:sldId id="368" r:id="rId24"/>
    <p:sldId id="369" r:id="rId25"/>
    <p:sldId id="370" r:id="rId2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89" autoAdjust="0"/>
  </p:normalViewPr>
  <p:slideViewPr>
    <p:cSldViewPr snapToGrid="0">
      <p:cViewPr varScale="1">
        <p:scale>
          <a:sx n="95" d="100"/>
          <a:sy n="95" d="100"/>
        </p:scale>
        <p:origin x="2046" y="96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3/9/2026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3/9/2026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7" r:id="rId1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4D7FFD-15BD-6A1F-B717-92B55498A4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Jenkins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857F9-B427-353B-7FBC-A8CC7C439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Jenkins</a:t>
            </a:r>
          </a:p>
          <a:p>
            <a:r>
              <a:rPr lang="en-US" dirty="0"/>
              <a:t>Jenkins Workflow</a:t>
            </a:r>
          </a:p>
          <a:p>
            <a:r>
              <a:rPr lang="en-US" dirty="0"/>
              <a:t>Jenkins Job</a:t>
            </a:r>
          </a:p>
          <a:p>
            <a:r>
              <a:rPr lang="en-US" dirty="0"/>
              <a:t>Jenkins Pipeline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F42C7A-EEAD-5679-49D6-ABDC80591C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C6ED36-209D-E628-6700-2AFF3240E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Introduction to Jenkins</a:t>
            </a:r>
          </a:p>
        </p:txBody>
      </p:sp>
    </p:spTree>
    <p:extLst>
      <p:ext uri="{BB962C8B-B14F-4D97-AF65-F5344CB8AC3E}">
        <p14:creationId xmlns:p14="http://schemas.microsoft.com/office/powerpoint/2010/main" val="523423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44B04-2EA6-FCF4-5F43-ABE166F4F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Jenkins is an open-source automation server that facilitates software projects’ continuous integration and delivery</a:t>
            </a:r>
          </a:p>
          <a:p>
            <a:r>
              <a:rPr lang="en-US" dirty="0"/>
              <a:t>It provides a framework for automating applications’ building, testing, and deployment, enabling teams to streamline their software development processes.</a:t>
            </a:r>
          </a:p>
          <a:p>
            <a:r>
              <a:rPr lang="en-US" dirty="0"/>
              <a:t>With Jenkins, developers can set up a pipeline defining the steps required to build, test, and deploy their applications.</a:t>
            </a:r>
          </a:p>
          <a:p>
            <a:r>
              <a:rPr lang="en-US" dirty="0"/>
              <a:t>These steps can include tasks like compiling source code, running unit tests, packaging the application, deploying it to a staging environment for further testing, and finally deploying it to production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E8E6CB8-99A2-9E4C-F3B1-A570F4A41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Jenkins</a:t>
            </a:r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CE943-B4A7-3B02-24D6-D6F361E0A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ABD1F-5F82-98C9-FCED-B4E63D6CE7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B3B34C-5E1A-2D09-AADE-2ECEB1D2A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Jenkins supports integration with various version control systems, such as Git, subversion, and mercurial. </a:t>
            </a:r>
          </a:p>
          <a:p>
            <a:r>
              <a:rPr lang="en-US" dirty="0"/>
              <a:t>Allows tools to automatically trigger builds and tests whenever changes are pushed to the repository.</a:t>
            </a:r>
          </a:p>
          <a:p>
            <a:r>
              <a:rPr lang="en-US" dirty="0"/>
              <a:t>It also integrates with a wide range of tools and technologies, including build tools, testing frameworks, and deployment platforms</a:t>
            </a:r>
          </a:p>
          <a:p>
            <a:r>
              <a:rPr lang="en-US" dirty="0"/>
              <a:t>Jenkins provides a web-based interfaces that allows users to configure and manage their build pipelines and monitor the status of builds</a:t>
            </a:r>
          </a:p>
          <a:p>
            <a:r>
              <a:rPr lang="en-US" dirty="0"/>
              <a:t>Jenkins offers a vast ecosystem of plugins, which extend its functionality and allow integration with additional tools and services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BB730D5-FA6D-5D32-89E6-6D28FA66B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Jenkins</a:t>
            </a:r>
          </a:p>
        </p:txBody>
      </p:sp>
    </p:spTree>
    <p:extLst>
      <p:ext uri="{BB962C8B-B14F-4D97-AF65-F5344CB8AC3E}">
        <p14:creationId xmlns:p14="http://schemas.microsoft.com/office/powerpoint/2010/main" val="346603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177A4-B574-19A7-A66A-8CB7A2B55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B0EA7-8D58-A8D8-9A72-375AE14ACE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BD20FF-BBDE-B07C-61A7-13197BC41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Automation</a:t>
            </a:r>
            <a:r>
              <a:rPr lang="en-US" dirty="0"/>
              <a:t>: Automates repetitive tasks such as builds, tests and deployments</a:t>
            </a:r>
          </a:p>
          <a:p>
            <a:r>
              <a:rPr lang="en-US" b="1" dirty="0"/>
              <a:t>Extensibility</a:t>
            </a:r>
            <a:r>
              <a:rPr lang="en-US" dirty="0"/>
              <a:t>: over 1800 plugins to integrate with various tools like Docker, Kubernetes, Selenium and Git</a:t>
            </a:r>
          </a:p>
          <a:p>
            <a:r>
              <a:rPr lang="en-US" b="1" dirty="0"/>
              <a:t>Technology Agnostic</a:t>
            </a:r>
            <a:r>
              <a:rPr lang="en-US" dirty="0"/>
              <a:t>: Supports multiple programming languages and tech stacks, like Java, Python and more</a:t>
            </a:r>
          </a:p>
          <a:p>
            <a:r>
              <a:rPr lang="en-US" b="1" dirty="0"/>
              <a:t>Ease of Setup</a:t>
            </a:r>
            <a:r>
              <a:rPr lang="en-US" dirty="0"/>
              <a:t>: Provides a user-friendly web-based GUI for configuration</a:t>
            </a:r>
          </a:p>
          <a:p>
            <a:r>
              <a:rPr lang="en-US" b="1" dirty="0"/>
              <a:t>Controller-Agent Architecture</a:t>
            </a:r>
            <a:r>
              <a:rPr lang="en-US" dirty="0"/>
              <a:t>: Enables distributed builds for improved performance and scalability.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D16F87-4FEA-E3DA-391F-7F4EA988F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Jenkins Features</a:t>
            </a:r>
          </a:p>
        </p:txBody>
      </p:sp>
    </p:spTree>
    <p:extLst>
      <p:ext uri="{BB962C8B-B14F-4D97-AF65-F5344CB8AC3E}">
        <p14:creationId xmlns:p14="http://schemas.microsoft.com/office/powerpoint/2010/main" val="50893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F4779-3668-02FE-1236-5A608153F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F7155-795D-58F9-A3EA-A0D062DC55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1F8977-0245-9F50-6282-6CE324B8E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Jenkins Features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2329F1-DD58-1092-330E-E99EE6390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810" y="1717655"/>
            <a:ext cx="7554379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26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0FABE-38B7-F0C4-C666-CEFE4CEE0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8C4DF-2DAF-1AE3-4C21-F265E731BE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E377-BC72-D09A-41CC-3D2B8BB16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Jenkins Controller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Serves as a central system for managing a Jenkins instance, often referred to as its ‘heart’.</a:t>
            </a:r>
          </a:p>
          <a:p>
            <a:pPr lvl="1"/>
            <a:r>
              <a:rPr lang="en-US" dirty="0"/>
              <a:t>Oversees agents and their connections, determining the tasks they should perform</a:t>
            </a:r>
          </a:p>
          <a:p>
            <a:pPr lvl="1"/>
            <a:r>
              <a:rPr lang="en-US" dirty="0"/>
              <a:t>Controller also loads plugins and ensures that jobs run in the correct sequence</a:t>
            </a:r>
          </a:p>
          <a:p>
            <a:r>
              <a:rPr lang="en-US" b="1" dirty="0"/>
              <a:t>Jenkins Agent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Machine that performs tasks, like running scripts, executing tests, etc…</a:t>
            </a:r>
          </a:p>
          <a:p>
            <a:pPr lvl="1"/>
            <a:r>
              <a:rPr lang="en-US" dirty="0"/>
              <a:t>Tasks are assigned by the controller</a:t>
            </a:r>
          </a:p>
          <a:p>
            <a:pPr lvl="1"/>
            <a:r>
              <a:rPr lang="en-US" dirty="0"/>
              <a:t>Each agent has its own setup (OS, software and/or hardware).</a:t>
            </a:r>
          </a:p>
          <a:p>
            <a:pPr lvl="1"/>
            <a:r>
              <a:rPr lang="en-US" dirty="0"/>
              <a:t>Two type of agents:</a:t>
            </a:r>
          </a:p>
          <a:p>
            <a:pPr lvl="2"/>
            <a:r>
              <a:rPr lang="en-US" b="1" dirty="0"/>
              <a:t>Permanent Agents</a:t>
            </a:r>
            <a:r>
              <a:rPr lang="en-US" dirty="0"/>
              <a:t>: Always ready and connected to Jenkins</a:t>
            </a:r>
          </a:p>
          <a:p>
            <a:pPr lvl="2"/>
            <a:r>
              <a:rPr lang="en-US" b="1" dirty="0"/>
              <a:t>Ephemeral Agents</a:t>
            </a:r>
            <a:r>
              <a:rPr lang="en-US" dirty="0"/>
              <a:t>: Temporary, started when needed, and shut down when done</a:t>
            </a:r>
          </a:p>
          <a:p>
            <a:r>
              <a:rPr lang="en-US" b="1" dirty="0"/>
              <a:t>Jenkins Node</a:t>
            </a:r>
            <a:endParaRPr lang="en-US" dirty="0"/>
          </a:p>
          <a:p>
            <a:pPr lvl="1"/>
            <a:r>
              <a:rPr lang="en-US" dirty="0"/>
              <a:t>Term used in Jenkins 2.0</a:t>
            </a:r>
          </a:p>
          <a:p>
            <a:pPr lvl="1"/>
            <a:r>
              <a:rPr lang="en-US" dirty="0"/>
              <a:t>Any system that can run Jenkins jobs (building, testing, etc…)</a:t>
            </a:r>
          </a:p>
          <a:p>
            <a:pPr lvl="1"/>
            <a:r>
              <a:rPr lang="en-US" dirty="0"/>
              <a:t>Nodes are used by Controllers and Agents &amp; sometimes the terms are used interchangeably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DBD2924-559B-7414-6FB1-E7430BADF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Jenkins Architecture</a:t>
            </a:r>
          </a:p>
        </p:txBody>
      </p:sp>
    </p:spTree>
    <p:extLst>
      <p:ext uri="{BB962C8B-B14F-4D97-AF65-F5344CB8AC3E}">
        <p14:creationId xmlns:p14="http://schemas.microsoft.com/office/powerpoint/2010/main" val="157616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5382E-4C2C-90D9-3370-F116CC0BA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50B03-45FC-CD9F-F813-D2712BD45B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A3A9A4-505D-0809-D322-C9CB67F9C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Continuous Integration</a:t>
            </a:r>
            <a:r>
              <a:rPr lang="en-US" dirty="0"/>
              <a:t>: Jenkins facilitates CI by automatically building and testing software whenever changes are made to the codebase.</a:t>
            </a:r>
          </a:p>
          <a:p>
            <a:r>
              <a:rPr lang="en-US" b="1" dirty="0"/>
              <a:t>Automated Testing</a:t>
            </a:r>
            <a:r>
              <a:rPr lang="en-US" dirty="0"/>
              <a:t>: Jenkins allows the integration of automated testing frameworks into the build process which can execute unit tests, integration tests and other tests.</a:t>
            </a:r>
          </a:p>
          <a:p>
            <a:r>
              <a:rPr lang="en-US" b="1" dirty="0"/>
              <a:t>Continuous Delivery and/or Deployment</a:t>
            </a:r>
            <a:r>
              <a:rPr lang="en-US" dirty="0"/>
              <a:t>: Jenkins enables (CD – both kinds) by automating the steps involved in packaging, deploying and releasing software.</a:t>
            </a:r>
          </a:p>
          <a:p>
            <a:r>
              <a:rPr lang="en-US" b="1" dirty="0"/>
              <a:t>Build &amp; Release Management</a:t>
            </a:r>
            <a:r>
              <a:rPr lang="en-US" dirty="0"/>
              <a:t>: Jenkins provides a centralized platform for managing build configurations, artifacts and release versions.</a:t>
            </a:r>
          </a:p>
          <a:p>
            <a:r>
              <a:rPr lang="en-US" b="1" dirty="0"/>
              <a:t>Scalability and Flexibility</a:t>
            </a:r>
            <a:r>
              <a:rPr lang="en-US" dirty="0"/>
              <a:t>: Jenkins is highly scalable and can support projects of different sizes and complexity.</a:t>
            </a:r>
          </a:p>
          <a:p>
            <a:r>
              <a:rPr lang="en-US" b="1" dirty="0"/>
              <a:t>Community &amp; Ecosystem</a:t>
            </a:r>
            <a:r>
              <a:rPr lang="en-US" dirty="0"/>
              <a:t>: Jenkins has a large active community</a:t>
            </a:r>
          </a:p>
          <a:p>
            <a:r>
              <a:rPr lang="en-US" b="1" dirty="0"/>
              <a:t>Open-source &amp; Cost Effective</a:t>
            </a:r>
            <a:r>
              <a:rPr lang="en-US" dirty="0"/>
              <a:t>: Jenkins is open-source, so it is feely available for use and can be customized to fit project requirements.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B867FF1-B57E-9EEE-C5EF-AB38C6F37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Jenkins</a:t>
            </a:r>
          </a:p>
        </p:txBody>
      </p:sp>
    </p:spTree>
    <p:extLst>
      <p:ext uri="{BB962C8B-B14F-4D97-AF65-F5344CB8AC3E}">
        <p14:creationId xmlns:p14="http://schemas.microsoft.com/office/powerpoint/2010/main" val="275939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A5C97-56B0-B3AF-A0B7-3A0DB97F2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80BD13-1F0B-4D33-6A1B-976A1C3AC8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89DEBE-6B25-C79C-A61D-A47166CFA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Jenkins Workflow</a:t>
            </a:r>
          </a:p>
        </p:txBody>
      </p:sp>
    </p:spTree>
    <p:extLst>
      <p:ext uri="{BB962C8B-B14F-4D97-AF65-F5344CB8AC3E}">
        <p14:creationId xmlns:p14="http://schemas.microsoft.com/office/powerpoint/2010/main" val="1950305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53034-C575-C756-BABF-169765A4C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27322-D22D-9060-6559-3B25BB4A97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DDE93BD-EB7A-1DFC-FD7C-B7C63E3A7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Jenkins Workflow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2232F6-B3F0-A7A0-0564-766D72C1F6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463" y="1491677"/>
            <a:ext cx="6873073" cy="50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998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6B710-7206-2788-3464-646C4DA72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95092-99A6-7CBD-8A12-37C9090952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117F42-ABEC-70DB-D22C-FB1B5FB0D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Developers modify source code, committing changes to the repository and Jenkins creates a new build in order to handle the new Git Commit</a:t>
            </a:r>
          </a:p>
          <a:p>
            <a:r>
              <a:rPr lang="en-US" dirty="0"/>
              <a:t>Jenkins can build a new job based on different triggers such as from code commits or on a configured schedule.</a:t>
            </a:r>
          </a:p>
          <a:p>
            <a:r>
              <a:rPr lang="en-US" dirty="0"/>
              <a:t>The build server builds the code and generates an artifact, if the build fails, the developer receives an alert</a:t>
            </a:r>
          </a:p>
          <a:p>
            <a:r>
              <a:rPr lang="en-US" dirty="0"/>
              <a:t>Jenkins deploys the build application/executable to the test server, which can execute continuous, automated tests</a:t>
            </a:r>
          </a:p>
          <a:p>
            <a:pPr lvl="1"/>
            <a:r>
              <a:rPr lang="en-US" dirty="0"/>
              <a:t>Developers receive alerts if their changes impact functionality (failing tests)</a:t>
            </a:r>
          </a:p>
          <a:p>
            <a:r>
              <a:rPr lang="en-US" dirty="0"/>
              <a:t>Jenkins may optionally deploy the changes to the production server if the code has no issues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87A7829-A515-813E-6FC0-CBDB554CC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Jenkins Workflow</a:t>
            </a:r>
          </a:p>
        </p:txBody>
      </p:sp>
    </p:spTree>
    <p:extLst>
      <p:ext uri="{BB962C8B-B14F-4D97-AF65-F5344CB8AC3E}">
        <p14:creationId xmlns:p14="http://schemas.microsoft.com/office/powerpoint/2010/main" val="286903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FFF45-C076-3E96-DAB6-A055763BC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965910-5789-DDB2-CD1D-1434C2D641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A425A0-29EF-B5F1-7031-524FCB2DA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Jenkins Job</a:t>
            </a:r>
          </a:p>
        </p:txBody>
      </p:sp>
    </p:spTree>
    <p:extLst>
      <p:ext uri="{BB962C8B-B14F-4D97-AF65-F5344CB8AC3E}">
        <p14:creationId xmlns:p14="http://schemas.microsoft.com/office/powerpoint/2010/main" val="2534861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947C8-7BEF-F7FA-DF1D-46B84C14F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17F80-7707-3BFC-8904-4CC779E5FB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D0E9D9-9A73-5A4B-1697-66BDB1E7F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Jenkins Jobs (also called projects) are a given set of tasks that runs sequentially as defined by the user</a:t>
            </a:r>
          </a:p>
          <a:p>
            <a:r>
              <a:rPr lang="en-US" dirty="0"/>
              <a:t>Any automation implemented in Jenkins is a Jenkins Job</a:t>
            </a:r>
          </a:p>
          <a:p>
            <a:r>
              <a:rPr lang="en-US" dirty="0"/>
              <a:t>These jobs are a significant part of Jenkins’ build process</a:t>
            </a:r>
          </a:p>
          <a:p>
            <a:r>
              <a:rPr lang="en-US" dirty="0"/>
              <a:t>We can create and build Jenkins jobs to test our application or project</a:t>
            </a:r>
          </a:p>
          <a:p>
            <a:r>
              <a:rPr lang="en-US" dirty="0"/>
              <a:t>With a Jenkins Job, you can clone source code from version control, like Git, compile the code, and run unit tests based on your requirements.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486898-FFE9-2B42-A084-8EB93B67C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Jenkins Job</a:t>
            </a:r>
          </a:p>
        </p:txBody>
      </p:sp>
    </p:spTree>
    <p:extLst>
      <p:ext uri="{BB962C8B-B14F-4D97-AF65-F5344CB8AC3E}">
        <p14:creationId xmlns:p14="http://schemas.microsoft.com/office/powerpoint/2010/main" val="2171997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449F2-19D3-CE0A-5DC7-0BD97F950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97EE5-D527-C989-A2D2-73994E9665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CB9A95-9F5A-E6F5-6CAF-A35E31F9B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Jobs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D2402ADE-D230-3D27-2297-B60F9088C0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4316988"/>
              </p:ext>
            </p:extLst>
          </p:nvPr>
        </p:nvGraphicFramePr>
        <p:xfrm>
          <a:off x="487344" y="1454449"/>
          <a:ext cx="8169311" cy="4880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312">
                  <a:extLst>
                    <a:ext uri="{9D8B030D-6E8A-4147-A177-3AD203B41FA5}">
                      <a16:colId xmlns:a16="http://schemas.microsoft.com/office/drawing/2014/main" val="31413491"/>
                    </a:ext>
                  </a:extLst>
                </a:gridCol>
                <a:gridCol w="6515999">
                  <a:extLst>
                    <a:ext uri="{9D8B030D-6E8A-4147-A177-3AD203B41FA5}">
                      <a16:colId xmlns:a16="http://schemas.microsoft.com/office/drawing/2014/main" val="1314484615"/>
                    </a:ext>
                  </a:extLst>
                </a:gridCol>
              </a:tblGrid>
              <a:tr h="37741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Job Type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Description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804387320"/>
                  </a:ext>
                </a:extLst>
              </a:tr>
              <a:tr h="1086386">
                <a:tc>
                  <a:txBody>
                    <a:bodyPr/>
                    <a:lstStyle/>
                    <a:p>
                      <a:pPr fontAlgn="t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Freestyle Project</a:t>
                      </a: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This is the central and the most widely used feature in Jenkins. </a:t>
                      </a:r>
                    </a:p>
                    <a:p>
                      <a:pPr algn="l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It is an available Jenkins build job offering multiple operations. </a:t>
                      </a:r>
                    </a:p>
                    <a:p>
                      <a:pPr algn="l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Using this option, you can build and run pipelines or scripts seamlessly.</a:t>
                      </a: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1589879710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fontAlgn="t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Maven Project</a:t>
                      </a: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If your work involves managing and building projects containing POM files, you </a:t>
                      </a:r>
                      <a:b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prefer using Maven Project to build jobs in Jenkins. On choosing this option, Jenkins, by default, will pick the POM files, make configurations, and run builds.</a:t>
                      </a: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1151378907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fontAlgn="t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Pipeline</a:t>
                      </a: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Freestyle Project is often not a good option to create Jenkins Jobs. </a:t>
                      </a:r>
                    </a:p>
                    <a:p>
                      <a:pPr algn="l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Therefore, Pipeline is the best option. Use the option Pipeline for creating Jenkins Jobs, especially when working on long-running activities.</a:t>
                      </a: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3416420966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fontAlgn="t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Multi-configuration </a:t>
                      </a:r>
                    </a:p>
                    <a:p>
                      <a:pPr fontAlgn="t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</a:t>
                      </a: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If you are working on a project requiring multiple configurations, you prefer to use </a:t>
                      </a:r>
                      <a:b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the Multi-configuration Project option. This option allows for making multiple configurations for testing in multiple environments.</a:t>
                      </a: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3039678293"/>
                  </a:ext>
                </a:extLst>
              </a:tr>
              <a:tr h="600151">
                <a:tc>
                  <a:txBody>
                    <a:bodyPr/>
                    <a:lstStyle/>
                    <a:p>
                      <a:pPr fontAlgn="t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GitHub </a:t>
                      </a:r>
                      <a:b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Organization</a:t>
                      </a:r>
                    </a:p>
                  </a:txBody>
                  <a:tcPr marL="101600" marR="101600" marT="63500" marB="6350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If you click on this option, it scans the User's GitHub account for all repositories. </a:t>
                      </a:r>
                    </a:p>
                    <a:p>
                      <a:pPr algn="l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And then, it matches markers as defined.</a:t>
                      </a:r>
                    </a:p>
                  </a:txBody>
                  <a:tcPr marL="101600" marR="101600" marT="63500" marB="63500"/>
                </a:tc>
                <a:extLst>
                  <a:ext uri="{0D108BD9-81ED-4DB2-BD59-A6C34878D82A}">
                    <a16:rowId xmlns:a16="http://schemas.microsoft.com/office/drawing/2014/main" val="2127356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0833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FC297-1E52-680C-917A-F04FE3E37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C12C9-516D-9C16-A81F-385FCBA8AE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89BEB6-AC3E-3039-A6EB-0C3191E3C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Jenkins Builds are a single execution of a job (we build the app to run the job)</a:t>
            </a:r>
          </a:p>
          <a:p>
            <a:r>
              <a:rPr lang="en-US" dirty="0"/>
              <a:t>Builds can be triggered via:</a:t>
            </a:r>
          </a:p>
          <a:p>
            <a:pPr lvl="1"/>
            <a:r>
              <a:rPr lang="en-US" dirty="0"/>
              <a:t>Source code changes</a:t>
            </a:r>
          </a:p>
          <a:p>
            <a:pPr lvl="1"/>
            <a:r>
              <a:rPr lang="en-US" dirty="0"/>
              <a:t>Scheduled times</a:t>
            </a:r>
          </a:p>
          <a:p>
            <a:pPr lvl="1"/>
            <a:r>
              <a:rPr lang="en-US" dirty="0"/>
              <a:t>Manual Triggers by the user</a:t>
            </a:r>
          </a:p>
          <a:p>
            <a:pPr lvl="1"/>
            <a:r>
              <a:rPr lang="en-US" dirty="0"/>
              <a:t>External systems (webhooks) or APIs (Webhooks notify Jenkins of events, such as a GIT pushes, pull requests or merged code)</a:t>
            </a:r>
          </a:p>
          <a:p>
            <a:r>
              <a:rPr lang="en-US" dirty="0"/>
              <a:t>Each build requires a configured trigger to execute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CEF4F7-6DA5-E170-368C-CB4375D06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Jenkins Build</a:t>
            </a:r>
          </a:p>
        </p:txBody>
      </p:sp>
    </p:spTree>
    <p:extLst>
      <p:ext uri="{BB962C8B-B14F-4D97-AF65-F5344CB8AC3E}">
        <p14:creationId xmlns:p14="http://schemas.microsoft.com/office/powerpoint/2010/main" val="2360224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0AF7C-4024-7A82-050E-3092A660E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68FB42-9A1D-F8A7-11A9-90D1DCDF78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654D6F-93DF-FCC8-7479-F587DF7B4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Jenkins Pipeline</a:t>
            </a:r>
          </a:p>
        </p:txBody>
      </p:sp>
    </p:spTree>
    <p:extLst>
      <p:ext uri="{BB962C8B-B14F-4D97-AF65-F5344CB8AC3E}">
        <p14:creationId xmlns:p14="http://schemas.microsoft.com/office/powerpoint/2010/main" val="2366979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74DC2-3D31-700D-EB00-3B8808FC2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DD064-0693-6E4A-C471-22BCA3BBA4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A6642A-9CF2-A74C-5128-9B41AE0D0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Jenkins Pipeline is a suite of plugins which support the implementation and integration of Continuous delivery into Jenkins</a:t>
            </a:r>
          </a:p>
          <a:p>
            <a:pPr lvl="1"/>
            <a:r>
              <a:rPr lang="en-US" dirty="0"/>
              <a:t>i.e. A pipeline is the complete configuration of tools and resources for Jenkins to automatically create builds and execute jobs for CI/CD/CD to occur.</a:t>
            </a:r>
          </a:p>
          <a:p>
            <a:r>
              <a:rPr lang="en-US" dirty="0"/>
              <a:t>Jenkins pipeline allows you to define your entire build, test and deployment process in a file called a </a:t>
            </a:r>
            <a:r>
              <a:rPr lang="en-US" dirty="0" err="1"/>
              <a:t>jenkinsfile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means, instead of configuring jobs manually through the Jenkins UI, a pipeline lets you express your software delivery workflow as a script, making it version-able, reviewable, and auditable, like an application.</a:t>
            </a:r>
          </a:p>
          <a:p>
            <a:r>
              <a:rPr lang="en-US" dirty="0"/>
              <a:t>Jenkins has an extensible automation server to crate easy and complicated transport pipelines as code through pipeline DSL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19ACEF-B3AE-7739-04D4-866B60314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Jenkins Pipeline</a:t>
            </a:r>
          </a:p>
        </p:txBody>
      </p:sp>
    </p:spTree>
    <p:extLst>
      <p:ext uri="{BB962C8B-B14F-4D97-AF65-F5344CB8AC3E}">
        <p14:creationId xmlns:p14="http://schemas.microsoft.com/office/powerpoint/2010/main" val="383721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75564-A6B2-15F7-D722-19FE68D1F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FCABD-0A74-CD6D-4900-958B67CB9D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92266B-049B-E670-878B-F9DA13781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Each task or event in a Jenkins pipeline depends, in some way, on at least one other job or event</a:t>
            </a:r>
          </a:p>
          <a:p>
            <a:r>
              <a:rPr lang="en-US" dirty="0"/>
              <a:t>A CD pipeline automates the journey of software from Version Control to users by chaining together these sequence of automated steps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Source trigger</a:t>
            </a:r>
            <a:r>
              <a:rPr lang="en-US" dirty="0"/>
              <a:t> (ex, code is committed)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Build </a:t>
            </a:r>
            <a:r>
              <a:rPr lang="en-US" dirty="0"/>
              <a:t>– application is compiled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Test</a:t>
            </a:r>
            <a:r>
              <a:rPr lang="en-US" dirty="0"/>
              <a:t> – unit, integration, e2e, etc…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Package </a:t>
            </a:r>
            <a:r>
              <a:rPr lang="en-US" dirty="0"/>
              <a:t>– artifacts are build &amp; versioned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Deploy </a:t>
            </a:r>
            <a:r>
              <a:rPr lang="en-US" dirty="0"/>
              <a:t>– artifact is deployed to staging or production environment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Verify </a:t>
            </a:r>
            <a:r>
              <a:rPr lang="en-US" dirty="0"/>
              <a:t>– Post-deployment smoke tests, or health checks confirm success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A3A0FB-EEC9-2720-988C-338D1F709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Continuous Delivery Pipelines Work?</a:t>
            </a:r>
          </a:p>
        </p:txBody>
      </p:sp>
    </p:spTree>
    <p:extLst>
      <p:ext uri="{BB962C8B-B14F-4D97-AF65-F5344CB8AC3E}">
        <p14:creationId xmlns:p14="http://schemas.microsoft.com/office/powerpoint/2010/main" val="3524600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3BD3C-2021-7C75-264A-D31ADE12E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37817-5ED1-4FB9-E4ED-50B65BE7FD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5A74EE-7CDD-4521-D52A-E29983B5B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Reusable:</a:t>
            </a:r>
            <a:r>
              <a:rPr lang="en-US" dirty="0"/>
              <a:t> Jenkins Pipeline is developed using code, allowing numerous people to change and run the pipeline process</a:t>
            </a:r>
          </a:p>
          <a:p>
            <a:r>
              <a:rPr lang="en-US" b="1" dirty="0"/>
              <a:t>Durable:</a:t>
            </a:r>
            <a:r>
              <a:rPr lang="en-US" dirty="0"/>
              <a:t> The pipeline will be immediately resumed if your server must restart for some reason</a:t>
            </a:r>
          </a:p>
          <a:p>
            <a:r>
              <a:rPr lang="en-US" b="1" dirty="0"/>
              <a:t>Flexible</a:t>
            </a:r>
            <a:r>
              <a:rPr lang="en-US" dirty="0"/>
              <a:t>: The pipeline process can be stopped, and you can instruct it to not restart until the user provides input</a:t>
            </a:r>
          </a:p>
          <a:p>
            <a:r>
              <a:rPr lang="en-US" b="1" dirty="0"/>
              <a:t>Parallelism</a:t>
            </a:r>
            <a:r>
              <a:rPr lang="en-US" dirty="0"/>
              <a:t>: Jenkins pipelines assist with large projects – it’s possible to use pipelines in a loop and perform numerous jobs</a:t>
            </a:r>
          </a:p>
          <a:p>
            <a:r>
              <a:rPr lang="en-US" b="1" dirty="0"/>
              <a:t>Auditable</a:t>
            </a:r>
            <a:r>
              <a:rPr lang="en-US" dirty="0"/>
              <a:t>: Every run is logged, so you always know what ran and when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861351-BB85-0103-6F8A-E60D0F3DD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Pipelines</a:t>
            </a:r>
          </a:p>
        </p:txBody>
      </p:sp>
    </p:spTree>
    <p:extLst>
      <p:ext uri="{BB962C8B-B14F-4D97-AF65-F5344CB8AC3E}">
        <p14:creationId xmlns:p14="http://schemas.microsoft.com/office/powerpoint/2010/main" val="2791306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3A2F8-AD47-6A44-606E-9A3E01348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C1923F-E8AE-CAAC-0BDD-CF7AD6930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</p:spPr>
        <p:txBody>
          <a:bodyPr anchor="ctr">
            <a:normAutofit/>
          </a:bodyPr>
          <a:lstStyle/>
          <a:p>
            <a:r>
              <a:rPr lang="en-US" dirty="0"/>
              <a:t>Jenkins Pipeline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082369CC-2A9D-C3BD-2B8F-ED16009BB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90000"/>
              </a:lnSpc>
            </a:pPr>
            <a:r>
              <a:rPr lang="en-US" sz="3600" b="1" dirty="0"/>
              <a:t>Pipeline</a:t>
            </a:r>
            <a:endParaRPr lang="en-US" sz="3600" dirty="0"/>
          </a:p>
          <a:p>
            <a:pPr lvl="1">
              <a:lnSpc>
                <a:spcPct val="90000"/>
              </a:lnSpc>
            </a:pPr>
            <a:r>
              <a:rPr lang="en-US" sz="3200" dirty="0"/>
              <a:t>Contains all the instructions required for the complete construction procedure</a:t>
            </a:r>
          </a:p>
          <a:p>
            <a:pPr>
              <a:lnSpc>
                <a:spcPct val="90000"/>
              </a:lnSpc>
            </a:pPr>
            <a:r>
              <a:rPr lang="en-US" sz="3600" b="1" dirty="0"/>
              <a:t>Stage</a:t>
            </a:r>
          </a:p>
          <a:p>
            <a:pPr lvl="1">
              <a:lnSpc>
                <a:spcPct val="90000"/>
              </a:lnSpc>
            </a:pPr>
            <a:r>
              <a:rPr lang="en-US" sz="3200" dirty="0"/>
              <a:t>An assembly of pipeline steps (a.k.a. stage block)</a:t>
            </a:r>
          </a:p>
          <a:p>
            <a:pPr lvl="1">
              <a:lnSpc>
                <a:spcPct val="90000"/>
              </a:lnSpc>
            </a:pPr>
            <a:r>
              <a:rPr lang="en-US" sz="3200" dirty="0"/>
              <a:t>Contains the procedures for build, test, and deployment</a:t>
            </a:r>
          </a:p>
          <a:p>
            <a:pPr lvl="1">
              <a:lnSpc>
                <a:spcPct val="90000"/>
              </a:lnSpc>
            </a:pPr>
            <a:r>
              <a:rPr lang="en-US" sz="3200" dirty="0"/>
              <a:t>Most pipeline processes are represented by a stage block</a:t>
            </a:r>
          </a:p>
          <a:p>
            <a:pPr>
              <a:lnSpc>
                <a:spcPct val="90000"/>
              </a:lnSpc>
            </a:pPr>
            <a:r>
              <a:rPr lang="en-US" sz="3600" b="1" dirty="0"/>
              <a:t>Step</a:t>
            </a:r>
          </a:p>
          <a:p>
            <a:pPr lvl="1">
              <a:lnSpc>
                <a:spcPct val="90000"/>
              </a:lnSpc>
            </a:pPr>
            <a:r>
              <a:rPr lang="en-US" sz="3200" dirty="0"/>
              <a:t>A single job that completes a particular procedure at a specific time</a:t>
            </a:r>
          </a:p>
          <a:p>
            <a:pPr lvl="1">
              <a:lnSpc>
                <a:spcPct val="90000"/>
              </a:lnSpc>
            </a:pPr>
            <a:r>
              <a:rPr lang="en-US" sz="3200" dirty="0"/>
              <a:t>There may be several steps in a stage and there are many steps in a 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0306E-E8D3-0517-0487-B6BD64D7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2757" y="6363712"/>
            <a:ext cx="861671" cy="365125"/>
          </a:xfrm>
        </p:spPr>
        <p:txBody>
          <a:bodyPr anchor="ctr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0ADF6B-BEC5-F1A9-2F5C-796372059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75807"/>
            <a:ext cx="4424857" cy="4137240"/>
          </a:xfrm>
          <a:prstGeom prst="rect">
            <a:avLst/>
          </a:prstGeom>
          <a:noFill/>
        </p:spPr>
      </p:pic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E3E831EA-F59F-40AB-71DC-8D7DF9D651A0}"/>
              </a:ext>
            </a:extLst>
          </p:cNvPr>
          <p:cNvSpPr txBox="1">
            <a:spLocks/>
          </p:cNvSpPr>
          <p:nvPr/>
        </p:nvSpPr>
        <p:spPr>
          <a:xfrm>
            <a:off x="4389120" y="5918479"/>
            <a:ext cx="4607737" cy="445233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24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–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»"/>
              <a:defRPr sz="1800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3600" b="1" dirty="0"/>
              <a:t>Note: This example showcases a declarative pipeline syntax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56147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017C9-B35B-1AFF-A0A7-6DA7A81CE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C0F0F-6A47-9525-4AE5-F8786BF1D6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75E0CE-E3DD-BCA4-FE79-3DDFAF5B2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JenkinsFiles</a:t>
            </a:r>
            <a:r>
              <a:rPr lang="en-US" dirty="0"/>
              <a:t> can be defined using one of two styles:</a:t>
            </a:r>
          </a:p>
          <a:p>
            <a:pPr lvl="1"/>
            <a:r>
              <a:rPr lang="en-US" b="1" dirty="0"/>
              <a:t>Declarative</a:t>
            </a:r>
            <a:r>
              <a:rPr lang="en-US" dirty="0"/>
              <a:t>: A straightforward, structured method. It as a preconfigured hierarchy that is used to build Jenkins pipelines. It gives you the capacity to easily and plainly handle every facet of a pipeline</a:t>
            </a:r>
          </a:p>
          <a:p>
            <a:pPr lvl="1"/>
            <a:r>
              <a:rPr lang="en-US" b="1" dirty="0"/>
              <a:t>Scripted</a:t>
            </a:r>
            <a:r>
              <a:rPr lang="en-US" dirty="0"/>
              <a:t>: A lightweight executor helps the Jenkins controller run Jenkins pipeline syntax. The pipeline is transformed into atomic commands with a minimal number of resources.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547F09-9C90-3691-643F-3C9304431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Syntax</a:t>
            </a:r>
          </a:p>
        </p:txBody>
      </p:sp>
    </p:spTree>
    <p:extLst>
      <p:ext uri="{BB962C8B-B14F-4D97-AF65-F5344CB8AC3E}">
        <p14:creationId xmlns:p14="http://schemas.microsoft.com/office/powerpoint/2010/main" val="278734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6DA1F-8A41-386D-6005-002A55F37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3B0B9-C145-C18F-85FF-33F43DEC79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FE1BEF-ECB6-084F-474F-6DFF9C275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Scripted Pipeline Syntax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7BEFB4-CC5B-E64F-3B58-3A0676526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786" y="1459214"/>
            <a:ext cx="4496427" cy="508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804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38EFD-F59B-F589-1ADA-EA71D83E6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E57B0-557E-B3A5-6799-5EC0A13B83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1A1F75-3B89-C3EB-A818-0424479E9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Both Declarative and Scripted pipeline use ‘stage’ as a common keyword.</a:t>
            </a:r>
          </a:p>
          <a:p>
            <a:r>
              <a:rPr lang="en-US" dirty="0"/>
              <a:t>“Pipeline”, “Agent”, “Step” are specific declarative syntax</a:t>
            </a:r>
          </a:p>
          <a:p>
            <a:r>
              <a:rPr lang="en-US" dirty="0"/>
              <a:t>“node” is specific to scripted syntax</a:t>
            </a:r>
          </a:p>
          <a:p>
            <a:r>
              <a:rPr lang="en-US" dirty="0"/>
              <a:t>Note that ‘node’ fills the role for pipeline, and to an extent, ‘agent’ as well. </a:t>
            </a:r>
          </a:p>
          <a:p>
            <a:r>
              <a:rPr lang="en-US" dirty="0"/>
              <a:t>‘Node’ defines both, the top-level block for all work to run, and defines where the pipeline will run.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EF567B-D8C6-5313-B5F1-51642F7CE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Syntax</a:t>
            </a:r>
          </a:p>
        </p:txBody>
      </p:sp>
    </p:spTree>
    <p:extLst>
      <p:ext uri="{BB962C8B-B14F-4D97-AF65-F5344CB8AC3E}">
        <p14:creationId xmlns:p14="http://schemas.microsoft.com/office/powerpoint/2010/main" val="50964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13D8-572D-4915-26CB-C2C242CD2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CB2AF-A057-CDD3-7240-DDC8A5821C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E57187-8040-B319-A262-CBB697527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Syntax | Comparison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0C226E-33CF-F63C-CDAF-0B60F80A6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43" y="1799492"/>
            <a:ext cx="4424857" cy="4564220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1269D4-97B8-6567-AE12-1955A56AF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137" y="1799492"/>
            <a:ext cx="4034291" cy="456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4707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7337</TotalTime>
  <Words>1664</Words>
  <Application>Microsoft Office PowerPoint</Application>
  <PresentationFormat>On-screen Show (4:3)</PresentationFormat>
  <Paragraphs>161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2_Custom Design</vt:lpstr>
      <vt:lpstr>Jenkins</vt:lpstr>
      <vt:lpstr>Outline</vt:lpstr>
      <vt:lpstr>Introduction to Jenkins</vt:lpstr>
      <vt:lpstr>Jenkins</vt:lpstr>
      <vt:lpstr>Jenkins</vt:lpstr>
      <vt:lpstr>Jenkins Features</vt:lpstr>
      <vt:lpstr>Jenkins Features</vt:lpstr>
      <vt:lpstr>Jenkins Architecture</vt:lpstr>
      <vt:lpstr>Benefits of Jenkins</vt:lpstr>
      <vt:lpstr>Jenkins Workflow</vt:lpstr>
      <vt:lpstr>Jenkins Workflow</vt:lpstr>
      <vt:lpstr>Jenkins Workflow</vt:lpstr>
      <vt:lpstr>Jenkins Job</vt:lpstr>
      <vt:lpstr>Jenkins Job</vt:lpstr>
      <vt:lpstr>Types of Jobs</vt:lpstr>
      <vt:lpstr>Jenkins Build</vt:lpstr>
      <vt:lpstr>Jenkins Pipeline</vt:lpstr>
      <vt:lpstr>Jenkins Pipeline</vt:lpstr>
      <vt:lpstr>How do Continuous Delivery Pipelines Work?</vt:lpstr>
      <vt:lpstr>Why Pipelines</vt:lpstr>
      <vt:lpstr>Jenkins Pipeline</vt:lpstr>
      <vt:lpstr>Pipeline Syntax</vt:lpstr>
      <vt:lpstr>Scripted Pipeline Syntax</vt:lpstr>
      <vt:lpstr>Pipeline Syntax</vt:lpstr>
      <vt:lpstr>Pipeline Syntax | Comparison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13</cp:revision>
  <cp:lastPrinted>2016-06-20T20:58:50Z</cp:lastPrinted>
  <dcterms:created xsi:type="dcterms:W3CDTF">2016-11-09T18:19:08Z</dcterms:created>
  <dcterms:modified xsi:type="dcterms:W3CDTF">2026-03-09T17:35:03Z</dcterms:modified>
</cp:coreProperties>
</file>