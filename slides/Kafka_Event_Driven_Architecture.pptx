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357" r:id="rId4"/>
    <p:sldId id="343" r:id="rId5"/>
    <p:sldId id="367" r:id="rId6"/>
    <p:sldId id="368" r:id="rId7"/>
    <p:sldId id="360" r:id="rId8"/>
    <p:sldId id="369" r:id="rId9"/>
    <p:sldId id="361" r:id="rId10"/>
    <p:sldId id="362" r:id="rId11"/>
    <p:sldId id="363" r:id="rId12"/>
    <p:sldId id="364" r:id="rId13"/>
    <p:sldId id="365" r:id="rId14"/>
    <p:sldId id="366" r:id="rId15"/>
    <p:sldId id="358" r:id="rId16"/>
    <p:sldId id="359" r:id="rId17"/>
    <p:sldId id="372" r:id="rId18"/>
    <p:sldId id="373" r:id="rId19"/>
    <p:sldId id="374" r:id="rId20"/>
    <p:sldId id="375" r:id="rId21"/>
    <p:sldId id="376" r:id="rId22"/>
    <p:sldId id="377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Event Driven Architecture and Kafka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Driven Architecture</a:t>
            </a:r>
          </a:p>
          <a:p>
            <a:r>
              <a:rPr lang="en-US" dirty="0"/>
              <a:t>Apache Kafka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Event Driven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Event Driven Architecture (EDA) is a software design pattern where the flow of the application is determined by events.</a:t>
            </a:r>
          </a:p>
          <a:p>
            <a:r>
              <a:rPr lang="en-US" dirty="0"/>
              <a:t>These events are significant occurrences within a system that trigger responses or actions</a:t>
            </a:r>
          </a:p>
          <a:p>
            <a:r>
              <a:rPr lang="en-US" dirty="0"/>
              <a:t>It is commonly used in systems requiring scalability, flexibility, and real-time processing</a:t>
            </a:r>
          </a:p>
          <a:p>
            <a:r>
              <a:rPr lang="en-US" dirty="0"/>
              <a:t>Essentially, in EDA, you write events to a log as data and consumers read data from the log to perform actions in response.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Driven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C788-AC49-35B5-3D87-52ECF6A5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FAF53-54BD-9492-484B-74913BA05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13194-601C-514B-75D2-690D0B380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3040312"/>
          </a:xfrm>
        </p:spPr>
        <p:txBody>
          <a:bodyPr>
            <a:normAutofit/>
          </a:bodyPr>
          <a:lstStyle/>
          <a:p>
            <a:r>
              <a:rPr lang="en-US" b="1" dirty="0"/>
              <a:t>Events</a:t>
            </a:r>
            <a:r>
              <a:rPr lang="en-US" dirty="0"/>
              <a:t>: Represent a significant (meaningful) action or change in the system. </a:t>
            </a:r>
          </a:p>
          <a:p>
            <a:pPr lvl="1"/>
            <a:r>
              <a:rPr lang="en-US" dirty="0"/>
              <a:t>Events are immutable</a:t>
            </a:r>
          </a:p>
          <a:p>
            <a:pPr lvl="1"/>
            <a:r>
              <a:rPr lang="en-US" dirty="0"/>
              <a:t>Events are self-contained, carrying all necessary information to describe the occurrence</a:t>
            </a:r>
          </a:p>
          <a:p>
            <a:pPr lvl="1"/>
            <a:r>
              <a:rPr lang="en-US" dirty="0"/>
              <a:t>Asynchronous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788815-098B-487E-173C-EE84E7D8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A3EAEA55-0B9D-ACBA-705E-E0F75021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973" y="4287039"/>
            <a:ext cx="4358054" cy="217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65C0-6C94-A97D-E982-048E1ED1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6D3A-6817-B8E0-4138-DA0F6A9D28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7890D-48D5-3AF7-63CE-4249E4DC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Producers</a:t>
            </a:r>
            <a:r>
              <a:rPr lang="en-US" dirty="0"/>
              <a:t>: Components that generate events</a:t>
            </a:r>
          </a:p>
          <a:p>
            <a:pPr lvl="1"/>
            <a:r>
              <a:rPr lang="en-US" dirty="0"/>
              <a:t>Detect changes or an action that needs to be communicated, and creates an event</a:t>
            </a:r>
          </a:p>
          <a:p>
            <a:pPr lvl="1"/>
            <a:r>
              <a:rPr lang="en-US" dirty="0"/>
              <a:t>Typically, producers are user-facing components or services that trigger actions based on business logic</a:t>
            </a:r>
          </a:p>
          <a:p>
            <a:pPr lvl="2"/>
            <a:r>
              <a:rPr lang="en-US" dirty="0"/>
              <a:t>Recall the button presses in Angular</a:t>
            </a:r>
          </a:p>
          <a:p>
            <a:r>
              <a:rPr lang="en-US" b="1" dirty="0"/>
              <a:t>Consumers</a:t>
            </a:r>
            <a:r>
              <a:rPr lang="en-US" dirty="0"/>
              <a:t>: Components that react to events</a:t>
            </a:r>
          </a:p>
          <a:p>
            <a:pPr lvl="1"/>
            <a:r>
              <a:rPr lang="en-US" dirty="0"/>
              <a:t>Consumers subscribe to events and take appropriate actions when an event they are interested in occurs</a:t>
            </a:r>
          </a:p>
          <a:p>
            <a:pPr lvl="1"/>
            <a:r>
              <a:rPr lang="en-US" dirty="0"/>
              <a:t>A consumer may act by updating databases, invoking business logic, or notifying other services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E33DE8-B799-CE7B-6692-FB8151CD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169559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2BEF-10CE-4C9C-4493-25D2AA05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376FF-8754-6492-DABA-6604FF7AB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0414F-9D2E-A348-1C28-647C7BD0B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Event Brokers (Event Bus)</a:t>
            </a:r>
            <a:r>
              <a:rPr lang="en-US" dirty="0"/>
              <a:t>: Middleware that facilitates communication between producers and consumers</a:t>
            </a:r>
          </a:p>
          <a:p>
            <a:pPr lvl="1"/>
            <a:r>
              <a:rPr lang="en-US" dirty="0"/>
              <a:t>Decouples the event generation from event handling by ensuring that producers to not directly interact with consumers.</a:t>
            </a:r>
          </a:p>
          <a:p>
            <a:pPr lvl="1"/>
            <a:r>
              <a:rPr lang="en-US" dirty="0"/>
              <a:t>The event bus enables the asynchronous, reliable delivery of events</a:t>
            </a:r>
          </a:p>
          <a:p>
            <a:r>
              <a:rPr lang="en-US" b="1" dirty="0"/>
              <a:t>Event Handlers</a:t>
            </a:r>
            <a:r>
              <a:rPr lang="en-US" dirty="0"/>
              <a:t>: Logic that executes in response to an event</a:t>
            </a:r>
          </a:p>
          <a:p>
            <a:pPr lvl="1"/>
            <a:r>
              <a:rPr lang="en-US" dirty="0"/>
              <a:t>i.e. this is the code a developer writes to perform some action after reading a published event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5E9743-696E-5203-9801-302BFDEF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239222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E219-E9B7-4307-8E50-E3001F23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C1B8D-2789-3F00-FCFD-D97DCB6AB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C94F9-59F9-5C92-72A4-59AFBFA8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Event Bus/Brokers perform the following roles</a:t>
            </a:r>
          </a:p>
          <a:p>
            <a:r>
              <a:rPr lang="en-US" b="1" dirty="0"/>
              <a:t>Event Dispatching</a:t>
            </a:r>
            <a:r>
              <a:rPr lang="en-US" dirty="0"/>
              <a:t>: Ensures events are sent from the producer to the appropriate consumer</a:t>
            </a:r>
            <a:endParaRPr lang="en-US" b="1" dirty="0"/>
          </a:p>
          <a:p>
            <a:r>
              <a:rPr lang="en-US" b="1" dirty="0"/>
              <a:t>Message Queuing</a:t>
            </a:r>
            <a:r>
              <a:rPr lang="en-US" dirty="0"/>
              <a:t>: It can temporarily store events, allowing consumers to process events at their own pace. This ensures reliable delivery even if consumers are temporarily unavailable</a:t>
            </a:r>
          </a:p>
          <a:p>
            <a:r>
              <a:rPr lang="en-US" b="1" dirty="0"/>
              <a:t>Routing</a:t>
            </a:r>
            <a:r>
              <a:rPr lang="en-US" dirty="0"/>
              <a:t>: Determines which consumers should receive specific events</a:t>
            </a:r>
            <a:endParaRPr lang="en-US" b="1" dirty="0"/>
          </a:p>
          <a:p>
            <a:r>
              <a:rPr lang="en-US" b="1" dirty="0"/>
              <a:t>Persistence</a:t>
            </a:r>
            <a:r>
              <a:rPr lang="en-US" dirty="0"/>
              <a:t>: Some event brokers can persist events, enabling replay and auditing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D4B8C-39D5-F716-79E6-39780963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114450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4A0F-AD25-F68A-61C9-733931AE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52F5-2925-8134-B3A1-945B283042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F9B1C-416F-1536-3C5C-4919057E8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Event Production</a:t>
            </a:r>
            <a:r>
              <a:rPr lang="en-US" dirty="0"/>
              <a:t>: A producer detects a change or action and generates an event</a:t>
            </a:r>
          </a:p>
          <a:p>
            <a:r>
              <a:rPr lang="en-US" b="1" dirty="0"/>
              <a:t>Event Propagation</a:t>
            </a:r>
            <a:r>
              <a:rPr lang="en-US" dirty="0"/>
              <a:t>: The event is transmitted to an event broker</a:t>
            </a:r>
          </a:p>
          <a:p>
            <a:r>
              <a:rPr lang="en-US" b="1" dirty="0"/>
              <a:t>Event Consumption</a:t>
            </a:r>
            <a:r>
              <a:rPr lang="en-US" dirty="0"/>
              <a:t>: Consumers subscribe to relevant events and react accordingly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8784EB-8012-3252-70AC-73E3F264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35966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ECCB-3774-6A3F-1ED1-CFFB9EAD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83B11-A426-916F-5D44-B117E7F09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4FBD8-605D-3EB4-C4B9-D3C226B65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Independent components can be scaled based on load</a:t>
            </a:r>
          </a:p>
          <a:p>
            <a:r>
              <a:rPr lang="en-US" b="1" dirty="0"/>
              <a:t>Loosely Coupled Systems</a:t>
            </a:r>
            <a:endParaRPr lang="en-US" dirty="0"/>
          </a:p>
          <a:p>
            <a:pPr lvl="1"/>
            <a:r>
              <a:rPr lang="en-US" dirty="0"/>
              <a:t>Produces and consumers operation independently, reducing dependencies</a:t>
            </a:r>
          </a:p>
          <a:p>
            <a:r>
              <a:rPr lang="en-US" b="1" dirty="0"/>
              <a:t>Real-Time Processing</a:t>
            </a:r>
            <a:endParaRPr lang="en-US" dirty="0"/>
          </a:p>
          <a:p>
            <a:pPr lvl="1"/>
            <a:r>
              <a:rPr lang="en-US" dirty="0"/>
              <a:t>Events are processed as they occur, enabling near-instantaneous responses.</a:t>
            </a:r>
          </a:p>
          <a:p>
            <a:r>
              <a:rPr lang="en-US" b="1" dirty="0"/>
              <a:t>Flexibility</a:t>
            </a:r>
            <a:endParaRPr lang="en-US" dirty="0"/>
          </a:p>
          <a:p>
            <a:pPr lvl="1"/>
            <a:r>
              <a:rPr lang="en-US" dirty="0"/>
              <a:t>Adding new features or consumers doesn’t require significant changes to existing components</a:t>
            </a:r>
          </a:p>
          <a:p>
            <a:r>
              <a:rPr lang="en-US" b="1" dirty="0"/>
              <a:t>Resilience</a:t>
            </a:r>
            <a:endParaRPr lang="en-US" dirty="0"/>
          </a:p>
          <a:p>
            <a:pPr lvl="1"/>
            <a:r>
              <a:rPr lang="en-US" dirty="0"/>
              <a:t>Systems can continue operations even if some components fail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19A79B-94AE-0C0C-FAAE-161307C9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Advantages</a:t>
            </a:r>
          </a:p>
        </p:txBody>
      </p:sp>
    </p:spTree>
    <p:extLst>
      <p:ext uri="{BB962C8B-B14F-4D97-AF65-F5344CB8AC3E}">
        <p14:creationId xmlns:p14="http://schemas.microsoft.com/office/powerpoint/2010/main" val="67193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17AF-B663-DC28-7CA5-BEE29B69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B2E1A-9339-29A3-9408-04E29B8C8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F525F-0426-7826-AC74-668C5EA24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Simple Event Processing</a:t>
            </a:r>
          </a:p>
          <a:p>
            <a:pPr lvl="1"/>
            <a:r>
              <a:rPr lang="en-US" dirty="0"/>
              <a:t>Events trigger specific actions in near real-time.</a:t>
            </a:r>
          </a:p>
          <a:p>
            <a:pPr lvl="1"/>
            <a:r>
              <a:rPr lang="en-US" dirty="0"/>
              <a:t>Example: A motion sensor turning on lights.</a:t>
            </a:r>
          </a:p>
          <a:p>
            <a:r>
              <a:rPr lang="en-US" b="1" dirty="0"/>
              <a:t>Event Stream Processing</a:t>
            </a:r>
            <a:endParaRPr lang="en-US" dirty="0"/>
          </a:p>
          <a:p>
            <a:pPr lvl="1"/>
            <a:r>
              <a:rPr lang="en-US" dirty="0"/>
              <a:t>Events are continuously analyzed in a stream.</a:t>
            </a:r>
          </a:p>
          <a:p>
            <a:pPr lvl="1"/>
            <a:r>
              <a:rPr lang="en-US" dirty="0"/>
              <a:t>Example: Real-time fraud detection in banking.</a:t>
            </a:r>
          </a:p>
          <a:p>
            <a:r>
              <a:rPr lang="en-US" b="1" dirty="0"/>
              <a:t>Complex Event Processing (CEP)</a:t>
            </a:r>
          </a:p>
          <a:p>
            <a:pPr lvl="1"/>
            <a:r>
              <a:rPr lang="en-US" dirty="0"/>
              <a:t>Multiple events are analyzed and correlated to identify patterns.</a:t>
            </a:r>
          </a:p>
          <a:p>
            <a:pPr lvl="1"/>
            <a:r>
              <a:rPr lang="en-US" dirty="0"/>
              <a:t>Example: Monitoring stock trading for unusual patterns.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789391-56EF-1730-CE7E-4B71A53B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Types of EDA Patterns</a:t>
            </a:r>
          </a:p>
        </p:txBody>
      </p:sp>
    </p:spTree>
    <p:extLst>
      <p:ext uri="{BB962C8B-B14F-4D97-AF65-F5344CB8AC3E}">
        <p14:creationId xmlns:p14="http://schemas.microsoft.com/office/powerpoint/2010/main" val="368372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A03B-8DB5-F665-74C6-661464AE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39C3F-6B15-4A09-A25B-B4F65A038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A52E5-D43E-830A-4912-1DC68867A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Real-Time Applications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Chat applications, live dashboards, and notifications.</a:t>
            </a:r>
          </a:p>
          <a:p>
            <a:r>
              <a:rPr lang="en-US" sz="2400" b="1" dirty="0"/>
              <a:t>IoT Systems:</a:t>
            </a:r>
          </a:p>
          <a:p>
            <a:pPr lvl="1"/>
            <a:r>
              <a:rPr lang="en-US" dirty="0"/>
              <a:t>Sensors generating events for devices to act upon.</a:t>
            </a:r>
          </a:p>
          <a:p>
            <a:r>
              <a:rPr lang="en-US" sz="2400" b="1" dirty="0"/>
              <a:t>Microservices Communication:</a:t>
            </a:r>
          </a:p>
          <a:p>
            <a:pPr lvl="1"/>
            <a:r>
              <a:rPr lang="en-US" dirty="0"/>
              <a:t>Services communicating asynchronously to achieve scalability.</a:t>
            </a:r>
          </a:p>
          <a:p>
            <a:r>
              <a:rPr lang="en-US" sz="2400" b="1" dirty="0"/>
              <a:t>E-commerce:</a:t>
            </a:r>
          </a:p>
          <a:p>
            <a:pPr lvl="1"/>
            <a:r>
              <a:rPr lang="en-US" dirty="0"/>
              <a:t>Order processing workflows with events like "Order Placed" or "Item Shipped."</a:t>
            </a:r>
          </a:p>
          <a:p>
            <a:r>
              <a:rPr lang="en-US" sz="2400" b="1" dirty="0"/>
              <a:t>Event Sourcing:</a:t>
            </a:r>
          </a:p>
          <a:p>
            <a:pPr lvl="1"/>
            <a:r>
              <a:rPr lang="en-US" dirty="0"/>
              <a:t>Capturing the state changes as a sequence of events for reconstructing state.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F77792-EEF1-3752-3BC3-95D9A686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Common Use Cases</a:t>
            </a:r>
          </a:p>
        </p:txBody>
      </p:sp>
    </p:spTree>
    <p:extLst>
      <p:ext uri="{BB962C8B-B14F-4D97-AF65-F5344CB8AC3E}">
        <p14:creationId xmlns:p14="http://schemas.microsoft.com/office/powerpoint/2010/main" val="23687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3B10-292D-AFC5-3B60-1286FF14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02434-0227-B315-0912-1039923FCB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47559-E348-28E4-24A3-4C150C8E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Event Brokers/Message Queues:</a:t>
            </a:r>
          </a:p>
          <a:p>
            <a:pPr lvl="1"/>
            <a:r>
              <a:rPr lang="en-US" dirty="0"/>
              <a:t>Kafka, RabbitMQ, Apache Pulsar, Amazon SNS/SQS, Azure Event Grid.</a:t>
            </a:r>
          </a:p>
          <a:p>
            <a:r>
              <a:rPr lang="en-US" b="1" dirty="0"/>
              <a:t>Streaming Frameworks:</a:t>
            </a:r>
          </a:p>
          <a:p>
            <a:pPr lvl="1"/>
            <a:r>
              <a:rPr lang="en-US" dirty="0"/>
              <a:t>Apache Flink, Apache Storm, Spark Streaming.</a:t>
            </a:r>
          </a:p>
          <a:p>
            <a:r>
              <a:rPr lang="en-US" b="1" dirty="0"/>
              <a:t>Serverless Solutions:</a:t>
            </a:r>
          </a:p>
          <a:p>
            <a:pPr lvl="1"/>
            <a:r>
              <a:rPr lang="en-US" dirty="0"/>
              <a:t>AWS Lambda, Azure Functions, Google Cloud Functions.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E5BC56-B5F9-9C22-79D2-735F2D81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Key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1176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9E0F-BA19-C7E1-978A-E2EA9CA7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33FD4-8BE2-AB38-3E72-8D12B68818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158D5-481A-F929-CC06-2F90166D2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00" b="1" dirty="0"/>
              <a:t>Event Duplication:</a:t>
            </a:r>
          </a:p>
          <a:p>
            <a:pPr lvl="1"/>
            <a:r>
              <a:rPr lang="en-US" sz="2300" dirty="0"/>
              <a:t>Handling duplicate events due to retries or distributed systems.</a:t>
            </a:r>
          </a:p>
          <a:p>
            <a:pPr lvl="1"/>
            <a:r>
              <a:rPr lang="en-US" sz="2300" dirty="0"/>
              <a:t>Solution: Use idempotent consumers.</a:t>
            </a:r>
          </a:p>
          <a:p>
            <a:r>
              <a:rPr lang="en-US" sz="2300" b="1" dirty="0"/>
              <a:t>Debugging</a:t>
            </a:r>
            <a:r>
              <a:rPr lang="en-US" sz="2300" dirty="0"/>
              <a:t>:</a:t>
            </a:r>
          </a:p>
          <a:p>
            <a:pPr lvl="1"/>
            <a:r>
              <a:rPr lang="en-US" sz="2300" dirty="0"/>
              <a:t>Asynchronous nature can make debugging challenging.</a:t>
            </a:r>
          </a:p>
          <a:p>
            <a:pPr lvl="1"/>
            <a:r>
              <a:rPr lang="en-US" sz="2300" dirty="0"/>
              <a:t>Solution: Implement logging and monitoring.</a:t>
            </a:r>
          </a:p>
          <a:p>
            <a:r>
              <a:rPr lang="en-US" sz="2300" b="1" dirty="0"/>
              <a:t>Complexity</a:t>
            </a:r>
            <a:r>
              <a:rPr lang="en-US" sz="2300" dirty="0"/>
              <a:t>:</a:t>
            </a:r>
          </a:p>
          <a:p>
            <a:pPr lvl="1"/>
            <a:r>
              <a:rPr lang="en-US" sz="2300" dirty="0"/>
              <a:t>Designing and maintaining loosely coupled systems can be difficult.</a:t>
            </a:r>
          </a:p>
          <a:p>
            <a:pPr lvl="1"/>
            <a:r>
              <a:rPr lang="en-US" sz="2300" dirty="0"/>
              <a:t>Solution: Proper documentation and use of standards.</a:t>
            </a:r>
          </a:p>
          <a:p>
            <a:r>
              <a:rPr lang="en-US" sz="2300" b="1" dirty="0"/>
              <a:t>Data Consistency:</a:t>
            </a:r>
          </a:p>
          <a:p>
            <a:pPr lvl="1"/>
            <a:r>
              <a:rPr lang="en-US" sz="2300" dirty="0"/>
              <a:t>Ensuring eventual consistency across components.</a:t>
            </a:r>
          </a:p>
          <a:p>
            <a:pPr lvl="1"/>
            <a:r>
              <a:rPr lang="en-US" sz="2300" dirty="0"/>
              <a:t>Solution: Adopt patterns like Saga for distributed transactions.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A53FC9-47F9-851D-FA12-D2F17ECA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Challenges</a:t>
            </a:r>
          </a:p>
        </p:txBody>
      </p:sp>
    </p:spTree>
    <p:extLst>
      <p:ext uri="{BB962C8B-B14F-4D97-AF65-F5344CB8AC3E}">
        <p14:creationId xmlns:p14="http://schemas.microsoft.com/office/powerpoint/2010/main" val="308936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8CEC-F01E-D73E-2B3A-49404834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5084A-2355-2004-F661-6213E4C805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0D56957-A80C-8E73-6FD7-6E3EEC7D3BF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D9F58-F3D7-A859-2398-E93E89A0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55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364D-2DD0-6CE2-6EBF-30323D57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134DA-9BC7-052E-B21C-1ECBAED3A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1294F-FD6D-FEC0-D792-F41F80B57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Apache Kafka is an open-source, distributed event stream platform, used to handle large volumes of real-time data.</a:t>
            </a:r>
          </a:p>
          <a:p>
            <a:r>
              <a:rPr lang="en-US" dirty="0"/>
              <a:t>Kafka is typically used for managing streams of data, event sourcing, log aggregation, and message brokering.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DB3F0D-192A-134E-01A5-D1B7F866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268375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D2C2-0455-D12A-8F32-92A8758C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8CA0F-F4A1-12EA-0FFE-18F57BEB06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44B2E-660C-6C38-2F8E-1721B1045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Key Concepts</a:t>
            </a:r>
          </a:p>
          <a:p>
            <a:r>
              <a:rPr lang="en-US" b="1" dirty="0"/>
              <a:t>Topic</a:t>
            </a:r>
            <a:r>
              <a:rPr lang="en-US" dirty="0"/>
              <a:t>: A named locations, in which event data (messages) are stored. Topics are </a:t>
            </a:r>
            <a:r>
              <a:rPr lang="en-US" b="1" dirty="0"/>
              <a:t>partitioned</a:t>
            </a:r>
            <a:endParaRPr lang="en-US" dirty="0"/>
          </a:p>
          <a:p>
            <a:r>
              <a:rPr lang="en-US" b="1" dirty="0"/>
              <a:t>Partition</a:t>
            </a:r>
            <a:r>
              <a:rPr lang="en-US" dirty="0"/>
              <a:t>: An immutable sequence of messages within a topic. Essentially it is a “bucket” that holds some of the messages for a topic.</a:t>
            </a:r>
          </a:p>
          <a:p>
            <a:r>
              <a:rPr lang="en-US" b="1" dirty="0"/>
              <a:t>Producer</a:t>
            </a:r>
            <a:r>
              <a:rPr lang="en-US" dirty="0"/>
              <a:t>: An application or service that sends data to Kafka Topics</a:t>
            </a:r>
          </a:p>
          <a:p>
            <a:r>
              <a:rPr lang="en-US" b="1" dirty="0"/>
              <a:t>Consumer</a:t>
            </a:r>
            <a:r>
              <a:rPr lang="en-US" dirty="0"/>
              <a:t>: An application or service that subscribes to Kafka topics and processes the message data.</a:t>
            </a:r>
          </a:p>
          <a:p>
            <a:r>
              <a:rPr lang="en-US" b="1" dirty="0"/>
              <a:t>Broker</a:t>
            </a:r>
            <a:r>
              <a:rPr lang="en-US" dirty="0"/>
              <a:t>: Core servers in Kafka which manage the storage, distribution and retrieval of event messages.</a:t>
            </a:r>
          </a:p>
          <a:p>
            <a:pPr lvl="1"/>
            <a:r>
              <a:rPr lang="en-US" dirty="0"/>
              <a:t>Brokers may also replication partition data across the Kafka cluster to ensure fault tolerance.</a:t>
            </a:r>
          </a:p>
          <a:p>
            <a:r>
              <a:rPr lang="en-US" b="1" dirty="0"/>
              <a:t>Consumer Groups</a:t>
            </a:r>
            <a:r>
              <a:rPr lang="en-US" dirty="0"/>
              <a:t>: A group of consumers that jointly consume messages from one or more Kafka topics.</a:t>
            </a:r>
          </a:p>
          <a:p>
            <a:pPr lvl="1"/>
            <a:r>
              <a:rPr lang="en-US" dirty="0"/>
              <a:t>Each consumer within a group reads data from exclusive partitions</a:t>
            </a:r>
          </a:p>
          <a:p>
            <a:pPr lvl="1"/>
            <a:r>
              <a:rPr lang="en-US" dirty="0"/>
              <a:t>Consumer groups enable Kafka to handle parallel processing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A3F23-A032-8DE8-572A-1EF37D2E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140647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502E8-77B2-E3D4-1BA4-6B561FD5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708CE-C3B4-6ECF-8F12-47CC640108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701D3-885C-1687-D2FB-7626C28B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Cluster</a:t>
            </a:r>
            <a:r>
              <a:rPr lang="en-US" dirty="0"/>
              <a:t>: Kafka is designed to run as a cluster, where multiple brokers work together to handle the ingestion, storage, and processing of messages.</a:t>
            </a:r>
          </a:p>
          <a:p>
            <a:r>
              <a:rPr lang="en-US" b="1" dirty="0">
                <a:highlight>
                  <a:srgbClr val="FFFF00"/>
                </a:highlight>
              </a:rPr>
              <a:t>Replication</a:t>
            </a:r>
            <a:r>
              <a:rPr lang="en-US" dirty="0"/>
              <a:t>: Kafka provides fault tolerance through replication. Each partition in Kafka can be replicated across different brokers. This ensures that data is not lost even if a broker fails.</a:t>
            </a:r>
          </a:p>
          <a:p>
            <a:r>
              <a:rPr lang="en-US" b="1" dirty="0">
                <a:highlight>
                  <a:srgbClr val="FFFF00"/>
                </a:highlight>
              </a:rPr>
              <a:t>Log-based Storage</a:t>
            </a:r>
            <a:r>
              <a:rPr lang="en-US" dirty="0"/>
              <a:t>: Kafka stores messages in a log format, which means messages are written to disk and can be retained for a configurable period (even after consumption), enabling use cases like event sourcing and replaying data.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1881D9-16D0-E323-1D4D-9EC5F591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3818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1EE3-B609-D526-7CAA-71B2A2D1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C30DE-041D-6883-BB50-49A322612F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B4D50-4CC4-6DC0-AE46-311A0F7F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High Throughput</a:t>
            </a:r>
            <a:r>
              <a:rPr lang="en-US" dirty="0"/>
              <a:t>: Kafka can handle high throughput, supporting millions of messages per second. It is optimized for both writing and reading high volumes of data.</a:t>
            </a:r>
          </a:p>
          <a:p>
            <a:r>
              <a:rPr lang="en-US" b="1" dirty="0">
                <a:highlight>
                  <a:srgbClr val="FFFF00"/>
                </a:highlight>
              </a:rPr>
              <a:t>Scalability</a:t>
            </a:r>
            <a:r>
              <a:rPr lang="en-US" dirty="0"/>
              <a:t>: Kafka clusters can scale horizontally by adding more brokers and partitions. It can handle a massive amount of data.</a:t>
            </a:r>
          </a:p>
          <a:p>
            <a:r>
              <a:rPr lang="en-US" b="1" dirty="0">
                <a:highlight>
                  <a:srgbClr val="FFFF00"/>
                </a:highlight>
              </a:rPr>
              <a:t>Fault Tolerance</a:t>
            </a:r>
            <a:r>
              <a:rPr lang="en-US" dirty="0"/>
              <a:t>: Kafka's replication mechanism ensures that data is fault-tolerant, even in the case of broker failures. Data remains available due to multiple replicas of partitions.</a:t>
            </a:r>
          </a:p>
          <a:p>
            <a:r>
              <a:rPr lang="en-US" b="1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: Kafka is designed to work as a distributed system, with no single point of failure. It can span multiple data centers or cloud regions.</a:t>
            </a:r>
          </a:p>
          <a:p>
            <a:r>
              <a:rPr lang="en-US" b="1" dirty="0">
                <a:highlight>
                  <a:srgbClr val="FFFF00"/>
                </a:highlight>
              </a:rPr>
              <a:t>Durability</a:t>
            </a:r>
            <a:r>
              <a:rPr lang="en-US" dirty="0"/>
              <a:t>: Kafka ensures that data is safely stored and can be replayed at any time, making it reliable for storing critical data.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B60B9-B7B3-633F-50C5-0A9F57B2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Advantages</a:t>
            </a:r>
          </a:p>
        </p:txBody>
      </p:sp>
    </p:spTree>
    <p:extLst>
      <p:ext uri="{BB962C8B-B14F-4D97-AF65-F5344CB8AC3E}">
        <p14:creationId xmlns:p14="http://schemas.microsoft.com/office/powerpoint/2010/main" val="420393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D9EE-6D0E-CB80-184E-E3005DF4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C41B5-6081-D410-1EB8-3282657AF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D888E-813E-8514-EC52-78A806E35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Operational Complexity</a:t>
            </a:r>
            <a:r>
              <a:rPr lang="en-US" dirty="0"/>
              <a:t>: Running a Kafka cluster can be complex, requiring knowledge of topics, partitions, replication, and scaling strategies.</a:t>
            </a:r>
          </a:p>
          <a:p>
            <a:r>
              <a:rPr lang="en-US" b="1" dirty="0">
                <a:highlight>
                  <a:srgbClr val="FFFF00"/>
                </a:highlight>
              </a:rPr>
              <a:t>Message Duplication</a:t>
            </a:r>
            <a:r>
              <a:rPr lang="en-US" dirty="0"/>
              <a:t>: Due to Kafka’s distributed nature, message duplication can occur, and consumers need to be designed to handle it.</a:t>
            </a:r>
          </a:p>
          <a:p>
            <a:r>
              <a:rPr lang="en-US" b="1" dirty="0">
                <a:highlight>
                  <a:srgbClr val="FFFF00"/>
                </a:highlight>
              </a:rPr>
              <a:t>Event Ordering</a:t>
            </a:r>
            <a:r>
              <a:rPr lang="en-US" dirty="0"/>
              <a:t>: Kafka guarantees ordering of events within a partition, but across partitions, ordering may not be maintained.</a:t>
            </a:r>
          </a:p>
          <a:p>
            <a:r>
              <a:rPr lang="en-US" b="1" dirty="0">
                <a:highlight>
                  <a:srgbClr val="FFFF00"/>
                </a:highlight>
              </a:rPr>
              <a:t>Latency</a:t>
            </a:r>
            <a:r>
              <a:rPr lang="en-US" dirty="0"/>
              <a:t>: While Kafka supports low-latency processing, in some use cases (e.g., near real-time data processing), additional optimizations may be necessary to reduce latency.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08DBAA-AE06-348C-9655-9333B316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</a:t>
            </a:r>
            <a:r>
              <a:rPr lang="en-US" dirty="0" err="1"/>
              <a:t>Diadvantages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8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CC0A-B2F0-28A8-1FEC-A83C34E4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89C8-2ED3-BA1A-C684-4E4119DCC7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53CA9-515F-6824-6770-BEEA1DEF6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Event Streams are continuous flows of events that are produced and consumed in real time</a:t>
            </a:r>
          </a:p>
          <a:p>
            <a:pPr lvl="1"/>
            <a:r>
              <a:rPr lang="en-US" dirty="0"/>
              <a:t>These are the topics and partitions</a:t>
            </a:r>
          </a:p>
          <a:p>
            <a:pPr lvl="1"/>
            <a:r>
              <a:rPr lang="en-US" dirty="0"/>
              <a:t>As long as your producers and consumers constantly (or at least always available to) produce and consume that data, we consider it to be an event stream.</a:t>
            </a:r>
          </a:p>
          <a:p>
            <a:r>
              <a:rPr lang="en-US" dirty="0"/>
              <a:t>Kafka Streams is a library for Java and Scala that allows developers to build real-time stream processing applications on top of Kafka.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329A69-1378-B523-26FD-D7E0D82E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Streams</a:t>
            </a:r>
          </a:p>
        </p:txBody>
      </p:sp>
    </p:spTree>
    <p:extLst>
      <p:ext uri="{BB962C8B-B14F-4D97-AF65-F5344CB8AC3E}">
        <p14:creationId xmlns:p14="http://schemas.microsoft.com/office/powerpoint/2010/main" val="68597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67BD-C5D4-80C2-4412-2E542FE3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D583F-E67B-4FF7-8862-B91732809F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62F08-60B2-C281-FD5C-32E26FB0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Kafka Streams enables:</a:t>
            </a:r>
          </a:p>
          <a:p>
            <a:pPr lvl="1"/>
            <a:r>
              <a:rPr lang="en-US" b="1" dirty="0"/>
              <a:t>Real Time Analytics</a:t>
            </a:r>
            <a:r>
              <a:rPr lang="en-US" dirty="0"/>
              <a:t>: events can be processed and analyzed in real-time</a:t>
            </a:r>
          </a:p>
          <a:p>
            <a:pPr lvl="1"/>
            <a:r>
              <a:rPr lang="en-US" b="1" dirty="0"/>
              <a:t>Event Sourcing</a:t>
            </a:r>
            <a:r>
              <a:rPr lang="en-US" dirty="0"/>
              <a:t>: Events can be replaced or processed in order to reconstruct system state at any point</a:t>
            </a:r>
          </a:p>
          <a:p>
            <a:pPr lvl="1"/>
            <a:r>
              <a:rPr lang="en-US" b="1" dirty="0"/>
              <a:t>Real-time Data Integration</a:t>
            </a:r>
            <a:r>
              <a:rPr lang="en-US" dirty="0"/>
              <a:t>: Allows for distributed systems (like microservices architectures) to exchange data through Kafka topics</a:t>
            </a:r>
          </a:p>
          <a:p>
            <a:pPr lvl="1"/>
            <a:r>
              <a:rPr lang="en-US" b="1" dirty="0"/>
              <a:t>Log Aggregation</a:t>
            </a:r>
            <a:r>
              <a:rPr lang="en-US" dirty="0"/>
              <a:t>: Logs from various systems or serviced can be streamed to Kafka to centralize logging, making it easier to process and analyze logs in real-time.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6C82B5-381E-1043-9429-D6B1A31D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Streams</a:t>
            </a:r>
          </a:p>
        </p:txBody>
      </p:sp>
    </p:spTree>
    <p:extLst>
      <p:ext uri="{BB962C8B-B14F-4D97-AF65-F5344CB8AC3E}">
        <p14:creationId xmlns:p14="http://schemas.microsoft.com/office/powerpoint/2010/main" val="156484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7108</TotalTime>
  <Words>1454</Words>
  <Application>Microsoft Office PowerPoint</Application>
  <PresentationFormat>On-screen Show (4:3)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2_Custom Design</vt:lpstr>
      <vt:lpstr>Event Driven Architecture and Kafka</vt:lpstr>
      <vt:lpstr>Outline</vt:lpstr>
      <vt:lpstr>PowerPoint Presentation</vt:lpstr>
      <vt:lpstr>Event Driven Architecture</vt:lpstr>
      <vt:lpstr>EDA | Core Concepts</vt:lpstr>
      <vt:lpstr>EDA | Core Concepts</vt:lpstr>
      <vt:lpstr>EDA | Core Concepts</vt:lpstr>
      <vt:lpstr>EDA | Core Concepts</vt:lpstr>
      <vt:lpstr>EDA | Core Concepts</vt:lpstr>
      <vt:lpstr>EDA | Advantages</vt:lpstr>
      <vt:lpstr>EDA | Types of EDA Patterns</vt:lpstr>
      <vt:lpstr>EDA | Common Use Cases</vt:lpstr>
      <vt:lpstr>EDA | Key Technologies</vt:lpstr>
      <vt:lpstr>EDA | Challenges</vt:lpstr>
      <vt:lpstr>PowerPoint Presentation</vt:lpstr>
      <vt:lpstr>Kafka</vt:lpstr>
      <vt:lpstr>Kafka</vt:lpstr>
      <vt:lpstr>Kafka Architecture</vt:lpstr>
      <vt:lpstr>Kafka Advantages</vt:lpstr>
      <vt:lpstr>Kafka Diadvantages</vt:lpstr>
      <vt:lpstr>Kafka Streams</vt:lpstr>
      <vt:lpstr>Kafka Streams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11</cp:revision>
  <cp:lastPrinted>2016-06-20T20:58:50Z</cp:lastPrinted>
  <dcterms:created xsi:type="dcterms:W3CDTF">2016-11-09T18:19:08Z</dcterms:created>
  <dcterms:modified xsi:type="dcterms:W3CDTF">2026-03-11T14:51:31Z</dcterms:modified>
</cp:coreProperties>
</file>