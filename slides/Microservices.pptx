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68"/>
  </p:notesMasterIdLst>
  <p:handoutMasterIdLst>
    <p:handoutMasterId r:id="rId69"/>
  </p:handoutMasterIdLst>
  <p:sldIdLst>
    <p:sldId id="256" r:id="rId2"/>
    <p:sldId id="257" r:id="rId3"/>
    <p:sldId id="357" r:id="rId4"/>
    <p:sldId id="343" r:id="rId5"/>
    <p:sldId id="360" r:id="rId6"/>
    <p:sldId id="361" r:id="rId7"/>
    <p:sldId id="383" r:id="rId8"/>
    <p:sldId id="359" r:id="rId9"/>
    <p:sldId id="364" r:id="rId10"/>
    <p:sldId id="365" r:id="rId11"/>
    <p:sldId id="366" r:id="rId12"/>
    <p:sldId id="367" r:id="rId13"/>
    <p:sldId id="384" r:id="rId14"/>
    <p:sldId id="368" r:id="rId15"/>
    <p:sldId id="369" r:id="rId16"/>
    <p:sldId id="377" r:id="rId17"/>
    <p:sldId id="378" r:id="rId18"/>
    <p:sldId id="379" r:id="rId19"/>
    <p:sldId id="380" r:id="rId20"/>
    <p:sldId id="385" r:id="rId21"/>
    <p:sldId id="370" r:id="rId22"/>
    <p:sldId id="371" r:id="rId23"/>
    <p:sldId id="372" r:id="rId24"/>
    <p:sldId id="373" r:id="rId25"/>
    <p:sldId id="374" r:id="rId26"/>
    <p:sldId id="362" r:id="rId27"/>
    <p:sldId id="363" r:id="rId28"/>
    <p:sldId id="381" r:id="rId29"/>
    <p:sldId id="388" r:id="rId30"/>
    <p:sldId id="382" r:id="rId31"/>
    <p:sldId id="376" r:id="rId32"/>
    <p:sldId id="392" r:id="rId33"/>
    <p:sldId id="393" r:id="rId34"/>
    <p:sldId id="394" r:id="rId35"/>
    <p:sldId id="395" r:id="rId36"/>
    <p:sldId id="396" r:id="rId37"/>
    <p:sldId id="375" r:id="rId38"/>
    <p:sldId id="402" r:id="rId39"/>
    <p:sldId id="386" r:id="rId40"/>
    <p:sldId id="400" r:id="rId41"/>
    <p:sldId id="387" r:id="rId42"/>
    <p:sldId id="401" r:id="rId43"/>
    <p:sldId id="405" r:id="rId44"/>
    <p:sldId id="397" r:id="rId45"/>
    <p:sldId id="398" r:id="rId46"/>
    <p:sldId id="399" r:id="rId47"/>
    <p:sldId id="389" r:id="rId48"/>
    <p:sldId id="390" r:id="rId49"/>
    <p:sldId id="410" r:id="rId50"/>
    <p:sldId id="411" r:id="rId51"/>
    <p:sldId id="412" r:id="rId52"/>
    <p:sldId id="413" r:id="rId53"/>
    <p:sldId id="415" r:id="rId54"/>
    <p:sldId id="417" r:id="rId55"/>
    <p:sldId id="406" r:id="rId56"/>
    <p:sldId id="407" r:id="rId57"/>
    <p:sldId id="422" r:id="rId58"/>
    <p:sldId id="421" r:id="rId59"/>
    <p:sldId id="408" r:id="rId60"/>
    <p:sldId id="409" r:id="rId61"/>
    <p:sldId id="418" r:id="rId62"/>
    <p:sldId id="419" r:id="rId63"/>
    <p:sldId id="420" r:id="rId64"/>
    <p:sldId id="423" r:id="rId65"/>
    <p:sldId id="424" r:id="rId66"/>
    <p:sldId id="425" r:id="rId6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95" d="100"/>
          <a:sy n="95" d="100"/>
        </p:scale>
        <p:origin x="204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3/11/2026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3/11/2026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Microservices with Spring</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normAutofit lnSpcReduction="10000"/>
          </a:bodyPr>
          <a:lstStyle/>
          <a:p>
            <a:r>
              <a:rPr lang="en-US" dirty="0"/>
              <a:t>Intro to Microservices</a:t>
            </a:r>
          </a:p>
          <a:p>
            <a:r>
              <a:rPr lang="en-US" dirty="0"/>
              <a:t>Microservices vs Monolithic Applications</a:t>
            </a:r>
          </a:p>
          <a:p>
            <a:r>
              <a:rPr lang="en-US" dirty="0"/>
              <a:t>Microservice Architecture</a:t>
            </a:r>
          </a:p>
          <a:p>
            <a:r>
              <a:rPr lang="en-US" dirty="0"/>
              <a:t>Microservices – Considerations</a:t>
            </a:r>
          </a:p>
          <a:p>
            <a:r>
              <a:rPr lang="en-US" dirty="0"/>
              <a:t>Spring Cloud</a:t>
            </a:r>
          </a:p>
          <a:p>
            <a:r>
              <a:rPr lang="en-US" dirty="0"/>
              <a:t>Service Discovery</a:t>
            </a:r>
          </a:p>
          <a:p>
            <a:r>
              <a:rPr lang="en-US" dirty="0"/>
              <a:t>API Gateway</a:t>
            </a:r>
          </a:p>
          <a:p>
            <a:r>
              <a:rPr lang="en-US" dirty="0"/>
              <a:t>Load Balancing</a:t>
            </a:r>
          </a:p>
          <a:p>
            <a:r>
              <a:rPr lang="en-US" dirty="0"/>
              <a:t>Circuit Breaker Design Pattern</a:t>
            </a:r>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Intro to Microservices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fontScale="92500" lnSpcReduction="20000"/>
          </a:bodyPr>
          <a:lstStyle/>
          <a:p>
            <a:r>
              <a:rPr lang="en-US" b="1" dirty="0"/>
              <a:t>Microservice Architecture</a:t>
            </a:r>
            <a:r>
              <a:rPr lang="en-US" dirty="0"/>
              <a:t> (MSA) describes a way of designing software applications as suites of independently deployable services.</a:t>
            </a:r>
            <a:endParaRPr lang="en-US" b="1" dirty="0"/>
          </a:p>
          <a:p>
            <a:r>
              <a:rPr lang="en-US" dirty="0"/>
              <a:t>Each service runs its own process and communicates using lightweight mechanisms, often an HTTP resource API.</a:t>
            </a:r>
          </a:p>
          <a:p>
            <a:r>
              <a:rPr lang="en-US" dirty="0"/>
              <a:t>These services are built around business capabilities and independently deployable by fully automated deployment machinery</a:t>
            </a:r>
          </a:p>
          <a:p>
            <a:r>
              <a:rPr lang="en-US" dirty="0"/>
              <a:t>There is a bare minimum of centralized management of these services, which may be written in different programming languages and use different data storage technologies</a:t>
            </a:r>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What are Microservices?</a:t>
            </a:r>
          </a:p>
        </p:txBody>
      </p:sp>
    </p:spTree>
    <p:extLst>
      <p:ext uri="{BB962C8B-B14F-4D97-AF65-F5344CB8AC3E}">
        <p14:creationId xmlns:p14="http://schemas.microsoft.com/office/powerpoint/2010/main" val="19574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904F-3062-715C-A289-2E4AB4C687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4EBDA1-6D49-0F07-3BF3-F37821C790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6" name="Content Placeholder 5">
            <a:extLst>
              <a:ext uri="{FF2B5EF4-FFF2-40B4-BE49-F238E27FC236}">
                <a16:creationId xmlns:a16="http://schemas.microsoft.com/office/drawing/2014/main" id="{B4A623AE-ACBB-B40F-772A-866E49801FAC}"/>
              </a:ext>
            </a:extLst>
          </p:cNvPr>
          <p:cNvSpPr>
            <a:spLocks noGrp="1"/>
          </p:cNvSpPr>
          <p:nvPr>
            <p:ph idx="1"/>
          </p:nvPr>
        </p:nvSpPr>
        <p:spPr/>
        <p:txBody>
          <a:bodyPr>
            <a:normAutofit/>
          </a:bodyPr>
          <a:lstStyle/>
          <a:p>
            <a:r>
              <a:rPr lang="en-US" dirty="0"/>
              <a:t>A service can generate alerts, log data, support user interfaces, handle user identification or authentication, and perform various other tasks.</a:t>
            </a:r>
          </a:p>
        </p:txBody>
      </p:sp>
      <p:sp>
        <p:nvSpPr>
          <p:cNvPr id="5" name="Title 4">
            <a:extLst>
              <a:ext uri="{FF2B5EF4-FFF2-40B4-BE49-F238E27FC236}">
                <a16:creationId xmlns:a16="http://schemas.microsoft.com/office/drawing/2014/main" id="{9AE3532A-76EA-305F-F64D-93A29CDCCE73}"/>
              </a:ext>
            </a:extLst>
          </p:cNvPr>
          <p:cNvSpPr>
            <a:spLocks noGrp="1"/>
          </p:cNvSpPr>
          <p:nvPr>
            <p:ph type="title"/>
          </p:nvPr>
        </p:nvSpPr>
        <p:spPr/>
        <p:txBody>
          <a:bodyPr/>
          <a:lstStyle/>
          <a:p>
            <a:r>
              <a:rPr lang="en-US" dirty="0"/>
              <a:t>What are Microservices?</a:t>
            </a:r>
          </a:p>
        </p:txBody>
      </p:sp>
      <p:pic>
        <p:nvPicPr>
          <p:cNvPr id="2" name="Picture 1">
            <a:extLst>
              <a:ext uri="{FF2B5EF4-FFF2-40B4-BE49-F238E27FC236}">
                <a16:creationId xmlns:a16="http://schemas.microsoft.com/office/drawing/2014/main" id="{748E2A14-5C6E-05CC-88A5-B9963A42D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4445" y="3168853"/>
            <a:ext cx="4815109" cy="3194859"/>
          </a:xfrm>
          <a:prstGeom prst="rect">
            <a:avLst/>
          </a:prstGeom>
        </p:spPr>
      </p:pic>
    </p:spTree>
    <p:extLst>
      <p:ext uri="{BB962C8B-B14F-4D97-AF65-F5344CB8AC3E}">
        <p14:creationId xmlns:p14="http://schemas.microsoft.com/office/powerpoint/2010/main" val="275962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93477-2DD6-200C-93FC-D76490939F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D2375D-2FDA-970A-AAA2-547DAB6C6E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Content Placeholder 5">
            <a:extLst>
              <a:ext uri="{FF2B5EF4-FFF2-40B4-BE49-F238E27FC236}">
                <a16:creationId xmlns:a16="http://schemas.microsoft.com/office/drawing/2014/main" id="{AB3CC7DD-25D6-FDA0-FD27-64FCCBFF0B03}"/>
              </a:ext>
            </a:extLst>
          </p:cNvPr>
          <p:cNvSpPr>
            <a:spLocks noGrp="1"/>
          </p:cNvSpPr>
          <p:nvPr>
            <p:ph idx="1"/>
          </p:nvPr>
        </p:nvSpPr>
        <p:spPr/>
        <p:txBody>
          <a:bodyPr>
            <a:normAutofit fontScale="92500" lnSpcReduction="10000"/>
          </a:bodyPr>
          <a:lstStyle/>
          <a:p>
            <a:r>
              <a:rPr lang="en-US" dirty="0"/>
              <a:t>The microservice paradigm provides development teams with a more decentralized approach for building software.</a:t>
            </a:r>
          </a:p>
          <a:p>
            <a:r>
              <a:rPr lang="en-US" dirty="0"/>
              <a:t>Most companies in the world – like </a:t>
            </a:r>
            <a:r>
              <a:rPr lang="en-US" i="1" dirty="0"/>
              <a:t>Amazon, Netflix, Uber, Etsy, etc…</a:t>
            </a:r>
            <a:r>
              <a:rPr lang="en-US" dirty="0"/>
              <a:t>, have adopted the microservices architecture for developing their applications.</a:t>
            </a:r>
          </a:p>
          <a:p>
            <a:r>
              <a:rPr lang="en-US" dirty="0"/>
              <a:t>Over time, these enterprises dismantled their monolithic applications and refactored them into microservice-based architectures.</a:t>
            </a:r>
          </a:p>
          <a:p>
            <a:r>
              <a:rPr lang="en-US" dirty="0"/>
              <a:t>This has given them scaling advantages, greater business agility, and increased profits</a:t>
            </a:r>
          </a:p>
        </p:txBody>
      </p:sp>
      <p:sp>
        <p:nvSpPr>
          <p:cNvPr id="5" name="Title 4">
            <a:extLst>
              <a:ext uri="{FF2B5EF4-FFF2-40B4-BE49-F238E27FC236}">
                <a16:creationId xmlns:a16="http://schemas.microsoft.com/office/drawing/2014/main" id="{431E86DE-A6C1-E563-3762-B6BBFB86434C}"/>
              </a:ext>
            </a:extLst>
          </p:cNvPr>
          <p:cNvSpPr>
            <a:spLocks noGrp="1"/>
          </p:cNvSpPr>
          <p:nvPr>
            <p:ph type="title"/>
          </p:nvPr>
        </p:nvSpPr>
        <p:spPr/>
        <p:txBody>
          <a:bodyPr/>
          <a:lstStyle/>
          <a:p>
            <a:r>
              <a:rPr lang="en-US" dirty="0"/>
              <a:t>What are Microservices?</a:t>
            </a:r>
          </a:p>
        </p:txBody>
      </p:sp>
    </p:spTree>
    <p:extLst>
      <p:ext uri="{BB962C8B-B14F-4D97-AF65-F5344CB8AC3E}">
        <p14:creationId xmlns:p14="http://schemas.microsoft.com/office/powerpoint/2010/main" val="216101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70C02-F0FF-F581-C2FE-7B419FBD41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3884C4-64A2-CD39-6308-5E73121B645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0F01D2BA-25F2-CF74-89D1-CBBB0122564B}"/>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Microservices vs Monolithic Applications</a:t>
            </a:r>
          </a:p>
        </p:txBody>
      </p:sp>
      <p:pic>
        <p:nvPicPr>
          <p:cNvPr id="6" name="Picture 5">
            <a:extLst>
              <a:ext uri="{FF2B5EF4-FFF2-40B4-BE49-F238E27FC236}">
                <a16:creationId xmlns:a16="http://schemas.microsoft.com/office/drawing/2014/main" id="{0C6D710F-051D-0698-E548-2B7BAE80D6F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684848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F96C2-BBA3-62F7-1979-88FC850194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625C3B-9DB6-1F5D-DDCF-F43A4F51DA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Content Placeholder 5">
            <a:extLst>
              <a:ext uri="{FF2B5EF4-FFF2-40B4-BE49-F238E27FC236}">
                <a16:creationId xmlns:a16="http://schemas.microsoft.com/office/drawing/2014/main" id="{CC736F56-6284-C2C4-E82C-500EE7BFE12E}"/>
              </a:ext>
            </a:extLst>
          </p:cNvPr>
          <p:cNvSpPr>
            <a:spLocks noGrp="1"/>
          </p:cNvSpPr>
          <p:nvPr>
            <p:ph idx="1"/>
          </p:nvPr>
        </p:nvSpPr>
        <p:spPr/>
        <p:txBody>
          <a:bodyPr>
            <a:normAutofit lnSpcReduction="10000"/>
          </a:bodyPr>
          <a:lstStyle/>
          <a:p>
            <a:r>
              <a:rPr lang="en-US" dirty="0"/>
              <a:t>Monolithic applications are ones which are build as a single unit.</a:t>
            </a:r>
          </a:p>
          <a:p>
            <a:r>
              <a:rPr lang="en-US" dirty="0"/>
              <a:t>A typical Enterprise Application using a Monolithic structure contains three (3) major parts:</a:t>
            </a:r>
          </a:p>
          <a:p>
            <a:pPr lvl="1"/>
            <a:r>
              <a:rPr lang="en-US" b="1" dirty="0"/>
              <a:t>User Interface </a:t>
            </a:r>
            <a:r>
              <a:rPr lang="en-US" dirty="0"/>
              <a:t>– might consist of HTML pages and JavaScript running on the user’s browser.</a:t>
            </a:r>
          </a:p>
          <a:p>
            <a:pPr lvl="1"/>
            <a:r>
              <a:rPr lang="en-US" b="1" dirty="0"/>
              <a:t>Server-Side application </a:t>
            </a:r>
            <a:r>
              <a:rPr lang="en-US" dirty="0"/>
              <a:t>– handles incoming data (like HTTP requests), executes domain logic, retrieves and updates data from the database, and updates the user interface.</a:t>
            </a:r>
          </a:p>
          <a:p>
            <a:pPr lvl="1"/>
            <a:r>
              <a:rPr lang="en-US" b="1" dirty="0"/>
              <a:t>Databases </a:t>
            </a:r>
            <a:r>
              <a:rPr lang="en-US" dirty="0"/>
              <a:t>– stores data on tables of an RDBMS</a:t>
            </a:r>
          </a:p>
        </p:txBody>
      </p:sp>
      <p:sp>
        <p:nvSpPr>
          <p:cNvPr id="5" name="Title 4">
            <a:extLst>
              <a:ext uri="{FF2B5EF4-FFF2-40B4-BE49-F238E27FC236}">
                <a16:creationId xmlns:a16="http://schemas.microsoft.com/office/drawing/2014/main" id="{C6776C1E-5B16-2840-7FE6-8D8EDCF7F1B4}"/>
              </a:ext>
            </a:extLst>
          </p:cNvPr>
          <p:cNvSpPr>
            <a:spLocks noGrp="1"/>
          </p:cNvSpPr>
          <p:nvPr>
            <p:ph type="title"/>
          </p:nvPr>
        </p:nvSpPr>
        <p:spPr/>
        <p:txBody>
          <a:bodyPr/>
          <a:lstStyle/>
          <a:p>
            <a:r>
              <a:rPr lang="en-US" dirty="0"/>
              <a:t>Monolithic Applications</a:t>
            </a:r>
          </a:p>
        </p:txBody>
      </p:sp>
    </p:spTree>
    <p:extLst>
      <p:ext uri="{BB962C8B-B14F-4D97-AF65-F5344CB8AC3E}">
        <p14:creationId xmlns:p14="http://schemas.microsoft.com/office/powerpoint/2010/main" val="291629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1C4D-08A8-12B3-4CBD-4C6A747565D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D36E7F-52CE-14A5-22AF-CEE4429D68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Content Placeholder 5">
            <a:extLst>
              <a:ext uri="{FF2B5EF4-FFF2-40B4-BE49-F238E27FC236}">
                <a16:creationId xmlns:a16="http://schemas.microsoft.com/office/drawing/2014/main" id="{C930DB15-EBFD-5731-E34D-F95C603BD7F0}"/>
              </a:ext>
            </a:extLst>
          </p:cNvPr>
          <p:cNvSpPr>
            <a:spLocks noGrp="1"/>
          </p:cNvSpPr>
          <p:nvPr>
            <p:ph idx="1"/>
          </p:nvPr>
        </p:nvSpPr>
        <p:spPr>
          <a:xfrm>
            <a:off x="380010" y="1481446"/>
            <a:ext cx="8383980" cy="4882266"/>
          </a:xfrm>
        </p:spPr>
        <p:txBody>
          <a:bodyPr>
            <a:normAutofit fontScale="85000" lnSpcReduction="20000"/>
          </a:bodyPr>
          <a:lstStyle/>
          <a:p>
            <a:r>
              <a:rPr lang="en-US" dirty="0"/>
              <a:t>In a Monolithic structure, any minor changes in the system require building and deploying a new version of the server-side application</a:t>
            </a:r>
          </a:p>
          <a:p>
            <a:r>
              <a:rPr lang="en-US" dirty="0"/>
              <a:t>Over time, it’s often hard to keep a good modular structure, making it harder to manage changes that ought to only affect one module within that application</a:t>
            </a:r>
          </a:p>
          <a:p>
            <a:r>
              <a:rPr lang="en-US" dirty="0"/>
              <a:t>Scaling requires scaling of the entire application, rather than the parts of it that require the most resources.</a:t>
            </a:r>
          </a:p>
          <a:p>
            <a:r>
              <a:rPr lang="en-US" dirty="0"/>
              <a:t>These frustrations have led to the microservice architectural style, building applications as suites of services.</a:t>
            </a:r>
          </a:p>
          <a:p>
            <a:r>
              <a:rPr lang="en-US" dirty="0"/>
              <a:t>When services are independently deployable, and scalable, each service provides a firm module boundary.</a:t>
            </a:r>
          </a:p>
          <a:p>
            <a:r>
              <a:rPr lang="en-US" dirty="0"/>
              <a:t>Each service can also be developing in distinct programming languages</a:t>
            </a:r>
          </a:p>
        </p:txBody>
      </p:sp>
      <p:sp>
        <p:nvSpPr>
          <p:cNvPr id="5" name="Title 4">
            <a:extLst>
              <a:ext uri="{FF2B5EF4-FFF2-40B4-BE49-F238E27FC236}">
                <a16:creationId xmlns:a16="http://schemas.microsoft.com/office/drawing/2014/main" id="{3F4D2CF4-E9A0-B75D-BC8C-760D843CA2E3}"/>
              </a:ext>
            </a:extLst>
          </p:cNvPr>
          <p:cNvSpPr>
            <a:spLocks noGrp="1"/>
          </p:cNvSpPr>
          <p:nvPr>
            <p:ph type="title"/>
          </p:nvPr>
        </p:nvSpPr>
        <p:spPr/>
        <p:txBody>
          <a:bodyPr/>
          <a:lstStyle/>
          <a:p>
            <a:r>
              <a:rPr lang="en-US" dirty="0"/>
              <a:t>Microservices vs Monolithic</a:t>
            </a:r>
          </a:p>
        </p:txBody>
      </p:sp>
    </p:spTree>
    <p:extLst>
      <p:ext uri="{BB962C8B-B14F-4D97-AF65-F5344CB8AC3E}">
        <p14:creationId xmlns:p14="http://schemas.microsoft.com/office/powerpoint/2010/main" val="192519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0405-F1E6-5C01-16B9-CBE66644D3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5582A5-81DA-D636-548B-4F962169AE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Title 4">
            <a:extLst>
              <a:ext uri="{FF2B5EF4-FFF2-40B4-BE49-F238E27FC236}">
                <a16:creationId xmlns:a16="http://schemas.microsoft.com/office/drawing/2014/main" id="{CD75FC82-31B9-5E82-B860-9A3C3DCA1009}"/>
              </a:ext>
            </a:extLst>
          </p:cNvPr>
          <p:cNvSpPr>
            <a:spLocks noGrp="1"/>
          </p:cNvSpPr>
          <p:nvPr>
            <p:ph type="title"/>
          </p:nvPr>
        </p:nvSpPr>
        <p:spPr/>
        <p:txBody>
          <a:bodyPr/>
          <a:lstStyle/>
          <a:p>
            <a:r>
              <a:rPr lang="en-US" dirty="0"/>
              <a:t>Microservices vs Monolithic</a:t>
            </a:r>
          </a:p>
        </p:txBody>
      </p:sp>
      <p:pic>
        <p:nvPicPr>
          <p:cNvPr id="7" name="Content Placeholder 4">
            <a:extLst>
              <a:ext uri="{FF2B5EF4-FFF2-40B4-BE49-F238E27FC236}">
                <a16:creationId xmlns:a16="http://schemas.microsoft.com/office/drawing/2014/main" id="{BB38535A-917F-C4E6-44E5-31D7046459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2412" y="1529024"/>
            <a:ext cx="6870345" cy="4834688"/>
          </a:xfrm>
        </p:spPr>
      </p:pic>
    </p:spTree>
    <p:extLst>
      <p:ext uri="{BB962C8B-B14F-4D97-AF65-F5344CB8AC3E}">
        <p14:creationId xmlns:p14="http://schemas.microsoft.com/office/powerpoint/2010/main" val="985558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0331-466B-C06A-9B44-7CF5DAF6E8F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9B2CBE-1611-0D3A-1AAE-FDFB1A7F97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Content Placeholder 5">
            <a:extLst>
              <a:ext uri="{FF2B5EF4-FFF2-40B4-BE49-F238E27FC236}">
                <a16:creationId xmlns:a16="http://schemas.microsoft.com/office/drawing/2014/main" id="{EEC49B96-1A74-022F-9CCB-BBA6AD991EDE}"/>
              </a:ext>
            </a:extLst>
          </p:cNvPr>
          <p:cNvSpPr>
            <a:spLocks noGrp="1"/>
          </p:cNvSpPr>
          <p:nvPr>
            <p:ph idx="1"/>
          </p:nvPr>
        </p:nvSpPr>
        <p:spPr>
          <a:xfrm>
            <a:off x="380010" y="1481446"/>
            <a:ext cx="8383980" cy="4882266"/>
          </a:xfrm>
        </p:spPr>
        <p:txBody>
          <a:bodyPr>
            <a:normAutofit fontScale="85000" lnSpcReduction="20000"/>
          </a:bodyPr>
          <a:lstStyle/>
          <a:p>
            <a:r>
              <a:rPr lang="en-US" dirty="0"/>
              <a:t>Services are deployed and updated independently, which gives more flexibility.</a:t>
            </a:r>
          </a:p>
          <a:p>
            <a:r>
              <a:rPr lang="en-US" dirty="0"/>
              <a:t>Monolithic uses a shared database. </a:t>
            </a:r>
          </a:p>
          <a:p>
            <a:r>
              <a:rPr lang="en-US" dirty="0"/>
              <a:t>Each microservice uses a single database. Each service can use any database system (MySQL, Oracle, NoSQL) depending on its business logic.</a:t>
            </a:r>
          </a:p>
          <a:p>
            <a:r>
              <a:rPr lang="en-US" dirty="0"/>
              <a:t>Monolithic applications are tightly coupled. Here, it is difficult to change technology or language or framework. MSA ensures that the services are loosely coupled, so it's easy to make changes since services are independent to each other.</a:t>
            </a:r>
          </a:p>
          <a:p>
            <a:r>
              <a:rPr lang="en-US" dirty="0"/>
              <a:t>Monolithic applications are more compatible with Waterfall Model. </a:t>
            </a:r>
          </a:p>
          <a:p>
            <a:r>
              <a:rPr lang="en-US" dirty="0"/>
              <a:t>MSA is adaptable with Agile Methodology for developing applications.</a:t>
            </a:r>
          </a:p>
        </p:txBody>
      </p:sp>
      <p:sp>
        <p:nvSpPr>
          <p:cNvPr id="5" name="Title 4">
            <a:extLst>
              <a:ext uri="{FF2B5EF4-FFF2-40B4-BE49-F238E27FC236}">
                <a16:creationId xmlns:a16="http://schemas.microsoft.com/office/drawing/2014/main" id="{465D1F4D-4232-F862-90CA-45BD923F957D}"/>
              </a:ext>
            </a:extLst>
          </p:cNvPr>
          <p:cNvSpPr>
            <a:spLocks noGrp="1"/>
          </p:cNvSpPr>
          <p:nvPr>
            <p:ph type="title"/>
          </p:nvPr>
        </p:nvSpPr>
        <p:spPr/>
        <p:txBody>
          <a:bodyPr/>
          <a:lstStyle/>
          <a:p>
            <a:r>
              <a:rPr lang="en-US" dirty="0"/>
              <a:t>Microservices vs Monolithic</a:t>
            </a:r>
          </a:p>
        </p:txBody>
      </p:sp>
    </p:spTree>
    <p:extLst>
      <p:ext uri="{BB962C8B-B14F-4D97-AF65-F5344CB8AC3E}">
        <p14:creationId xmlns:p14="http://schemas.microsoft.com/office/powerpoint/2010/main" val="240325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878A5-8768-C19C-4142-3AF7993FD84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00B250-9317-E038-8AC6-A2CE885556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Title 4">
            <a:extLst>
              <a:ext uri="{FF2B5EF4-FFF2-40B4-BE49-F238E27FC236}">
                <a16:creationId xmlns:a16="http://schemas.microsoft.com/office/drawing/2014/main" id="{F1BB7FF2-2246-EEE0-F608-16978DAFAC11}"/>
              </a:ext>
            </a:extLst>
          </p:cNvPr>
          <p:cNvSpPr>
            <a:spLocks noGrp="1"/>
          </p:cNvSpPr>
          <p:nvPr>
            <p:ph type="title"/>
          </p:nvPr>
        </p:nvSpPr>
        <p:spPr/>
        <p:txBody>
          <a:bodyPr/>
          <a:lstStyle/>
          <a:p>
            <a:r>
              <a:rPr lang="en-US" dirty="0"/>
              <a:t>Microservices vs Monolithic</a:t>
            </a:r>
          </a:p>
        </p:txBody>
      </p:sp>
      <p:graphicFrame>
        <p:nvGraphicFramePr>
          <p:cNvPr id="7" name="Content Placeholder 4">
            <a:extLst>
              <a:ext uri="{FF2B5EF4-FFF2-40B4-BE49-F238E27FC236}">
                <a16:creationId xmlns:a16="http://schemas.microsoft.com/office/drawing/2014/main" id="{BA4EA7CE-54B9-AD58-F4A1-300D25EB9C68}"/>
              </a:ext>
            </a:extLst>
          </p:cNvPr>
          <p:cNvGraphicFramePr>
            <a:graphicFrameLocks noGrp="1"/>
          </p:cNvGraphicFramePr>
          <p:nvPr>
            <p:ph idx="1"/>
            <p:extLst>
              <p:ext uri="{D42A27DB-BD31-4B8C-83A1-F6EECF244321}">
                <p14:modId xmlns:p14="http://schemas.microsoft.com/office/powerpoint/2010/main" val="812940476"/>
              </p:ext>
            </p:extLst>
          </p:nvPr>
        </p:nvGraphicFramePr>
        <p:xfrm>
          <a:off x="457200" y="1719263"/>
          <a:ext cx="8229600" cy="468376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370840">
                <a:tc>
                  <a:txBody>
                    <a:bodyPr/>
                    <a:lstStyle/>
                    <a:p>
                      <a:pPr algn="ctr"/>
                      <a:r>
                        <a:rPr lang="en-US" sz="1500" dirty="0"/>
                        <a:t>Monolithic</a:t>
                      </a:r>
                    </a:p>
                  </a:txBody>
                  <a:tcPr anchor="ctr"/>
                </a:tc>
                <a:tc>
                  <a:txBody>
                    <a:bodyPr/>
                    <a:lstStyle/>
                    <a:p>
                      <a:pPr algn="ctr"/>
                      <a:r>
                        <a:rPr lang="en-US" sz="1500" dirty="0"/>
                        <a:t>MSA</a:t>
                      </a:r>
                    </a:p>
                  </a:txBody>
                  <a:tcPr anchor="ctr"/>
                </a:tc>
                <a:extLst>
                  <a:ext uri="{0D108BD9-81ED-4DB2-BD59-A6C34878D82A}">
                    <a16:rowId xmlns:a16="http://schemas.microsoft.com/office/drawing/2014/main" val="10000"/>
                  </a:ext>
                </a:extLst>
              </a:tr>
              <a:tr h="370840">
                <a:tc>
                  <a:txBody>
                    <a:bodyPr/>
                    <a:lstStyle/>
                    <a:p>
                      <a:r>
                        <a:rPr lang="en-US" sz="1500"/>
                        <a:t>Simple to develop and deploy.</a:t>
                      </a:r>
                    </a:p>
                  </a:txBody>
                  <a:tcPr anchor="ctr"/>
                </a:tc>
                <a:tc>
                  <a:txBody>
                    <a:bodyPr/>
                    <a:lstStyle/>
                    <a:p>
                      <a:r>
                        <a:rPr lang="en-US" sz="1500"/>
                        <a:t>Complex and hard to develop and deploy.</a:t>
                      </a:r>
                    </a:p>
                  </a:txBody>
                  <a:tcPr anchor="ctr"/>
                </a:tc>
                <a:extLst>
                  <a:ext uri="{0D108BD9-81ED-4DB2-BD59-A6C34878D82A}">
                    <a16:rowId xmlns:a16="http://schemas.microsoft.com/office/drawing/2014/main" val="10001"/>
                  </a:ext>
                </a:extLst>
              </a:tr>
              <a:tr h="370840">
                <a:tc>
                  <a:txBody>
                    <a:bodyPr/>
                    <a:lstStyle/>
                    <a:p>
                      <a:r>
                        <a:rPr lang="en-US" sz="1500" dirty="0"/>
                        <a:t>Code changes affect the entire system.</a:t>
                      </a:r>
                    </a:p>
                  </a:txBody>
                  <a:tcPr anchor="ctr"/>
                </a:tc>
                <a:tc>
                  <a:txBody>
                    <a:bodyPr/>
                    <a:lstStyle/>
                    <a:p>
                      <a:r>
                        <a:rPr lang="en-US" sz="1500"/>
                        <a:t>Only the microservice that is changed would be affected.</a:t>
                      </a:r>
                    </a:p>
                  </a:txBody>
                  <a:tcPr anchor="ctr"/>
                </a:tc>
                <a:extLst>
                  <a:ext uri="{0D108BD9-81ED-4DB2-BD59-A6C34878D82A}">
                    <a16:rowId xmlns:a16="http://schemas.microsoft.com/office/drawing/2014/main" val="10002"/>
                  </a:ext>
                </a:extLst>
              </a:tr>
              <a:tr h="370840">
                <a:tc>
                  <a:txBody>
                    <a:bodyPr/>
                    <a:lstStyle/>
                    <a:p>
                      <a:r>
                        <a:rPr lang="en-US" sz="1500" dirty="0"/>
                        <a:t>One codebase and one shared database.</a:t>
                      </a:r>
                    </a:p>
                  </a:txBody>
                  <a:tcPr anchor="ctr"/>
                </a:tc>
                <a:tc>
                  <a:txBody>
                    <a:bodyPr/>
                    <a:lstStyle/>
                    <a:p>
                      <a:r>
                        <a:rPr lang="en-US" sz="1500"/>
                        <a:t>A codebase and database for each microservice.</a:t>
                      </a:r>
                    </a:p>
                  </a:txBody>
                  <a:tcPr anchor="ctr"/>
                </a:tc>
                <a:extLst>
                  <a:ext uri="{0D108BD9-81ED-4DB2-BD59-A6C34878D82A}">
                    <a16:rowId xmlns:a16="http://schemas.microsoft.com/office/drawing/2014/main" val="10003"/>
                  </a:ext>
                </a:extLst>
              </a:tr>
              <a:tr h="370840">
                <a:tc>
                  <a:txBody>
                    <a:bodyPr/>
                    <a:lstStyle/>
                    <a:p>
                      <a:r>
                        <a:rPr lang="en-US" sz="1500"/>
                        <a:t>Hard to scale or upgrade.</a:t>
                      </a:r>
                    </a:p>
                  </a:txBody>
                  <a:tcPr anchor="ctr"/>
                </a:tc>
                <a:tc>
                  <a:txBody>
                    <a:bodyPr/>
                    <a:lstStyle/>
                    <a:p>
                      <a:r>
                        <a:rPr lang="en-US" sz="1500" dirty="0"/>
                        <a:t>Easy to scale and upgrade.</a:t>
                      </a:r>
                    </a:p>
                  </a:txBody>
                  <a:tcPr anchor="ctr"/>
                </a:tc>
                <a:extLst>
                  <a:ext uri="{0D108BD9-81ED-4DB2-BD59-A6C34878D82A}">
                    <a16:rowId xmlns:a16="http://schemas.microsoft.com/office/drawing/2014/main" val="10004"/>
                  </a:ext>
                </a:extLst>
              </a:tr>
              <a:tr h="370840">
                <a:tc>
                  <a:txBody>
                    <a:bodyPr/>
                    <a:lstStyle/>
                    <a:p>
                      <a:r>
                        <a:rPr lang="en-US" sz="1500" dirty="0"/>
                        <a:t>Less expensive and faster to develop.</a:t>
                      </a:r>
                    </a:p>
                  </a:txBody>
                  <a:tcPr anchor="ctr"/>
                </a:tc>
                <a:tc>
                  <a:txBody>
                    <a:bodyPr/>
                    <a:lstStyle/>
                    <a:p>
                      <a:r>
                        <a:rPr lang="en-US" sz="1500" dirty="0"/>
                        <a:t>More expensive and takes more time to develop.</a:t>
                      </a:r>
                    </a:p>
                  </a:txBody>
                  <a:tcPr anchor="ctr"/>
                </a:tc>
                <a:extLst>
                  <a:ext uri="{0D108BD9-81ED-4DB2-BD59-A6C34878D82A}">
                    <a16:rowId xmlns:a16="http://schemas.microsoft.com/office/drawing/2014/main" val="10005"/>
                  </a:ext>
                </a:extLst>
              </a:tr>
              <a:tr h="370840">
                <a:tc>
                  <a:txBody>
                    <a:bodyPr/>
                    <a:lstStyle/>
                    <a:p>
                      <a:r>
                        <a:rPr lang="en-US" sz="1500"/>
                        <a:t>Monolithic uses a shared database.</a:t>
                      </a:r>
                    </a:p>
                  </a:txBody>
                  <a:tcPr anchor="ctr"/>
                </a:tc>
                <a:tc>
                  <a:txBody>
                    <a:bodyPr/>
                    <a:lstStyle/>
                    <a:p>
                      <a:r>
                        <a:rPr lang="en-US" sz="1500"/>
                        <a:t>Each microservice uses a single database. Each service can use any database system (MySQL, Oracle, NoSQL) depending on its business logic.</a:t>
                      </a:r>
                    </a:p>
                  </a:txBody>
                  <a:tcPr anchor="ctr"/>
                </a:tc>
                <a:extLst>
                  <a:ext uri="{0D108BD9-81ED-4DB2-BD59-A6C34878D82A}">
                    <a16:rowId xmlns:a16="http://schemas.microsoft.com/office/drawing/2014/main" val="10006"/>
                  </a:ext>
                </a:extLst>
              </a:tr>
              <a:tr h="370840">
                <a:tc>
                  <a:txBody>
                    <a:bodyPr/>
                    <a:lstStyle/>
                    <a:p>
                      <a:r>
                        <a:rPr lang="en-US" sz="1500"/>
                        <a:t>Monolithic applications are tightly coupled. Here, it is difficult to change technology or language or framework.</a:t>
                      </a:r>
                    </a:p>
                  </a:txBody>
                  <a:tcPr anchor="ctr"/>
                </a:tc>
                <a:tc>
                  <a:txBody>
                    <a:bodyPr/>
                    <a:lstStyle/>
                    <a:p>
                      <a:r>
                        <a:rPr lang="en-US" sz="1500" dirty="0"/>
                        <a:t>MSA ensures that the services are loosely coupled, so it's easy to make changes since services are independent to each other.</a:t>
                      </a:r>
                    </a:p>
                  </a:txBody>
                  <a:tcPr anchor="ctr"/>
                </a:tc>
                <a:extLst>
                  <a:ext uri="{0D108BD9-81ED-4DB2-BD59-A6C34878D82A}">
                    <a16:rowId xmlns:a16="http://schemas.microsoft.com/office/drawing/2014/main" val="10007"/>
                  </a:ext>
                </a:extLst>
              </a:tr>
              <a:tr h="370840">
                <a:tc>
                  <a:txBody>
                    <a:bodyPr/>
                    <a:lstStyle/>
                    <a:p>
                      <a:r>
                        <a:rPr lang="en-US" sz="1500"/>
                        <a:t>The entire system can be affected by a single error or bug.</a:t>
                      </a:r>
                    </a:p>
                  </a:txBody>
                  <a:tcPr anchor="ctr"/>
                </a:tc>
                <a:tc>
                  <a:txBody>
                    <a:bodyPr/>
                    <a:lstStyle/>
                    <a:p>
                      <a:r>
                        <a:rPr lang="en-US" sz="1500" dirty="0"/>
                        <a:t>The entire system is shielded from the error or bug on one </a:t>
                      </a:r>
                      <a:r>
                        <a:rPr lang="en-US" sz="1500" dirty="0" err="1"/>
                        <a:t>microservice</a:t>
                      </a:r>
                      <a:r>
                        <a:rPr lang="en-US" sz="1500" dirty="0"/>
                        <a:t>.</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1501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5330F-68AD-F834-DFEA-584A553BBA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139087-8BFC-2BD5-1F57-8DBFF2BD662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12</a:t>
            </a:fld>
            <a:endParaRPr lang="en-US"/>
          </a:p>
        </p:txBody>
      </p:sp>
      <p:sp>
        <p:nvSpPr>
          <p:cNvPr id="4" name="Google Shape;212;p15">
            <a:extLst>
              <a:ext uri="{FF2B5EF4-FFF2-40B4-BE49-F238E27FC236}">
                <a16:creationId xmlns:a16="http://schemas.microsoft.com/office/drawing/2014/main" id="{796D8186-48BF-0E68-5801-76EE698D3845}"/>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Microservice Architecture</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B804EC4C-C88E-7F87-6D8C-D4D0F2DD9E7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42910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247B1-EDB4-0240-5A1B-CF9B332BD5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5B26D1-DC7D-2E13-9EC0-9841554641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Content Placeholder 5">
            <a:extLst>
              <a:ext uri="{FF2B5EF4-FFF2-40B4-BE49-F238E27FC236}">
                <a16:creationId xmlns:a16="http://schemas.microsoft.com/office/drawing/2014/main" id="{BF1BB472-5AD7-FB9B-2270-07A106320FEA}"/>
              </a:ext>
            </a:extLst>
          </p:cNvPr>
          <p:cNvSpPr>
            <a:spLocks noGrp="1"/>
          </p:cNvSpPr>
          <p:nvPr>
            <p:ph idx="1"/>
          </p:nvPr>
        </p:nvSpPr>
        <p:spPr>
          <a:xfrm>
            <a:off x="380010" y="1481446"/>
            <a:ext cx="8383980" cy="4882266"/>
          </a:xfrm>
        </p:spPr>
        <p:txBody>
          <a:bodyPr>
            <a:normAutofit fontScale="92500" lnSpcReduction="20000"/>
          </a:bodyPr>
          <a:lstStyle/>
          <a:p>
            <a:r>
              <a:rPr lang="en-US" dirty="0"/>
              <a:t>Microservices architecture encourages us to break our application into multiple individually deployable components</a:t>
            </a:r>
          </a:p>
          <a:p>
            <a:r>
              <a:rPr lang="en-US" dirty="0"/>
              <a:t>Here, a component refers to a unit of software that is independently replaceable and upgradeable</a:t>
            </a:r>
          </a:p>
          <a:p>
            <a:r>
              <a:rPr lang="en-US" dirty="0"/>
              <a:t>These components expose their functionality as </a:t>
            </a:r>
            <a:r>
              <a:rPr lang="en-US" b="1" dirty="0"/>
              <a:t>services</a:t>
            </a:r>
            <a:r>
              <a:rPr lang="en-US" dirty="0"/>
              <a:t> and serve a business purpose.</a:t>
            </a:r>
          </a:p>
          <a:p>
            <a:r>
              <a:rPr lang="en-US" dirty="0"/>
              <a:t>Components are loosely coupled and communicate with each other through pre-defined protocols, such as message queues, HTTP request/response models, and so on.</a:t>
            </a:r>
          </a:p>
          <a:p>
            <a:r>
              <a:rPr lang="en-US" dirty="0"/>
              <a:t>Services are organized based on the business capabilities, not by the technology.</a:t>
            </a:r>
          </a:p>
        </p:txBody>
      </p:sp>
      <p:sp>
        <p:nvSpPr>
          <p:cNvPr id="5" name="Title 4">
            <a:extLst>
              <a:ext uri="{FF2B5EF4-FFF2-40B4-BE49-F238E27FC236}">
                <a16:creationId xmlns:a16="http://schemas.microsoft.com/office/drawing/2014/main" id="{92520C85-4903-5932-8F2F-C31FBC87F796}"/>
              </a:ext>
            </a:extLst>
          </p:cNvPr>
          <p:cNvSpPr>
            <a:spLocks noGrp="1"/>
          </p:cNvSpPr>
          <p:nvPr>
            <p:ph type="title"/>
          </p:nvPr>
        </p:nvSpPr>
        <p:spPr/>
        <p:txBody>
          <a:bodyPr/>
          <a:lstStyle/>
          <a:p>
            <a:r>
              <a:rPr lang="en-US" dirty="0"/>
              <a:t>Characteristics of Microservices Architecture</a:t>
            </a:r>
          </a:p>
        </p:txBody>
      </p:sp>
    </p:spTree>
    <p:extLst>
      <p:ext uri="{BB962C8B-B14F-4D97-AF65-F5344CB8AC3E}">
        <p14:creationId xmlns:p14="http://schemas.microsoft.com/office/powerpoint/2010/main" val="13999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9F11D-1944-9E74-9432-B6A1E4768F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1B835E-1F4E-B595-DBDA-2935490D7E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6" name="Content Placeholder 5">
            <a:extLst>
              <a:ext uri="{FF2B5EF4-FFF2-40B4-BE49-F238E27FC236}">
                <a16:creationId xmlns:a16="http://schemas.microsoft.com/office/drawing/2014/main" id="{E31A9C5C-8E65-87F7-11A6-43FFF8D48BA2}"/>
              </a:ext>
            </a:extLst>
          </p:cNvPr>
          <p:cNvSpPr>
            <a:spLocks noGrp="1"/>
          </p:cNvSpPr>
          <p:nvPr>
            <p:ph idx="1"/>
          </p:nvPr>
        </p:nvSpPr>
        <p:spPr>
          <a:xfrm>
            <a:off x="380010" y="1481446"/>
            <a:ext cx="8383980" cy="4882266"/>
          </a:xfrm>
        </p:spPr>
        <p:txBody>
          <a:bodyPr>
            <a:normAutofit fontScale="92500"/>
          </a:bodyPr>
          <a:lstStyle/>
          <a:p>
            <a:r>
              <a:rPr lang="en-US" dirty="0"/>
              <a:t>Each service has its own database, either different instances of the same database technology, or entirely independent database systems - an approach called </a:t>
            </a:r>
            <a:r>
              <a:rPr lang="en-US" b="1" dirty="0"/>
              <a:t>Polyglot Persistence</a:t>
            </a:r>
            <a:r>
              <a:rPr lang="en-US" dirty="0"/>
              <a:t>.</a:t>
            </a:r>
          </a:p>
          <a:p>
            <a:r>
              <a:rPr lang="en-US" dirty="0"/>
              <a:t>MSA provides </a:t>
            </a:r>
            <a:r>
              <a:rPr lang="en-US" b="1" dirty="0"/>
              <a:t>infrastructure automation</a:t>
            </a:r>
            <a:r>
              <a:rPr lang="en-US" dirty="0"/>
              <a:t> with continuous delivery and automated testing.</a:t>
            </a:r>
          </a:p>
          <a:p>
            <a:r>
              <a:rPr lang="en-US" dirty="0"/>
              <a:t>Any service’s failure should be in </a:t>
            </a:r>
            <a:r>
              <a:rPr lang="en-US" b="1" dirty="0"/>
              <a:t>isolation</a:t>
            </a:r>
            <a:r>
              <a:rPr lang="en-US" dirty="0"/>
              <a:t>. </a:t>
            </a:r>
          </a:p>
          <a:p>
            <a:r>
              <a:rPr lang="en-US" dirty="0"/>
              <a:t>Failure of one service should not make the whole application go down. Since services can fail, it’s important to detect the failures and, if possible, restore the service.</a:t>
            </a:r>
          </a:p>
        </p:txBody>
      </p:sp>
      <p:sp>
        <p:nvSpPr>
          <p:cNvPr id="5" name="Title 4">
            <a:extLst>
              <a:ext uri="{FF2B5EF4-FFF2-40B4-BE49-F238E27FC236}">
                <a16:creationId xmlns:a16="http://schemas.microsoft.com/office/drawing/2014/main" id="{7742716C-F91B-29C7-34EA-AED599CE7376}"/>
              </a:ext>
            </a:extLst>
          </p:cNvPr>
          <p:cNvSpPr>
            <a:spLocks noGrp="1"/>
          </p:cNvSpPr>
          <p:nvPr>
            <p:ph type="title"/>
          </p:nvPr>
        </p:nvSpPr>
        <p:spPr/>
        <p:txBody>
          <a:bodyPr/>
          <a:lstStyle/>
          <a:p>
            <a:r>
              <a:rPr lang="en-US" dirty="0"/>
              <a:t>Characteristics of Microservices Architecture</a:t>
            </a:r>
          </a:p>
        </p:txBody>
      </p:sp>
    </p:spTree>
    <p:extLst>
      <p:ext uri="{BB962C8B-B14F-4D97-AF65-F5344CB8AC3E}">
        <p14:creationId xmlns:p14="http://schemas.microsoft.com/office/powerpoint/2010/main" val="251362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96BB4-21F7-C745-8848-4219E0D4B7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59DBE4-AF07-AD78-BE73-C99E998C27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6" name="Content Placeholder 5">
            <a:extLst>
              <a:ext uri="{FF2B5EF4-FFF2-40B4-BE49-F238E27FC236}">
                <a16:creationId xmlns:a16="http://schemas.microsoft.com/office/drawing/2014/main" id="{283C6526-26AC-A894-3C3F-2D06EDAF7DF8}"/>
              </a:ext>
            </a:extLst>
          </p:cNvPr>
          <p:cNvSpPr>
            <a:spLocks noGrp="1"/>
          </p:cNvSpPr>
          <p:nvPr>
            <p:ph idx="1"/>
          </p:nvPr>
        </p:nvSpPr>
        <p:spPr/>
        <p:txBody>
          <a:bodyPr>
            <a:normAutofit/>
          </a:bodyPr>
          <a:lstStyle/>
          <a:p>
            <a:r>
              <a:rPr lang="en-US" dirty="0"/>
              <a:t>The </a:t>
            </a:r>
            <a:r>
              <a:rPr lang="en-US" b="1" dirty="0"/>
              <a:t>twelve factors</a:t>
            </a:r>
            <a:r>
              <a:rPr lang="en-US" dirty="0"/>
              <a:t> are architectural concerns which should be accounted for a service to be considered a ‘true’ service within a microservice architecture.</a:t>
            </a:r>
          </a:p>
          <a:p>
            <a:pPr lvl="1"/>
            <a:r>
              <a:rPr lang="en-US" dirty="0"/>
              <a:t>Note: not every microservice will follow all of these factors perfectly – it is more important that the ‘spirit’ of these rules are maintained in your microservices.</a:t>
            </a:r>
          </a:p>
        </p:txBody>
      </p:sp>
      <p:sp>
        <p:nvSpPr>
          <p:cNvPr id="5" name="Title 4">
            <a:extLst>
              <a:ext uri="{FF2B5EF4-FFF2-40B4-BE49-F238E27FC236}">
                <a16:creationId xmlns:a16="http://schemas.microsoft.com/office/drawing/2014/main" id="{DA71792A-B476-532F-E840-BA2813814CE5}"/>
              </a:ext>
            </a:extLst>
          </p:cNvPr>
          <p:cNvSpPr>
            <a:spLocks noGrp="1"/>
          </p:cNvSpPr>
          <p:nvPr>
            <p:ph type="title"/>
          </p:nvPr>
        </p:nvSpPr>
        <p:spPr/>
        <p:txBody>
          <a:bodyPr/>
          <a:lstStyle/>
          <a:p>
            <a:r>
              <a:rPr lang="en-US" dirty="0"/>
              <a:t>Microservices – 12 Factors</a:t>
            </a:r>
          </a:p>
        </p:txBody>
      </p:sp>
    </p:spTree>
    <p:extLst>
      <p:ext uri="{BB962C8B-B14F-4D97-AF65-F5344CB8AC3E}">
        <p14:creationId xmlns:p14="http://schemas.microsoft.com/office/powerpoint/2010/main" val="300425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96C6C-93B7-8F24-B0C8-9C9F683040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C6E78C-1763-B0E8-F92E-7F4B00B91C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Content Placeholder 5">
            <a:extLst>
              <a:ext uri="{FF2B5EF4-FFF2-40B4-BE49-F238E27FC236}">
                <a16:creationId xmlns:a16="http://schemas.microsoft.com/office/drawing/2014/main" id="{73A9B63B-ED30-46DD-258A-07CE77ED3884}"/>
              </a:ext>
            </a:extLst>
          </p:cNvPr>
          <p:cNvSpPr>
            <a:spLocks noGrp="1"/>
          </p:cNvSpPr>
          <p:nvPr>
            <p:ph idx="1"/>
          </p:nvPr>
        </p:nvSpPr>
        <p:spPr/>
        <p:txBody>
          <a:bodyPr>
            <a:normAutofit fontScale="92500" lnSpcReduction="20000"/>
          </a:bodyPr>
          <a:lstStyle/>
          <a:p>
            <a:r>
              <a:rPr lang="en-US" b="1" dirty="0"/>
              <a:t>Codebase</a:t>
            </a:r>
            <a:r>
              <a:rPr lang="en-US" dirty="0"/>
              <a:t> : Each microservice should have it’s own repository and independent deployment pipeline. </a:t>
            </a:r>
          </a:p>
          <a:p>
            <a:r>
              <a:rPr lang="en-US" b="1" dirty="0"/>
              <a:t>Dependencies </a:t>
            </a:r>
            <a:r>
              <a:rPr lang="en-US" dirty="0"/>
              <a:t>: Dependencies should be explicitly declared and isolated for each service to ensures services build consistently across environments</a:t>
            </a:r>
          </a:p>
          <a:p>
            <a:r>
              <a:rPr lang="en-US" b="1" dirty="0"/>
              <a:t>Config </a:t>
            </a:r>
            <a:r>
              <a:rPr lang="en-US" dirty="0"/>
              <a:t>: Configuration information should be stored outside of the application to allow the same service artifact to run in different environments without modification.</a:t>
            </a:r>
          </a:p>
          <a:p>
            <a:r>
              <a:rPr lang="en-US" b="1" dirty="0"/>
              <a:t>Backing Services </a:t>
            </a:r>
            <a:r>
              <a:rPr lang="en-US" dirty="0"/>
              <a:t>: Databases, message brokers and caches should be treated as attachable resources to enable replacing infrastructure without changing application code.</a:t>
            </a:r>
          </a:p>
        </p:txBody>
      </p:sp>
      <p:sp>
        <p:nvSpPr>
          <p:cNvPr id="5" name="Title 4">
            <a:extLst>
              <a:ext uri="{FF2B5EF4-FFF2-40B4-BE49-F238E27FC236}">
                <a16:creationId xmlns:a16="http://schemas.microsoft.com/office/drawing/2014/main" id="{64EB1D07-E346-FDB6-C506-5A0C4D0E1859}"/>
              </a:ext>
            </a:extLst>
          </p:cNvPr>
          <p:cNvSpPr>
            <a:spLocks noGrp="1"/>
          </p:cNvSpPr>
          <p:nvPr>
            <p:ph type="title"/>
          </p:nvPr>
        </p:nvSpPr>
        <p:spPr/>
        <p:txBody>
          <a:bodyPr/>
          <a:lstStyle/>
          <a:p>
            <a:r>
              <a:rPr lang="en-US" dirty="0"/>
              <a:t>Microservices – 12 Factors</a:t>
            </a:r>
          </a:p>
        </p:txBody>
      </p:sp>
    </p:spTree>
    <p:extLst>
      <p:ext uri="{BB962C8B-B14F-4D97-AF65-F5344CB8AC3E}">
        <p14:creationId xmlns:p14="http://schemas.microsoft.com/office/powerpoint/2010/main" val="101058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6734F-7451-CE26-5D51-DC5145592F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0D47A6-736A-28AE-F381-B80ECF1742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Content Placeholder 5">
            <a:extLst>
              <a:ext uri="{FF2B5EF4-FFF2-40B4-BE49-F238E27FC236}">
                <a16:creationId xmlns:a16="http://schemas.microsoft.com/office/drawing/2014/main" id="{33E9E7B9-5086-1CBB-888F-559EF6BCB172}"/>
              </a:ext>
            </a:extLst>
          </p:cNvPr>
          <p:cNvSpPr>
            <a:spLocks noGrp="1"/>
          </p:cNvSpPr>
          <p:nvPr>
            <p:ph idx="1"/>
          </p:nvPr>
        </p:nvSpPr>
        <p:spPr/>
        <p:txBody>
          <a:bodyPr>
            <a:normAutofit fontScale="85000" lnSpcReduction="10000"/>
          </a:bodyPr>
          <a:lstStyle/>
          <a:p>
            <a:r>
              <a:rPr lang="en-US" b="1" dirty="0"/>
              <a:t>Build, Release Run </a:t>
            </a:r>
            <a:r>
              <a:rPr lang="en-US" dirty="0"/>
              <a:t>: Build, release and runtime stages should be separate so that artifacts are built once and promoted through environments consistently.</a:t>
            </a:r>
          </a:p>
          <a:p>
            <a:r>
              <a:rPr lang="en-US" b="1" dirty="0"/>
              <a:t>Processes </a:t>
            </a:r>
            <a:r>
              <a:rPr lang="en-US" dirty="0"/>
              <a:t>: Applications are run as stateless processes to allow for horizontally scaling and easier recover from failures.</a:t>
            </a:r>
          </a:p>
          <a:p>
            <a:r>
              <a:rPr lang="en-US" b="1" dirty="0"/>
              <a:t>Port Binding </a:t>
            </a:r>
            <a:r>
              <a:rPr lang="en-US" dirty="0"/>
              <a:t>: Services expose functionality by binding to a port which allows each microservice to run independently and communicate over HTTP or messaging</a:t>
            </a:r>
          </a:p>
          <a:p>
            <a:r>
              <a:rPr lang="en-US" b="1" dirty="0"/>
              <a:t>Concurrency </a:t>
            </a:r>
            <a:r>
              <a:rPr lang="en-US" dirty="0"/>
              <a:t>: Scaling via process model/pods to ensure that microservices can scale horizontally to handle load</a:t>
            </a:r>
          </a:p>
        </p:txBody>
      </p:sp>
      <p:sp>
        <p:nvSpPr>
          <p:cNvPr id="5" name="Title 4">
            <a:extLst>
              <a:ext uri="{FF2B5EF4-FFF2-40B4-BE49-F238E27FC236}">
                <a16:creationId xmlns:a16="http://schemas.microsoft.com/office/drawing/2014/main" id="{7D1033E8-B24B-D873-52EE-7668D51DCADB}"/>
              </a:ext>
            </a:extLst>
          </p:cNvPr>
          <p:cNvSpPr>
            <a:spLocks noGrp="1"/>
          </p:cNvSpPr>
          <p:nvPr>
            <p:ph type="title"/>
          </p:nvPr>
        </p:nvSpPr>
        <p:spPr/>
        <p:txBody>
          <a:bodyPr/>
          <a:lstStyle/>
          <a:p>
            <a:r>
              <a:rPr lang="en-US" dirty="0"/>
              <a:t>Microservices – 12 Factors</a:t>
            </a:r>
          </a:p>
        </p:txBody>
      </p:sp>
    </p:spTree>
    <p:extLst>
      <p:ext uri="{BB962C8B-B14F-4D97-AF65-F5344CB8AC3E}">
        <p14:creationId xmlns:p14="http://schemas.microsoft.com/office/powerpoint/2010/main" val="150784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4F77-C5F4-E10D-CD9B-DEEAF77421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5E64CF-C277-05AB-060A-9151738A43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6" name="Content Placeholder 5">
            <a:extLst>
              <a:ext uri="{FF2B5EF4-FFF2-40B4-BE49-F238E27FC236}">
                <a16:creationId xmlns:a16="http://schemas.microsoft.com/office/drawing/2014/main" id="{6F910416-3BB1-08CF-8734-45388233C1A8}"/>
              </a:ext>
            </a:extLst>
          </p:cNvPr>
          <p:cNvSpPr>
            <a:spLocks noGrp="1"/>
          </p:cNvSpPr>
          <p:nvPr>
            <p:ph idx="1"/>
          </p:nvPr>
        </p:nvSpPr>
        <p:spPr/>
        <p:txBody>
          <a:bodyPr>
            <a:normAutofit fontScale="92500" lnSpcReduction="20000"/>
          </a:bodyPr>
          <a:lstStyle/>
          <a:p>
            <a:r>
              <a:rPr lang="en-US" b="1" dirty="0"/>
              <a:t>Disposability </a:t>
            </a:r>
            <a:r>
              <a:rPr lang="en-US" dirty="0"/>
              <a:t>: Services should start quickly and shut down gracefully to enable rolling deployments, container restarts and fault tolerance.</a:t>
            </a:r>
          </a:p>
          <a:p>
            <a:r>
              <a:rPr lang="en-US" b="1" dirty="0"/>
              <a:t>Dev/Prod Parity </a:t>
            </a:r>
            <a:r>
              <a:rPr lang="en-US" dirty="0"/>
              <a:t>: Developing, testing and production environments should be similar to reduce deployment surprises in distributed system</a:t>
            </a:r>
          </a:p>
          <a:p>
            <a:r>
              <a:rPr lang="en-US" b="1" dirty="0"/>
              <a:t>Logs </a:t>
            </a:r>
            <a:r>
              <a:rPr lang="en-US" dirty="0"/>
              <a:t>: Logs should be treated as event streams, rather than files. Centralizing logging improves debugging across many services.</a:t>
            </a:r>
          </a:p>
          <a:p>
            <a:r>
              <a:rPr lang="en-US" b="1" dirty="0"/>
              <a:t>Admin Processes </a:t>
            </a:r>
            <a:r>
              <a:rPr lang="en-US" dirty="0"/>
              <a:t>: Administrative tasks should be run as one-off processes, allowing safe maintenance tasks without altering the running service.</a:t>
            </a:r>
          </a:p>
        </p:txBody>
      </p:sp>
      <p:sp>
        <p:nvSpPr>
          <p:cNvPr id="5" name="Title 4">
            <a:extLst>
              <a:ext uri="{FF2B5EF4-FFF2-40B4-BE49-F238E27FC236}">
                <a16:creationId xmlns:a16="http://schemas.microsoft.com/office/drawing/2014/main" id="{745AE595-534B-B338-B9B7-C7001F622A93}"/>
              </a:ext>
            </a:extLst>
          </p:cNvPr>
          <p:cNvSpPr>
            <a:spLocks noGrp="1"/>
          </p:cNvSpPr>
          <p:nvPr>
            <p:ph type="title"/>
          </p:nvPr>
        </p:nvSpPr>
        <p:spPr/>
        <p:txBody>
          <a:bodyPr/>
          <a:lstStyle/>
          <a:p>
            <a:r>
              <a:rPr lang="en-US" dirty="0"/>
              <a:t>Microservices – 12 Factors</a:t>
            </a:r>
          </a:p>
        </p:txBody>
      </p:sp>
    </p:spTree>
    <p:extLst>
      <p:ext uri="{BB962C8B-B14F-4D97-AF65-F5344CB8AC3E}">
        <p14:creationId xmlns:p14="http://schemas.microsoft.com/office/powerpoint/2010/main" val="131468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AE450-B2FB-39D1-DF86-D3F073E01F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DA755F-B297-D4C2-B2C2-9E2249D3197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19</a:t>
            </a:fld>
            <a:endParaRPr lang="en-US"/>
          </a:p>
        </p:txBody>
      </p:sp>
      <p:sp>
        <p:nvSpPr>
          <p:cNvPr id="4" name="Google Shape;212;p15">
            <a:extLst>
              <a:ext uri="{FF2B5EF4-FFF2-40B4-BE49-F238E27FC236}">
                <a16:creationId xmlns:a16="http://schemas.microsoft.com/office/drawing/2014/main" id="{B03EA141-9EAF-ED33-CADE-DDE71F7705F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Microservices - Considerations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10097EF5-40B2-766E-97EF-F3CBBE803919}"/>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652198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B9AB-AAC2-C394-CBEE-E22BC46978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8EEB04-EA04-94C2-108F-46EB7F926F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6" name="Content Placeholder 5">
            <a:extLst>
              <a:ext uri="{FF2B5EF4-FFF2-40B4-BE49-F238E27FC236}">
                <a16:creationId xmlns:a16="http://schemas.microsoft.com/office/drawing/2014/main" id="{12C5B08B-6BBA-4B60-6C5E-DF3FA9A6B7CB}"/>
              </a:ext>
            </a:extLst>
          </p:cNvPr>
          <p:cNvSpPr>
            <a:spLocks noGrp="1"/>
          </p:cNvSpPr>
          <p:nvPr>
            <p:ph idx="1"/>
          </p:nvPr>
        </p:nvSpPr>
        <p:spPr>
          <a:xfrm>
            <a:off x="380010" y="1481446"/>
            <a:ext cx="8383980" cy="4882266"/>
          </a:xfrm>
        </p:spPr>
        <p:txBody>
          <a:bodyPr>
            <a:normAutofit fontScale="92500" lnSpcReduction="20000"/>
          </a:bodyPr>
          <a:lstStyle/>
          <a:p>
            <a:r>
              <a:rPr lang="en-US" dirty="0"/>
              <a:t>Microservice architecture is much more complex than legacy systems. </a:t>
            </a:r>
          </a:p>
          <a:p>
            <a:r>
              <a:rPr lang="en-US" dirty="0"/>
              <a:t>This environment becomes more complicated because teams must manage and support many moving parts. Some of the challenges that an organization faces are:</a:t>
            </a:r>
          </a:p>
          <a:p>
            <a:r>
              <a:rPr lang="en-US" b="1" dirty="0"/>
              <a:t>Bounded Context</a:t>
            </a:r>
            <a:r>
              <a:rPr lang="en-US" dirty="0"/>
              <a:t> - The bounded context is a central pattern in Domain-Driven Design(DDD). DDD deals with large models by dividing them into different Bounded Contexts and being explicit about their interrelationships. </a:t>
            </a:r>
          </a:p>
          <a:p>
            <a:r>
              <a:rPr lang="en-US" dirty="0"/>
              <a:t>Bounded context defines our domain boundaries in the business context.</a:t>
            </a:r>
          </a:p>
        </p:txBody>
      </p:sp>
      <p:sp>
        <p:nvSpPr>
          <p:cNvPr id="5" name="Title 4">
            <a:extLst>
              <a:ext uri="{FF2B5EF4-FFF2-40B4-BE49-F238E27FC236}">
                <a16:creationId xmlns:a16="http://schemas.microsoft.com/office/drawing/2014/main" id="{729EC43B-F8F4-9142-C9CB-88FB84A87BD5}"/>
              </a:ext>
            </a:extLst>
          </p:cNvPr>
          <p:cNvSpPr>
            <a:spLocks noGrp="1"/>
          </p:cNvSpPr>
          <p:nvPr>
            <p:ph type="title"/>
          </p:nvPr>
        </p:nvSpPr>
        <p:spPr/>
        <p:txBody>
          <a:bodyPr/>
          <a:lstStyle/>
          <a:p>
            <a:r>
              <a:rPr lang="en-US" dirty="0"/>
              <a:t>Challenges of Microservices Architecture</a:t>
            </a:r>
          </a:p>
        </p:txBody>
      </p:sp>
    </p:spTree>
    <p:extLst>
      <p:ext uri="{BB962C8B-B14F-4D97-AF65-F5344CB8AC3E}">
        <p14:creationId xmlns:p14="http://schemas.microsoft.com/office/powerpoint/2010/main" val="256714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D25BB-F8E7-9772-EFDA-7A01CF04981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A6A7C3-B6D2-0731-4204-E95BCDB63E7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5" name="Title 4">
            <a:extLst>
              <a:ext uri="{FF2B5EF4-FFF2-40B4-BE49-F238E27FC236}">
                <a16:creationId xmlns:a16="http://schemas.microsoft.com/office/drawing/2014/main" id="{539AB2C3-A03A-B7F4-F859-16EC2B070DBB}"/>
              </a:ext>
            </a:extLst>
          </p:cNvPr>
          <p:cNvSpPr>
            <a:spLocks noGrp="1"/>
          </p:cNvSpPr>
          <p:nvPr>
            <p:ph type="title"/>
          </p:nvPr>
        </p:nvSpPr>
        <p:spPr/>
        <p:txBody>
          <a:bodyPr/>
          <a:lstStyle/>
          <a:p>
            <a:r>
              <a:rPr lang="en-US" dirty="0"/>
              <a:t>Challenges of Microservices Architecture</a:t>
            </a:r>
          </a:p>
        </p:txBody>
      </p:sp>
      <p:sp>
        <p:nvSpPr>
          <p:cNvPr id="3" name="Content Placeholder 2">
            <a:extLst>
              <a:ext uri="{FF2B5EF4-FFF2-40B4-BE49-F238E27FC236}">
                <a16:creationId xmlns:a16="http://schemas.microsoft.com/office/drawing/2014/main" id="{7821B9EA-5061-839F-595D-267AC610DFC4}"/>
              </a:ext>
            </a:extLst>
          </p:cNvPr>
          <p:cNvSpPr>
            <a:spLocks noGrp="1"/>
          </p:cNvSpPr>
          <p:nvPr>
            <p:ph idx="1"/>
          </p:nvPr>
        </p:nvSpPr>
        <p:spPr>
          <a:xfrm>
            <a:off x="380010" y="1481447"/>
            <a:ext cx="8383980" cy="1947554"/>
          </a:xfrm>
        </p:spPr>
        <p:txBody>
          <a:bodyPr>
            <a:normAutofit fontScale="92500" lnSpcReduction="10000"/>
          </a:bodyPr>
          <a:lstStyle/>
          <a:p>
            <a:r>
              <a:rPr lang="en-US" dirty="0"/>
              <a:t>For example, a product in the sales context refers to an item in the process of being sold. A product in the support context refers to the item that is already sold to the customer which has some defects, so the customer contacts the support team.</a:t>
            </a:r>
          </a:p>
          <a:p>
            <a:endParaRPr lang="en-US" dirty="0"/>
          </a:p>
        </p:txBody>
      </p:sp>
      <p:pic>
        <p:nvPicPr>
          <p:cNvPr id="8" name="Picture 7">
            <a:extLst>
              <a:ext uri="{FF2B5EF4-FFF2-40B4-BE49-F238E27FC236}">
                <a16:creationId xmlns:a16="http://schemas.microsoft.com/office/drawing/2014/main" id="{22BA144D-1A3F-8518-F79A-D6702FFE5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7837" y="3657600"/>
            <a:ext cx="6268325" cy="3200400"/>
          </a:xfrm>
          <a:prstGeom prst="rect">
            <a:avLst/>
          </a:prstGeom>
        </p:spPr>
      </p:pic>
    </p:spTree>
    <p:extLst>
      <p:ext uri="{BB962C8B-B14F-4D97-AF65-F5344CB8AC3E}">
        <p14:creationId xmlns:p14="http://schemas.microsoft.com/office/powerpoint/2010/main" val="2052101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4BFE3-1CC7-A015-893E-2B79AF626B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AD4604-CD21-8B05-DB62-DB5D148E2A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Content Placeholder 5">
            <a:extLst>
              <a:ext uri="{FF2B5EF4-FFF2-40B4-BE49-F238E27FC236}">
                <a16:creationId xmlns:a16="http://schemas.microsoft.com/office/drawing/2014/main" id="{F481AC7F-4F63-77E0-A418-302996DFFBCD}"/>
              </a:ext>
            </a:extLst>
          </p:cNvPr>
          <p:cNvSpPr>
            <a:spLocks noGrp="1"/>
          </p:cNvSpPr>
          <p:nvPr>
            <p:ph idx="1"/>
          </p:nvPr>
        </p:nvSpPr>
        <p:spPr>
          <a:xfrm>
            <a:off x="380010" y="1481446"/>
            <a:ext cx="8383980" cy="4882266"/>
          </a:xfrm>
        </p:spPr>
        <p:txBody>
          <a:bodyPr>
            <a:normAutofit/>
          </a:bodyPr>
          <a:lstStyle/>
          <a:p>
            <a:r>
              <a:rPr lang="en-US" dirty="0"/>
              <a:t>Finding a root cause for problems – Distributed logic with distributed data increases the effort of finding a root cause. </a:t>
            </a:r>
          </a:p>
          <a:p>
            <a:r>
              <a:rPr lang="en-US" dirty="0"/>
              <a:t>Version management and cyclic dependencies between services. </a:t>
            </a:r>
          </a:p>
          <a:p>
            <a:r>
              <a:rPr lang="en-US" dirty="0"/>
              <a:t>Logging is distributed between services. </a:t>
            </a:r>
          </a:p>
          <a:p>
            <a:r>
              <a:rPr lang="en-US" dirty="0"/>
              <a:t>An issue that’s caused by one service can cause trouble elsewhere.</a:t>
            </a:r>
          </a:p>
        </p:txBody>
      </p:sp>
      <p:sp>
        <p:nvSpPr>
          <p:cNvPr id="5" name="Title 4">
            <a:extLst>
              <a:ext uri="{FF2B5EF4-FFF2-40B4-BE49-F238E27FC236}">
                <a16:creationId xmlns:a16="http://schemas.microsoft.com/office/drawing/2014/main" id="{2D62517A-43CA-1A82-489B-A4D65746170F}"/>
              </a:ext>
            </a:extLst>
          </p:cNvPr>
          <p:cNvSpPr>
            <a:spLocks noGrp="1"/>
          </p:cNvSpPr>
          <p:nvPr>
            <p:ph type="title"/>
          </p:nvPr>
        </p:nvSpPr>
        <p:spPr/>
        <p:txBody>
          <a:bodyPr/>
          <a:lstStyle/>
          <a:p>
            <a:r>
              <a:rPr lang="en-US" dirty="0"/>
              <a:t>Challenges of Microservices Architecture</a:t>
            </a:r>
          </a:p>
        </p:txBody>
      </p:sp>
    </p:spTree>
    <p:extLst>
      <p:ext uri="{BB962C8B-B14F-4D97-AF65-F5344CB8AC3E}">
        <p14:creationId xmlns:p14="http://schemas.microsoft.com/office/powerpoint/2010/main" val="25450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F3157-55D9-BA4D-6D9C-2971F5AF60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46BE74-EA7E-1568-BCD7-D253325342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6" name="Content Placeholder 5">
            <a:extLst>
              <a:ext uri="{FF2B5EF4-FFF2-40B4-BE49-F238E27FC236}">
                <a16:creationId xmlns:a16="http://schemas.microsoft.com/office/drawing/2014/main" id="{799C8C9E-0E76-52E0-FC79-2628167CF7C6}"/>
              </a:ext>
            </a:extLst>
          </p:cNvPr>
          <p:cNvSpPr>
            <a:spLocks noGrp="1"/>
          </p:cNvSpPr>
          <p:nvPr>
            <p:ph idx="1"/>
          </p:nvPr>
        </p:nvSpPr>
        <p:spPr>
          <a:xfrm>
            <a:off x="380010" y="1481446"/>
            <a:ext cx="8383980" cy="4882266"/>
          </a:xfrm>
        </p:spPr>
        <p:txBody>
          <a:bodyPr>
            <a:normAutofit fontScale="92500" lnSpcReduction="20000"/>
          </a:bodyPr>
          <a:lstStyle/>
          <a:p>
            <a:r>
              <a:rPr lang="en-US" dirty="0"/>
              <a:t>Microservices follow the Single Responsibility Principle. </a:t>
            </a:r>
          </a:p>
          <a:p>
            <a:r>
              <a:rPr lang="en-US" dirty="0"/>
              <a:t>Fault isolation: If one service crashes, it’s quite possible the rest of the application can continue to operate until that service recovers. </a:t>
            </a:r>
          </a:p>
          <a:p>
            <a:r>
              <a:rPr lang="en-US" dirty="0"/>
              <a:t>Microservices are language and platform independent. </a:t>
            </a:r>
          </a:p>
          <a:p>
            <a:r>
              <a:rPr lang="en-US" dirty="0"/>
              <a:t>Dynamic scaling: we can dynamically scale up/down the service instances whenever required. </a:t>
            </a:r>
          </a:p>
          <a:p>
            <a:r>
              <a:rPr lang="en-US" dirty="0"/>
              <a:t>Developers have the freedom to develop and deploy services independently. </a:t>
            </a:r>
          </a:p>
          <a:p>
            <a:r>
              <a:rPr lang="en-US" dirty="0"/>
              <a:t>Use of containers allowing for a quick deployment and development of the application.</a:t>
            </a:r>
          </a:p>
        </p:txBody>
      </p:sp>
      <p:sp>
        <p:nvSpPr>
          <p:cNvPr id="5" name="Title 4">
            <a:extLst>
              <a:ext uri="{FF2B5EF4-FFF2-40B4-BE49-F238E27FC236}">
                <a16:creationId xmlns:a16="http://schemas.microsoft.com/office/drawing/2014/main" id="{32076A07-2DE0-3705-E8E4-55F4DA0F6CF0}"/>
              </a:ext>
            </a:extLst>
          </p:cNvPr>
          <p:cNvSpPr>
            <a:spLocks noGrp="1"/>
          </p:cNvSpPr>
          <p:nvPr>
            <p:ph type="title"/>
          </p:nvPr>
        </p:nvSpPr>
        <p:spPr/>
        <p:txBody>
          <a:bodyPr/>
          <a:lstStyle/>
          <a:p>
            <a:r>
              <a:rPr lang="en-US" dirty="0"/>
              <a:t>Advantages of Microservices Architecture</a:t>
            </a:r>
          </a:p>
        </p:txBody>
      </p:sp>
    </p:spTree>
    <p:extLst>
      <p:ext uri="{BB962C8B-B14F-4D97-AF65-F5344CB8AC3E}">
        <p14:creationId xmlns:p14="http://schemas.microsoft.com/office/powerpoint/2010/main" val="130382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98B40-0FA7-1717-DADB-4D1D17E4682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7F47ED-E348-A367-735B-600BB4E6C8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6" name="Content Placeholder 5">
            <a:extLst>
              <a:ext uri="{FF2B5EF4-FFF2-40B4-BE49-F238E27FC236}">
                <a16:creationId xmlns:a16="http://schemas.microsoft.com/office/drawing/2014/main" id="{A77BAF22-F954-7195-1F59-3D2BA787FD7E}"/>
              </a:ext>
            </a:extLst>
          </p:cNvPr>
          <p:cNvSpPr>
            <a:spLocks noGrp="1"/>
          </p:cNvSpPr>
          <p:nvPr>
            <p:ph idx="1"/>
          </p:nvPr>
        </p:nvSpPr>
        <p:spPr>
          <a:xfrm>
            <a:off x="380010" y="1481446"/>
            <a:ext cx="8383980" cy="4882266"/>
          </a:xfrm>
        </p:spPr>
        <p:txBody>
          <a:bodyPr>
            <a:normAutofit/>
          </a:bodyPr>
          <a:lstStyle/>
          <a:p>
            <a:r>
              <a:rPr lang="en-US" dirty="0"/>
              <a:t>Microservice architecture is complex. </a:t>
            </a:r>
          </a:p>
          <a:p>
            <a:r>
              <a:rPr lang="en-US" dirty="0"/>
              <a:t>Harder to test and monitor because of the complexity of the architecture. </a:t>
            </a:r>
          </a:p>
          <a:p>
            <a:r>
              <a:rPr lang="en-US" dirty="0"/>
              <a:t>Large numbers of microservices are harder to manage and secure.</a:t>
            </a:r>
          </a:p>
        </p:txBody>
      </p:sp>
      <p:sp>
        <p:nvSpPr>
          <p:cNvPr id="5" name="Title 4">
            <a:extLst>
              <a:ext uri="{FF2B5EF4-FFF2-40B4-BE49-F238E27FC236}">
                <a16:creationId xmlns:a16="http://schemas.microsoft.com/office/drawing/2014/main" id="{5EFBFE0A-C3B2-0EE9-E75C-592A31516518}"/>
              </a:ext>
            </a:extLst>
          </p:cNvPr>
          <p:cNvSpPr>
            <a:spLocks noGrp="1"/>
          </p:cNvSpPr>
          <p:nvPr>
            <p:ph type="title"/>
          </p:nvPr>
        </p:nvSpPr>
        <p:spPr/>
        <p:txBody>
          <a:bodyPr/>
          <a:lstStyle/>
          <a:p>
            <a:r>
              <a:rPr lang="en-US" dirty="0"/>
              <a:t>Disadvantages of Microservices Architecture</a:t>
            </a:r>
          </a:p>
        </p:txBody>
      </p:sp>
    </p:spTree>
    <p:extLst>
      <p:ext uri="{BB962C8B-B14F-4D97-AF65-F5344CB8AC3E}">
        <p14:creationId xmlns:p14="http://schemas.microsoft.com/office/powerpoint/2010/main" val="212187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5173-57DC-DC38-CCEC-89566501B4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CDA25B-ED5D-D785-6A11-5FE5D39214E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25</a:t>
            </a:fld>
            <a:endParaRPr lang="en-US"/>
          </a:p>
        </p:txBody>
      </p:sp>
      <p:sp>
        <p:nvSpPr>
          <p:cNvPr id="4" name="Google Shape;212;p15">
            <a:extLst>
              <a:ext uri="{FF2B5EF4-FFF2-40B4-BE49-F238E27FC236}">
                <a16:creationId xmlns:a16="http://schemas.microsoft.com/office/drawing/2014/main" id="{C8A261D8-7BC6-8241-AB50-9B3AA46E8BD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Spring Cloud</a:t>
            </a:r>
          </a:p>
        </p:txBody>
      </p:sp>
      <p:pic>
        <p:nvPicPr>
          <p:cNvPr id="6" name="Picture 5">
            <a:extLst>
              <a:ext uri="{FF2B5EF4-FFF2-40B4-BE49-F238E27FC236}">
                <a16:creationId xmlns:a16="http://schemas.microsoft.com/office/drawing/2014/main" id="{C081156B-A880-3F67-5F01-5A8A352E045C}"/>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516821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8572F-B458-BD16-F022-76AA1AE386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DC6901-95B5-2B7E-2994-B8C51CAD1B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6" name="Content Placeholder 5">
            <a:extLst>
              <a:ext uri="{FF2B5EF4-FFF2-40B4-BE49-F238E27FC236}">
                <a16:creationId xmlns:a16="http://schemas.microsoft.com/office/drawing/2014/main" id="{2273D9A8-092B-B5D8-5CCA-E3149F40B55B}"/>
              </a:ext>
            </a:extLst>
          </p:cNvPr>
          <p:cNvSpPr>
            <a:spLocks noGrp="1"/>
          </p:cNvSpPr>
          <p:nvPr>
            <p:ph idx="1"/>
          </p:nvPr>
        </p:nvSpPr>
        <p:spPr/>
        <p:txBody>
          <a:bodyPr>
            <a:normAutofit fontScale="92500" lnSpcReduction="10000"/>
          </a:bodyPr>
          <a:lstStyle/>
          <a:p>
            <a:r>
              <a:rPr lang="en-US" dirty="0"/>
              <a:t>Microservice architectures are the norm in modern software development</a:t>
            </a:r>
          </a:p>
          <a:p>
            <a:r>
              <a:rPr lang="en-US" dirty="0"/>
              <a:t>Companies develop small, self-contained, ready-to-run applications, so allow for flexibility and additional resilience to their codebase.</a:t>
            </a:r>
          </a:p>
          <a:p>
            <a:r>
              <a:rPr lang="en-US" dirty="0"/>
              <a:t>Spring Cloud is Spring’s solution to implementing common patterns for distributed systems and microservices architectures</a:t>
            </a:r>
          </a:p>
          <a:p>
            <a:r>
              <a:rPr lang="en-US" dirty="0"/>
              <a:t>Spring Cloud simplifies challenges like, service discovery, centralized configuration, load balancing, circuit breaking, and distributed messaging.</a:t>
            </a:r>
          </a:p>
        </p:txBody>
      </p:sp>
      <p:sp>
        <p:nvSpPr>
          <p:cNvPr id="5" name="Title 4">
            <a:extLst>
              <a:ext uri="{FF2B5EF4-FFF2-40B4-BE49-F238E27FC236}">
                <a16:creationId xmlns:a16="http://schemas.microsoft.com/office/drawing/2014/main" id="{B10146EF-A3F7-9B3F-978B-586C39E4BBD2}"/>
              </a:ext>
            </a:extLst>
          </p:cNvPr>
          <p:cNvSpPr>
            <a:spLocks noGrp="1"/>
          </p:cNvSpPr>
          <p:nvPr>
            <p:ph type="title"/>
          </p:nvPr>
        </p:nvSpPr>
        <p:spPr/>
        <p:txBody>
          <a:bodyPr/>
          <a:lstStyle/>
          <a:p>
            <a:r>
              <a:rPr lang="en-US" dirty="0"/>
              <a:t>Spring Cloud</a:t>
            </a:r>
          </a:p>
        </p:txBody>
      </p:sp>
    </p:spTree>
    <p:extLst>
      <p:ext uri="{BB962C8B-B14F-4D97-AF65-F5344CB8AC3E}">
        <p14:creationId xmlns:p14="http://schemas.microsoft.com/office/powerpoint/2010/main" val="68841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7C1FC-F4B9-D21E-F6F7-20C52DF301E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9D75CA-E0A8-3DEC-E97E-51D13BCCA0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5" name="Title 4">
            <a:extLst>
              <a:ext uri="{FF2B5EF4-FFF2-40B4-BE49-F238E27FC236}">
                <a16:creationId xmlns:a16="http://schemas.microsoft.com/office/drawing/2014/main" id="{D30B8AF3-BB1C-DA49-9615-838F18B39C4F}"/>
              </a:ext>
            </a:extLst>
          </p:cNvPr>
          <p:cNvSpPr>
            <a:spLocks noGrp="1"/>
          </p:cNvSpPr>
          <p:nvPr>
            <p:ph type="title"/>
          </p:nvPr>
        </p:nvSpPr>
        <p:spPr/>
        <p:txBody>
          <a:bodyPr/>
          <a:lstStyle/>
          <a:p>
            <a:r>
              <a:rPr lang="en-US" dirty="0"/>
              <a:t>Spring Cloud</a:t>
            </a:r>
          </a:p>
        </p:txBody>
      </p:sp>
      <p:pic>
        <p:nvPicPr>
          <p:cNvPr id="2" name="Picture 2">
            <a:extLst>
              <a:ext uri="{FF2B5EF4-FFF2-40B4-BE49-F238E27FC236}">
                <a16:creationId xmlns:a16="http://schemas.microsoft.com/office/drawing/2014/main" id="{7A3FC2A9-E7F2-1A13-E94A-DC711123B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43" y="1915885"/>
            <a:ext cx="7456714" cy="3937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456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E439A-73BA-EB68-EFB5-68E38578C0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AEE8B6-73EB-BA82-827B-CC6B8BC469A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28</a:t>
            </a:fld>
            <a:endParaRPr lang="en-US"/>
          </a:p>
        </p:txBody>
      </p:sp>
      <p:sp>
        <p:nvSpPr>
          <p:cNvPr id="4" name="Google Shape;212;p15">
            <a:extLst>
              <a:ext uri="{FF2B5EF4-FFF2-40B4-BE49-F238E27FC236}">
                <a16:creationId xmlns:a16="http://schemas.microsoft.com/office/drawing/2014/main" id="{3D906073-2190-D2BB-E51A-01A584CB524E}"/>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Service Registry</a:t>
            </a:r>
          </a:p>
        </p:txBody>
      </p:sp>
      <p:pic>
        <p:nvPicPr>
          <p:cNvPr id="6" name="Picture 5">
            <a:extLst>
              <a:ext uri="{FF2B5EF4-FFF2-40B4-BE49-F238E27FC236}">
                <a16:creationId xmlns:a16="http://schemas.microsoft.com/office/drawing/2014/main" id="{F8C85587-53FF-90FA-89CF-AA6665571C0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67389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9B422-0315-707E-FAAC-5450B8FB0E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01B666-238E-4AA4-6B7E-EFB67AEB81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6" name="Content Placeholder 5">
            <a:extLst>
              <a:ext uri="{FF2B5EF4-FFF2-40B4-BE49-F238E27FC236}">
                <a16:creationId xmlns:a16="http://schemas.microsoft.com/office/drawing/2014/main" id="{2D59BB01-7740-847F-3DF0-5161C93B7188}"/>
              </a:ext>
            </a:extLst>
          </p:cNvPr>
          <p:cNvSpPr>
            <a:spLocks noGrp="1"/>
          </p:cNvSpPr>
          <p:nvPr>
            <p:ph idx="1"/>
          </p:nvPr>
        </p:nvSpPr>
        <p:spPr>
          <a:xfrm>
            <a:off x="380010" y="1481446"/>
            <a:ext cx="8301766" cy="4525963"/>
          </a:xfrm>
        </p:spPr>
        <p:txBody>
          <a:bodyPr>
            <a:normAutofit/>
          </a:bodyPr>
          <a:lstStyle/>
          <a:p>
            <a:r>
              <a:rPr lang="en-US" dirty="0"/>
              <a:t>In the cloud, applications can’t always know the exact location of other services</a:t>
            </a:r>
          </a:p>
          <a:p>
            <a:r>
              <a:rPr lang="en-US" dirty="0"/>
              <a:t>As such, service registries, such as </a:t>
            </a:r>
            <a:r>
              <a:rPr lang="en-US" dirty="0" err="1"/>
              <a:t>HasiCorp</a:t>
            </a:r>
            <a:r>
              <a:rPr lang="en-US" dirty="0"/>
              <a:t> Consul (recommended for VMs) and Kubernetes DNS (Recommended for K8s) can be leveraged.</a:t>
            </a:r>
          </a:p>
          <a:p>
            <a:r>
              <a:rPr lang="en-US" dirty="0"/>
              <a:t>Using these service registries, spring allows you to query endpoints by name, via HTTP API or DNS.</a:t>
            </a:r>
          </a:p>
          <a:p>
            <a:endParaRPr lang="en-US" dirty="0"/>
          </a:p>
        </p:txBody>
      </p:sp>
      <p:sp>
        <p:nvSpPr>
          <p:cNvPr id="5" name="Title 4">
            <a:extLst>
              <a:ext uri="{FF2B5EF4-FFF2-40B4-BE49-F238E27FC236}">
                <a16:creationId xmlns:a16="http://schemas.microsoft.com/office/drawing/2014/main" id="{9B561AA5-6DF0-715F-151B-CC5D59A3EAAC}"/>
              </a:ext>
            </a:extLst>
          </p:cNvPr>
          <p:cNvSpPr>
            <a:spLocks noGrp="1"/>
          </p:cNvSpPr>
          <p:nvPr>
            <p:ph type="title"/>
          </p:nvPr>
        </p:nvSpPr>
        <p:spPr/>
        <p:txBody>
          <a:bodyPr/>
          <a:lstStyle/>
          <a:p>
            <a:r>
              <a:rPr lang="en-US" dirty="0"/>
              <a:t>Service Discovery &amp; Registries</a:t>
            </a:r>
          </a:p>
        </p:txBody>
      </p:sp>
    </p:spTree>
    <p:extLst>
      <p:ext uri="{BB962C8B-B14F-4D97-AF65-F5344CB8AC3E}">
        <p14:creationId xmlns:p14="http://schemas.microsoft.com/office/powerpoint/2010/main" val="1827896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29A6B-ACE1-F6CA-95D2-42AA0F5938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38DA5F-EBE3-32D3-F1B2-DBEEFDF171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6" name="Content Placeholder 5">
            <a:extLst>
              <a:ext uri="{FF2B5EF4-FFF2-40B4-BE49-F238E27FC236}">
                <a16:creationId xmlns:a16="http://schemas.microsoft.com/office/drawing/2014/main" id="{0E8E06CA-765C-B90E-788B-6D2272631154}"/>
              </a:ext>
            </a:extLst>
          </p:cNvPr>
          <p:cNvSpPr>
            <a:spLocks noGrp="1"/>
          </p:cNvSpPr>
          <p:nvPr>
            <p:ph idx="1"/>
          </p:nvPr>
        </p:nvSpPr>
        <p:spPr>
          <a:xfrm>
            <a:off x="158946" y="1386672"/>
            <a:ext cx="3890540" cy="5342165"/>
          </a:xfrm>
        </p:spPr>
        <p:txBody>
          <a:bodyPr>
            <a:normAutofit fontScale="70000" lnSpcReduction="20000"/>
          </a:bodyPr>
          <a:lstStyle/>
          <a:p>
            <a:r>
              <a:rPr lang="en-US" dirty="0"/>
              <a:t>The service registry is a key part of Service discovery</a:t>
            </a:r>
          </a:p>
          <a:p>
            <a:r>
              <a:rPr lang="en-US" dirty="0"/>
              <a:t>A service registry is a database containing the network locations of service instances</a:t>
            </a:r>
          </a:p>
          <a:p>
            <a:r>
              <a:rPr lang="en-US" dirty="0"/>
              <a:t>It contains the currently-available instances of each service and their connection details</a:t>
            </a:r>
          </a:p>
          <a:p>
            <a:r>
              <a:rPr lang="en-US" dirty="0"/>
              <a:t>Services query the service registry to retrieve the details for the required microservice, then connect to it</a:t>
            </a:r>
          </a:p>
          <a:p>
            <a:r>
              <a:rPr lang="en-US" dirty="0"/>
              <a:t>The registry maintains a </a:t>
            </a:r>
            <a:r>
              <a:rPr lang="en-US" b="1" dirty="0"/>
              <a:t>heartbeat mechanism</a:t>
            </a:r>
            <a:r>
              <a:rPr lang="en-US" dirty="0"/>
              <a:t> to see if services are still up, and if not, removes them from the registry</a:t>
            </a:r>
          </a:p>
        </p:txBody>
      </p:sp>
      <p:sp>
        <p:nvSpPr>
          <p:cNvPr id="5" name="Title 4">
            <a:extLst>
              <a:ext uri="{FF2B5EF4-FFF2-40B4-BE49-F238E27FC236}">
                <a16:creationId xmlns:a16="http://schemas.microsoft.com/office/drawing/2014/main" id="{AEA37F9B-E326-F9A9-D71F-468C762FC893}"/>
              </a:ext>
            </a:extLst>
          </p:cNvPr>
          <p:cNvSpPr>
            <a:spLocks noGrp="1"/>
          </p:cNvSpPr>
          <p:nvPr>
            <p:ph type="title"/>
          </p:nvPr>
        </p:nvSpPr>
        <p:spPr/>
        <p:txBody>
          <a:bodyPr/>
          <a:lstStyle/>
          <a:p>
            <a:r>
              <a:rPr lang="en-US" dirty="0"/>
              <a:t>Service Registry</a:t>
            </a:r>
          </a:p>
        </p:txBody>
      </p:sp>
      <p:pic>
        <p:nvPicPr>
          <p:cNvPr id="2" name="Content Placeholder 4">
            <a:extLst>
              <a:ext uri="{FF2B5EF4-FFF2-40B4-BE49-F238E27FC236}">
                <a16:creationId xmlns:a16="http://schemas.microsoft.com/office/drawing/2014/main" id="{76EEC788-924F-D48C-6F30-B4F12299C315}"/>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4206149" y="1219200"/>
            <a:ext cx="4793063"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444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8F94-41C1-44EF-4D31-73E322D33A0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54228D-B4DF-1C7D-9EBD-5B6C167E3D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6" name="Content Placeholder 5">
            <a:extLst>
              <a:ext uri="{FF2B5EF4-FFF2-40B4-BE49-F238E27FC236}">
                <a16:creationId xmlns:a16="http://schemas.microsoft.com/office/drawing/2014/main" id="{69A889B6-A041-FB0F-BAE8-E839806EAAFB}"/>
              </a:ext>
            </a:extLst>
          </p:cNvPr>
          <p:cNvSpPr>
            <a:spLocks noGrp="1"/>
          </p:cNvSpPr>
          <p:nvPr>
            <p:ph idx="1"/>
          </p:nvPr>
        </p:nvSpPr>
        <p:spPr>
          <a:xfrm>
            <a:off x="380010" y="1481446"/>
            <a:ext cx="8301766" cy="4882266"/>
          </a:xfrm>
        </p:spPr>
        <p:txBody>
          <a:bodyPr>
            <a:normAutofit/>
          </a:bodyPr>
          <a:lstStyle/>
          <a:p>
            <a:r>
              <a:rPr lang="en-US" dirty="0"/>
              <a:t>A service registry might store entries like this:</a:t>
            </a:r>
          </a:p>
          <a:p>
            <a:endParaRPr lang="en-US" dirty="0"/>
          </a:p>
          <a:p>
            <a:endParaRPr lang="en-US" dirty="0"/>
          </a:p>
          <a:p>
            <a:endParaRPr lang="en-US" dirty="0"/>
          </a:p>
          <a:p>
            <a:endParaRPr lang="en-US" dirty="0"/>
          </a:p>
          <a:p>
            <a:r>
              <a:rPr lang="en-US" dirty="0"/>
              <a:t>When a service wants to call another service, it asks the registry for available instances.</a:t>
            </a:r>
          </a:p>
          <a:p>
            <a:r>
              <a:rPr lang="en-US" dirty="0"/>
              <a:t>This avoid hardcoding addresses</a:t>
            </a:r>
          </a:p>
          <a:p>
            <a:pPr lvl="1"/>
            <a:r>
              <a:rPr lang="en-US" dirty="0"/>
              <a:t>Ex: instead of calling ‘http://10.1.4.21:8080’ you call ‘http://inventory-service’</a:t>
            </a:r>
          </a:p>
        </p:txBody>
      </p:sp>
      <p:sp>
        <p:nvSpPr>
          <p:cNvPr id="5" name="Title 4">
            <a:extLst>
              <a:ext uri="{FF2B5EF4-FFF2-40B4-BE49-F238E27FC236}">
                <a16:creationId xmlns:a16="http://schemas.microsoft.com/office/drawing/2014/main" id="{39FCA1C9-8EDF-5E07-3BB0-B4DAECE6DB87}"/>
              </a:ext>
            </a:extLst>
          </p:cNvPr>
          <p:cNvSpPr>
            <a:spLocks noGrp="1"/>
          </p:cNvSpPr>
          <p:nvPr>
            <p:ph type="title"/>
          </p:nvPr>
        </p:nvSpPr>
        <p:spPr/>
        <p:txBody>
          <a:bodyPr/>
          <a:lstStyle/>
          <a:p>
            <a:r>
              <a:rPr lang="en-US" dirty="0"/>
              <a:t>Service Registry</a:t>
            </a:r>
          </a:p>
        </p:txBody>
      </p:sp>
      <p:pic>
        <p:nvPicPr>
          <p:cNvPr id="3" name="Picture 2">
            <a:extLst>
              <a:ext uri="{FF2B5EF4-FFF2-40B4-BE49-F238E27FC236}">
                <a16:creationId xmlns:a16="http://schemas.microsoft.com/office/drawing/2014/main" id="{6EA5ED7C-1103-C1B9-CF04-CD01067DCC70}"/>
              </a:ext>
            </a:extLst>
          </p:cNvPr>
          <p:cNvPicPr>
            <a:picLocks noChangeAspect="1"/>
          </p:cNvPicPr>
          <p:nvPr/>
        </p:nvPicPr>
        <p:blipFill>
          <a:blip r:embed="rId2"/>
          <a:stretch>
            <a:fillRect/>
          </a:stretch>
        </p:blipFill>
        <p:spPr>
          <a:xfrm>
            <a:off x="1204442" y="2241877"/>
            <a:ext cx="6735115" cy="1552792"/>
          </a:xfrm>
          <a:prstGeom prst="rect">
            <a:avLst/>
          </a:prstGeom>
        </p:spPr>
      </p:pic>
    </p:spTree>
    <p:extLst>
      <p:ext uri="{BB962C8B-B14F-4D97-AF65-F5344CB8AC3E}">
        <p14:creationId xmlns:p14="http://schemas.microsoft.com/office/powerpoint/2010/main" val="33261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02E31-DB20-7D82-DA92-3B827029EE2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2A9D9A-D0C7-3C02-7E0B-3D1834484F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6" name="Content Placeholder 5">
            <a:extLst>
              <a:ext uri="{FF2B5EF4-FFF2-40B4-BE49-F238E27FC236}">
                <a16:creationId xmlns:a16="http://schemas.microsoft.com/office/drawing/2014/main" id="{F1156B4A-4E99-2EC9-6A46-307F0300502E}"/>
              </a:ext>
            </a:extLst>
          </p:cNvPr>
          <p:cNvSpPr>
            <a:spLocks noGrp="1"/>
          </p:cNvSpPr>
          <p:nvPr>
            <p:ph idx="1"/>
          </p:nvPr>
        </p:nvSpPr>
        <p:spPr>
          <a:xfrm>
            <a:off x="380010" y="1481446"/>
            <a:ext cx="8301766" cy="4882266"/>
          </a:xfrm>
        </p:spPr>
        <p:txBody>
          <a:bodyPr>
            <a:normAutofit/>
          </a:bodyPr>
          <a:lstStyle/>
          <a:p>
            <a:r>
              <a:rPr lang="en-US" dirty="0"/>
              <a:t>Service registries are responsible for:</a:t>
            </a:r>
          </a:p>
          <a:p>
            <a:pPr lvl="1"/>
            <a:r>
              <a:rPr lang="en-US" b="1" dirty="0"/>
              <a:t>Service Registration </a:t>
            </a:r>
            <a:r>
              <a:rPr lang="en-US" dirty="0"/>
              <a:t>: Register the service within the registry database for future discovery.</a:t>
            </a:r>
          </a:p>
          <a:p>
            <a:pPr lvl="1"/>
            <a:r>
              <a:rPr lang="en-US" b="1" dirty="0"/>
              <a:t>Service discovery Resolution </a:t>
            </a:r>
            <a:r>
              <a:rPr lang="en-US" dirty="0"/>
              <a:t>: When other services query the registry, a running service instance is provided</a:t>
            </a:r>
          </a:p>
          <a:p>
            <a:pPr lvl="1"/>
            <a:r>
              <a:rPr lang="en-US" b="1" dirty="0"/>
              <a:t>Health monitoring </a:t>
            </a:r>
            <a:r>
              <a:rPr lang="en-US" dirty="0"/>
              <a:t>: The registry checks if services are alive</a:t>
            </a:r>
          </a:p>
          <a:p>
            <a:pPr lvl="1"/>
            <a:r>
              <a:rPr lang="en-US" b="1" dirty="0"/>
              <a:t>Load balancing support </a:t>
            </a:r>
            <a:r>
              <a:rPr lang="en-US" dirty="0"/>
              <a:t>: Multiple, registered instances of the same service can be provided to callers</a:t>
            </a:r>
          </a:p>
        </p:txBody>
      </p:sp>
      <p:sp>
        <p:nvSpPr>
          <p:cNvPr id="5" name="Title 4">
            <a:extLst>
              <a:ext uri="{FF2B5EF4-FFF2-40B4-BE49-F238E27FC236}">
                <a16:creationId xmlns:a16="http://schemas.microsoft.com/office/drawing/2014/main" id="{E987DAFC-C7ED-6291-331E-15EC4D9D7051}"/>
              </a:ext>
            </a:extLst>
          </p:cNvPr>
          <p:cNvSpPr>
            <a:spLocks noGrp="1"/>
          </p:cNvSpPr>
          <p:nvPr>
            <p:ph type="title"/>
          </p:nvPr>
        </p:nvSpPr>
        <p:spPr/>
        <p:txBody>
          <a:bodyPr/>
          <a:lstStyle/>
          <a:p>
            <a:r>
              <a:rPr lang="en-US" dirty="0"/>
              <a:t>Service Registry</a:t>
            </a:r>
          </a:p>
        </p:txBody>
      </p:sp>
    </p:spTree>
    <p:extLst>
      <p:ext uri="{BB962C8B-B14F-4D97-AF65-F5344CB8AC3E}">
        <p14:creationId xmlns:p14="http://schemas.microsoft.com/office/powerpoint/2010/main" val="113990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33C2-EE3B-DC13-D535-F9E423D6289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1951CF-C2C0-8A0D-BD10-DD0A944539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6" name="Content Placeholder 5">
            <a:extLst>
              <a:ext uri="{FF2B5EF4-FFF2-40B4-BE49-F238E27FC236}">
                <a16:creationId xmlns:a16="http://schemas.microsoft.com/office/drawing/2014/main" id="{33147EBC-6180-2C4A-8CD0-2E0D55B710B6}"/>
              </a:ext>
            </a:extLst>
          </p:cNvPr>
          <p:cNvSpPr>
            <a:spLocks noGrp="1"/>
          </p:cNvSpPr>
          <p:nvPr>
            <p:ph idx="1"/>
          </p:nvPr>
        </p:nvSpPr>
        <p:spPr>
          <a:xfrm>
            <a:off x="380010" y="1481446"/>
            <a:ext cx="8301766" cy="4882266"/>
          </a:xfrm>
        </p:spPr>
        <p:txBody>
          <a:bodyPr>
            <a:normAutofit lnSpcReduction="10000"/>
          </a:bodyPr>
          <a:lstStyle/>
          <a:p>
            <a:r>
              <a:rPr lang="en-US" dirty="0"/>
              <a:t>There are two patterns used for registering services:</a:t>
            </a:r>
          </a:p>
          <a:p>
            <a:r>
              <a:rPr lang="en-US" b="1" dirty="0"/>
              <a:t>Self-Registration</a:t>
            </a:r>
            <a:r>
              <a:rPr lang="en-US" dirty="0"/>
              <a:t>: Service instances are responsible for registering and deregistering themselves with the registry.</a:t>
            </a:r>
          </a:p>
          <a:p>
            <a:pPr lvl="1"/>
            <a:r>
              <a:rPr lang="en-US" dirty="0"/>
              <a:t>Ex: </a:t>
            </a:r>
            <a:r>
              <a:rPr lang="en-US" dirty="0" err="1"/>
              <a:t>HashiCorp</a:t>
            </a:r>
            <a:r>
              <a:rPr lang="en-US" dirty="0"/>
              <a:t> Consul</a:t>
            </a:r>
          </a:p>
          <a:p>
            <a:r>
              <a:rPr lang="en-US" b="1" dirty="0"/>
              <a:t>Third-party Registration</a:t>
            </a:r>
            <a:r>
              <a:rPr lang="en-US" dirty="0"/>
              <a:t>: Another system known as a service registrar handles service registration or unregistering shut down/crashed services using a service registrar.</a:t>
            </a:r>
          </a:p>
          <a:p>
            <a:pPr lvl="1"/>
            <a:r>
              <a:rPr lang="en-US" dirty="0"/>
              <a:t>Ex: AWS ECS &amp; Cloud Map</a:t>
            </a:r>
          </a:p>
        </p:txBody>
      </p:sp>
      <p:sp>
        <p:nvSpPr>
          <p:cNvPr id="5" name="Title 4">
            <a:extLst>
              <a:ext uri="{FF2B5EF4-FFF2-40B4-BE49-F238E27FC236}">
                <a16:creationId xmlns:a16="http://schemas.microsoft.com/office/drawing/2014/main" id="{4C28DEF0-3F6D-2B93-B58F-7018C07FB027}"/>
              </a:ext>
            </a:extLst>
          </p:cNvPr>
          <p:cNvSpPr>
            <a:spLocks noGrp="1"/>
          </p:cNvSpPr>
          <p:nvPr>
            <p:ph type="title"/>
          </p:nvPr>
        </p:nvSpPr>
        <p:spPr/>
        <p:txBody>
          <a:bodyPr/>
          <a:lstStyle/>
          <a:p>
            <a:r>
              <a:rPr lang="en-US" dirty="0"/>
              <a:t>Service Registry | Registration Models</a:t>
            </a:r>
          </a:p>
        </p:txBody>
      </p:sp>
    </p:spTree>
    <p:extLst>
      <p:ext uri="{BB962C8B-B14F-4D97-AF65-F5344CB8AC3E}">
        <p14:creationId xmlns:p14="http://schemas.microsoft.com/office/powerpoint/2010/main" val="412135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F05C9-6F8D-96B0-283A-2A985D38D8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1BFE82-7F4F-1E76-EB34-25C4084ADE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6" name="Content Placeholder 5">
            <a:extLst>
              <a:ext uri="{FF2B5EF4-FFF2-40B4-BE49-F238E27FC236}">
                <a16:creationId xmlns:a16="http://schemas.microsoft.com/office/drawing/2014/main" id="{1D52B824-3EB9-FC5D-1DF6-A5C1E5935260}"/>
              </a:ext>
            </a:extLst>
          </p:cNvPr>
          <p:cNvSpPr>
            <a:spLocks noGrp="1"/>
          </p:cNvSpPr>
          <p:nvPr>
            <p:ph idx="1"/>
          </p:nvPr>
        </p:nvSpPr>
        <p:spPr>
          <a:xfrm>
            <a:off x="380010" y="1481446"/>
            <a:ext cx="4634117" cy="4882266"/>
          </a:xfrm>
        </p:spPr>
        <p:txBody>
          <a:bodyPr>
            <a:normAutofit fontScale="92500" lnSpcReduction="10000"/>
          </a:bodyPr>
          <a:lstStyle/>
          <a:p>
            <a:r>
              <a:rPr lang="en-US" b="1" dirty="0"/>
              <a:t>[Benefit]</a:t>
            </a:r>
            <a:r>
              <a:rPr lang="en-US" dirty="0"/>
              <a:t> Self-Registration is relatively simple and doesn’t require any other system components.</a:t>
            </a:r>
          </a:p>
          <a:p>
            <a:r>
              <a:rPr lang="en-US" b="1" dirty="0"/>
              <a:t>[Drawback]</a:t>
            </a:r>
            <a:r>
              <a:rPr lang="en-US" dirty="0"/>
              <a:t> However, this pattern couples the service instances to the service registry, and registration code must be implemented for each programming language and framework used by your services.</a:t>
            </a:r>
          </a:p>
        </p:txBody>
      </p:sp>
      <p:sp>
        <p:nvSpPr>
          <p:cNvPr id="5" name="Title 4">
            <a:extLst>
              <a:ext uri="{FF2B5EF4-FFF2-40B4-BE49-F238E27FC236}">
                <a16:creationId xmlns:a16="http://schemas.microsoft.com/office/drawing/2014/main" id="{ADA34AC6-6F4D-BAF1-E51E-C4AE6D63210C}"/>
              </a:ext>
            </a:extLst>
          </p:cNvPr>
          <p:cNvSpPr>
            <a:spLocks noGrp="1"/>
          </p:cNvSpPr>
          <p:nvPr>
            <p:ph type="title"/>
          </p:nvPr>
        </p:nvSpPr>
        <p:spPr/>
        <p:txBody>
          <a:bodyPr/>
          <a:lstStyle/>
          <a:p>
            <a:r>
              <a:rPr lang="en-US" dirty="0"/>
              <a:t>Service Registry | Self-Registration</a:t>
            </a:r>
          </a:p>
        </p:txBody>
      </p:sp>
      <p:pic>
        <p:nvPicPr>
          <p:cNvPr id="2" name="Picture 1">
            <a:extLst>
              <a:ext uri="{FF2B5EF4-FFF2-40B4-BE49-F238E27FC236}">
                <a16:creationId xmlns:a16="http://schemas.microsoft.com/office/drawing/2014/main" id="{D9122C2F-4DAF-A370-5915-E771BCC05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5026" y="2373998"/>
            <a:ext cx="3929402" cy="3097161"/>
          </a:xfrm>
          <a:prstGeom prst="rect">
            <a:avLst/>
          </a:prstGeom>
        </p:spPr>
      </p:pic>
    </p:spTree>
    <p:extLst>
      <p:ext uri="{BB962C8B-B14F-4D97-AF65-F5344CB8AC3E}">
        <p14:creationId xmlns:p14="http://schemas.microsoft.com/office/powerpoint/2010/main" val="74172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56F06-934A-5C54-CFD5-CE26E23802C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429918-F529-A56C-A61D-4F70F4684B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
        <p:nvSpPr>
          <p:cNvPr id="6" name="Content Placeholder 5">
            <a:extLst>
              <a:ext uri="{FF2B5EF4-FFF2-40B4-BE49-F238E27FC236}">
                <a16:creationId xmlns:a16="http://schemas.microsoft.com/office/drawing/2014/main" id="{EA860F45-38C0-B820-9868-6A7090CA88B4}"/>
              </a:ext>
            </a:extLst>
          </p:cNvPr>
          <p:cNvSpPr>
            <a:spLocks noGrp="1"/>
          </p:cNvSpPr>
          <p:nvPr>
            <p:ph idx="1"/>
          </p:nvPr>
        </p:nvSpPr>
        <p:spPr>
          <a:xfrm>
            <a:off x="380010" y="1481446"/>
            <a:ext cx="4634117" cy="4882266"/>
          </a:xfrm>
        </p:spPr>
        <p:txBody>
          <a:bodyPr>
            <a:normAutofit fontScale="92500" lnSpcReduction="20000"/>
          </a:bodyPr>
          <a:lstStyle/>
          <a:p>
            <a:r>
              <a:rPr lang="en-US" b="1" dirty="0"/>
              <a:t>[Benefit]</a:t>
            </a:r>
            <a:r>
              <a:rPr lang="en-US" dirty="0"/>
              <a:t> Services are decoupled from the service registry and instead the service instance registrations are handled in a centralized manner within a dedicated service</a:t>
            </a:r>
          </a:p>
          <a:p>
            <a:r>
              <a:rPr lang="en-US" b="1" dirty="0"/>
              <a:t>[Drawback]</a:t>
            </a:r>
            <a:r>
              <a:rPr lang="en-US" dirty="0"/>
              <a:t> Unless it’s built into the deployment environment, it is yet another highly available system component that must be setup and managed.</a:t>
            </a:r>
          </a:p>
        </p:txBody>
      </p:sp>
      <p:sp>
        <p:nvSpPr>
          <p:cNvPr id="5" name="Title 4">
            <a:extLst>
              <a:ext uri="{FF2B5EF4-FFF2-40B4-BE49-F238E27FC236}">
                <a16:creationId xmlns:a16="http://schemas.microsoft.com/office/drawing/2014/main" id="{55EB3997-1A38-75D5-7A0A-7E86AD943C9E}"/>
              </a:ext>
            </a:extLst>
          </p:cNvPr>
          <p:cNvSpPr>
            <a:spLocks noGrp="1"/>
          </p:cNvSpPr>
          <p:nvPr>
            <p:ph type="title"/>
          </p:nvPr>
        </p:nvSpPr>
        <p:spPr/>
        <p:txBody>
          <a:bodyPr/>
          <a:lstStyle/>
          <a:p>
            <a:r>
              <a:rPr lang="en-US" dirty="0"/>
              <a:t>Service Registry | Third Party Registration</a:t>
            </a:r>
          </a:p>
        </p:txBody>
      </p:sp>
      <p:pic>
        <p:nvPicPr>
          <p:cNvPr id="3" name="Content Placeholder 4">
            <a:extLst>
              <a:ext uri="{FF2B5EF4-FFF2-40B4-BE49-F238E27FC236}">
                <a16:creationId xmlns:a16="http://schemas.microsoft.com/office/drawing/2014/main" id="{90DCEF3B-0D39-0D9B-F420-13E4F3A4BBFB}"/>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5296320" y="2945917"/>
            <a:ext cx="3847680" cy="2092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638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4FCE7-C073-901F-2D6A-87EBCFB732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FEB63F-7E4D-CF3F-F735-D24DA919DDBB}"/>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36</a:t>
            </a:fld>
            <a:endParaRPr lang="en-US"/>
          </a:p>
        </p:txBody>
      </p:sp>
      <p:sp>
        <p:nvSpPr>
          <p:cNvPr id="4" name="Google Shape;212;p15">
            <a:extLst>
              <a:ext uri="{FF2B5EF4-FFF2-40B4-BE49-F238E27FC236}">
                <a16:creationId xmlns:a16="http://schemas.microsoft.com/office/drawing/2014/main" id="{C8A19E48-881E-84FD-1ABF-D62B663DE33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Service Discovery</a:t>
            </a:r>
          </a:p>
        </p:txBody>
      </p:sp>
      <p:pic>
        <p:nvPicPr>
          <p:cNvPr id="6" name="Picture 5">
            <a:extLst>
              <a:ext uri="{FF2B5EF4-FFF2-40B4-BE49-F238E27FC236}">
                <a16:creationId xmlns:a16="http://schemas.microsoft.com/office/drawing/2014/main" id="{DE95C34C-A7A2-75C4-8F8D-CE31F4CAB6B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310831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17040-34FD-8D62-5927-29F5A1F4C27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F1CF8-D43D-5615-212A-AC0F82530A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6" name="Content Placeholder 5">
            <a:extLst>
              <a:ext uri="{FF2B5EF4-FFF2-40B4-BE49-F238E27FC236}">
                <a16:creationId xmlns:a16="http://schemas.microsoft.com/office/drawing/2014/main" id="{61B9FA40-A67C-5EA7-2CA3-54A20612D474}"/>
              </a:ext>
            </a:extLst>
          </p:cNvPr>
          <p:cNvSpPr>
            <a:spLocks noGrp="1"/>
          </p:cNvSpPr>
          <p:nvPr>
            <p:ph idx="1"/>
          </p:nvPr>
        </p:nvSpPr>
        <p:spPr>
          <a:xfrm>
            <a:off x="380010" y="1481446"/>
            <a:ext cx="8301766" cy="4525963"/>
          </a:xfrm>
        </p:spPr>
        <p:txBody>
          <a:bodyPr>
            <a:normAutofit/>
          </a:bodyPr>
          <a:lstStyle/>
          <a:p>
            <a:r>
              <a:rPr lang="en-US" dirty="0"/>
              <a:t>As previously stated, Service Discovery solves the question: “</a:t>
            </a:r>
            <a:r>
              <a:rPr lang="en-US" b="1" i="1" dirty="0"/>
              <a:t>How does one service find another service without hardcoding hostnames and ports</a:t>
            </a:r>
            <a:r>
              <a:rPr lang="en-US" dirty="0"/>
              <a:t>?”</a:t>
            </a:r>
          </a:p>
          <a:p>
            <a:r>
              <a:rPr lang="en-US" dirty="0"/>
              <a:t>We will explore 2 options</a:t>
            </a:r>
          </a:p>
          <a:p>
            <a:pPr lvl="1"/>
            <a:r>
              <a:rPr lang="en-US" dirty="0"/>
              <a:t>Spring Cloud Kubernetes</a:t>
            </a:r>
          </a:p>
          <a:p>
            <a:pPr lvl="1"/>
            <a:r>
              <a:rPr lang="en-US" dirty="0" err="1"/>
              <a:t>HashiCorp</a:t>
            </a:r>
            <a:r>
              <a:rPr lang="en-US" dirty="0"/>
              <a:t> Consul</a:t>
            </a:r>
          </a:p>
        </p:txBody>
      </p:sp>
      <p:sp>
        <p:nvSpPr>
          <p:cNvPr id="5" name="Title 4">
            <a:extLst>
              <a:ext uri="{FF2B5EF4-FFF2-40B4-BE49-F238E27FC236}">
                <a16:creationId xmlns:a16="http://schemas.microsoft.com/office/drawing/2014/main" id="{97FEF3A6-C919-BBD6-E807-641AC35B161E}"/>
              </a:ext>
            </a:extLst>
          </p:cNvPr>
          <p:cNvSpPr>
            <a:spLocks noGrp="1"/>
          </p:cNvSpPr>
          <p:nvPr>
            <p:ph type="title"/>
          </p:nvPr>
        </p:nvSpPr>
        <p:spPr/>
        <p:txBody>
          <a:bodyPr/>
          <a:lstStyle/>
          <a:p>
            <a:r>
              <a:rPr lang="en-US" dirty="0"/>
              <a:t>Service Discovery</a:t>
            </a:r>
          </a:p>
        </p:txBody>
      </p:sp>
    </p:spTree>
    <p:extLst>
      <p:ext uri="{BB962C8B-B14F-4D97-AF65-F5344CB8AC3E}">
        <p14:creationId xmlns:p14="http://schemas.microsoft.com/office/powerpoint/2010/main" val="211498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FC74-71A3-42A3-84A5-050D832E8BB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571B44-7E7C-6C2A-8BD3-BB0B68D229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
        <p:nvSpPr>
          <p:cNvPr id="6" name="Content Placeholder 5">
            <a:extLst>
              <a:ext uri="{FF2B5EF4-FFF2-40B4-BE49-F238E27FC236}">
                <a16:creationId xmlns:a16="http://schemas.microsoft.com/office/drawing/2014/main" id="{5C24895D-96EA-B5E7-3FD4-2DB2E056B5BE}"/>
              </a:ext>
            </a:extLst>
          </p:cNvPr>
          <p:cNvSpPr>
            <a:spLocks noGrp="1"/>
          </p:cNvSpPr>
          <p:nvPr>
            <p:ph idx="1"/>
          </p:nvPr>
        </p:nvSpPr>
        <p:spPr>
          <a:xfrm>
            <a:off x="380010" y="1481446"/>
            <a:ext cx="8301766" cy="4882266"/>
          </a:xfrm>
        </p:spPr>
        <p:txBody>
          <a:bodyPr>
            <a:normAutofit fontScale="85000" lnSpcReduction="20000"/>
          </a:bodyPr>
          <a:lstStyle/>
          <a:p>
            <a:r>
              <a:rPr lang="en-US" dirty="0"/>
              <a:t>With </a:t>
            </a:r>
            <a:r>
              <a:rPr lang="en-US" b="1" dirty="0"/>
              <a:t>Spring Cloud Kubernetes</a:t>
            </a:r>
            <a:r>
              <a:rPr lang="en-US" dirty="0"/>
              <a:t>, Spring can use Kubernetes itself as the discovery source, </a:t>
            </a:r>
          </a:p>
          <a:p>
            <a:r>
              <a:rPr lang="en-US" dirty="0"/>
              <a:t>Kubernetes Discovery Client allows you to query Kubernetes endpoints by name, where services are exposed.</a:t>
            </a:r>
          </a:p>
          <a:p>
            <a:r>
              <a:rPr lang="en-US" dirty="0"/>
              <a:t>Within your Spring </a:t>
            </a:r>
            <a:r>
              <a:rPr lang="en-US" dirty="0" err="1"/>
              <a:t>application.yml</a:t>
            </a:r>
            <a:r>
              <a:rPr lang="en-US" dirty="0"/>
              <a:t> file, you can configure Kubernetes to discover the service, Kubernetes </a:t>
            </a:r>
            <a:r>
              <a:rPr lang="en-US" dirty="0" err="1"/>
              <a:t>DiscoveryClient</a:t>
            </a:r>
            <a:r>
              <a:rPr lang="en-US" dirty="0"/>
              <a:t> will do the rest.</a:t>
            </a:r>
          </a:p>
          <a:p>
            <a:r>
              <a:rPr lang="en-US" dirty="0"/>
              <a:t>Kubernetes registers services in this way:</a:t>
            </a:r>
          </a:p>
          <a:p>
            <a:pPr lvl="1"/>
            <a:r>
              <a:rPr lang="en-US" dirty="0"/>
              <a:t>Pods Start</a:t>
            </a:r>
          </a:p>
          <a:p>
            <a:pPr lvl="1"/>
            <a:r>
              <a:rPr lang="en-US" dirty="0"/>
              <a:t>A Kubernetes Service object is created</a:t>
            </a:r>
          </a:p>
          <a:p>
            <a:pPr lvl="1"/>
            <a:r>
              <a:rPr lang="en-US" dirty="0"/>
              <a:t>Kubernetes tracks pod Ips</a:t>
            </a:r>
          </a:p>
          <a:p>
            <a:pPr lvl="1"/>
            <a:r>
              <a:rPr lang="en-US" dirty="0"/>
              <a:t>Kubernetes DNS exposes the service name</a:t>
            </a:r>
          </a:p>
          <a:p>
            <a:pPr lvl="1"/>
            <a:r>
              <a:rPr lang="en-US" dirty="0"/>
              <a:t>Other services query the service DNS name</a:t>
            </a:r>
          </a:p>
          <a:p>
            <a:endParaRPr lang="en-US" dirty="0"/>
          </a:p>
        </p:txBody>
      </p:sp>
      <p:sp>
        <p:nvSpPr>
          <p:cNvPr id="5" name="Title 4">
            <a:extLst>
              <a:ext uri="{FF2B5EF4-FFF2-40B4-BE49-F238E27FC236}">
                <a16:creationId xmlns:a16="http://schemas.microsoft.com/office/drawing/2014/main" id="{E12D9E02-4943-0667-2C43-B266E13A4909}"/>
              </a:ext>
            </a:extLst>
          </p:cNvPr>
          <p:cNvSpPr>
            <a:spLocks noGrp="1"/>
          </p:cNvSpPr>
          <p:nvPr>
            <p:ph type="title"/>
          </p:nvPr>
        </p:nvSpPr>
        <p:spPr/>
        <p:txBody>
          <a:bodyPr/>
          <a:lstStyle/>
          <a:p>
            <a:r>
              <a:rPr lang="en-US" dirty="0"/>
              <a:t>Service Discovery | Kubernetes</a:t>
            </a:r>
          </a:p>
        </p:txBody>
      </p:sp>
    </p:spTree>
    <p:extLst>
      <p:ext uri="{BB962C8B-B14F-4D97-AF65-F5344CB8AC3E}">
        <p14:creationId xmlns:p14="http://schemas.microsoft.com/office/powerpoint/2010/main" val="139014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0FB2-974F-4864-E7F3-91B02DD7AD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7F0413-D7BD-43B9-B8D8-32A3D0921C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
        <p:nvSpPr>
          <p:cNvPr id="5" name="Title 4">
            <a:extLst>
              <a:ext uri="{FF2B5EF4-FFF2-40B4-BE49-F238E27FC236}">
                <a16:creationId xmlns:a16="http://schemas.microsoft.com/office/drawing/2014/main" id="{C60D6A9B-9EE5-8591-CEFA-48D6A6709D6D}"/>
              </a:ext>
            </a:extLst>
          </p:cNvPr>
          <p:cNvSpPr>
            <a:spLocks noGrp="1"/>
          </p:cNvSpPr>
          <p:nvPr>
            <p:ph type="title"/>
          </p:nvPr>
        </p:nvSpPr>
        <p:spPr/>
        <p:txBody>
          <a:bodyPr/>
          <a:lstStyle/>
          <a:p>
            <a:r>
              <a:rPr lang="en-US" dirty="0"/>
              <a:t>Service Discovery | Kubernetes</a:t>
            </a:r>
          </a:p>
        </p:txBody>
      </p:sp>
      <p:pic>
        <p:nvPicPr>
          <p:cNvPr id="8" name="Picture 7">
            <a:extLst>
              <a:ext uri="{FF2B5EF4-FFF2-40B4-BE49-F238E27FC236}">
                <a16:creationId xmlns:a16="http://schemas.microsoft.com/office/drawing/2014/main" id="{89716F7B-ECB8-5590-608F-F204B4A23F1E}"/>
              </a:ext>
            </a:extLst>
          </p:cNvPr>
          <p:cNvPicPr>
            <a:picLocks noChangeAspect="1"/>
          </p:cNvPicPr>
          <p:nvPr/>
        </p:nvPicPr>
        <p:blipFill>
          <a:blip r:embed="rId2"/>
          <a:stretch>
            <a:fillRect/>
          </a:stretch>
        </p:blipFill>
        <p:spPr>
          <a:xfrm>
            <a:off x="167922" y="1663274"/>
            <a:ext cx="3010320" cy="4829849"/>
          </a:xfrm>
          <a:prstGeom prst="rect">
            <a:avLst/>
          </a:prstGeom>
        </p:spPr>
      </p:pic>
      <p:sp>
        <p:nvSpPr>
          <p:cNvPr id="13" name="TextBox 12">
            <a:extLst>
              <a:ext uri="{FF2B5EF4-FFF2-40B4-BE49-F238E27FC236}">
                <a16:creationId xmlns:a16="http://schemas.microsoft.com/office/drawing/2014/main" id="{50B8169E-B130-7EB7-E81A-11E16F65163B}"/>
              </a:ext>
            </a:extLst>
          </p:cNvPr>
          <p:cNvSpPr txBox="1"/>
          <p:nvPr/>
        </p:nvSpPr>
        <p:spPr>
          <a:xfrm>
            <a:off x="702044" y="1293942"/>
            <a:ext cx="1710725" cy="369332"/>
          </a:xfrm>
          <a:prstGeom prst="rect">
            <a:avLst/>
          </a:prstGeom>
          <a:noFill/>
        </p:spPr>
        <p:txBody>
          <a:bodyPr wrap="none" rtlCol="0">
            <a:spAutoFit/>
          </a:bodyPr>
          <a:lstStyle/>
          <a:p>
            <a:r>
              <a:rPr lang="en-US" dirty="0" err="1"/>
              <a:t>application.yml</a:t>
            </a:r>
            <a:endParaRPr lang="en-US" dirty="0"/>
          </a:p>
        </p:txBody>
      </p:sp>
      <p:sp>
        <p:nvSpPr>
          <p:cNvPr id="15" name="Content Placeholder 5">
            <a:extLst>
              <a:ext uri="{FF2B5EF4-FFF2-40B4-BE49-F238E27FC236}">
                <a16:creationId xmlns:a16="http://schemas.microsoft.com/office/drawing/2014/main" id="{D945AB8C-110E-0E35-D83A-2671C5937932}"/>
              </a:ext>
            </a:extLst>
          </p:cNvPr>
          <p:cNvSpPr>
            <a:spLocks noGrp="1"/>
          </p:cNvSpPr>
          <p:nvPr>
            <p:ph idx="1"/>
          </p:nvPr>
        </p:nvSpPr>
        <p:spPr>
          <a:xfrm>
            <a:off x="3285811" y="2473109"/>
            <a:ext cx="5690267" cy="3210177"/>
          </a:xfrm>
        </p:spPr>
        <p:txBody>
          <a:bodyPr>
            <a:normAutofit/>
          </a:bodyPr>
          <a:lstStyle/>
          <a:p>
            <a:r>
              <a:rPr lang="en-US" sz="1600" b="1" i="1" dirty="0"/>
              <a:t>spring.application.name</a:t>
            </a:r>
            <a:r>
              <a:rPr lang="en-US" sz="1600" dirty="0"/>
              <a:t>: names the service</a:t>
            </a:r>
          </a:p>
          <a:p>
            <a:r>
              <a:rPr lang="en-US" sz="1600" b="1" i="1" dirty="0" err="1"/>
              <a:t>spring.cloud.kubernetes.discovery.enabled</a:t>
            </a:r>
            <a:r>
              <a:rPr lang="en-US" sz="1600" dirty="0"/>
              <a:t>: turns on Kubernetes-based discovery</a:t>
            </a:r>
          </a:p>
          <a:p>
            <a:r>
              <a:rPr lang="en-US" sz="1600" b="1" i="1" dirty="0"/>
              <a:t>all-namespaces</a:t>
            </a:r>
            <a:r>
              <a:rPr lang="en-US" sz="1600" dirty="0"/>
              <a:t>: false: limits lookup to the current namespace unless you want broader discovery</a:t>
            </a:r>
          </a:p>
          <a:p>
            <a:r>
              <a:rPr lang="en-US" sz="1600" b="1" i="1" dirty="0" err="1"/>
              <a:t>spring.cloud.kubernetes.config.enabled</a:t>
            </a:r>
            <a:r>
              <a:rPr lang="en-US" sz="1600" dirty="0"/>
              <a:t>: allows reading config from </a:t>
            </a:r>
            <a:r>
              <a:rPr lang="en-US" sz="1600" dirty="0" err="1"/>
              <a:t>ConfigMaps</a:t>
            </a:r>
            <a:endParaRPr lang="en-US" sz="1600" dirty="0"/>
          </a:p>
          <a:p>
            <a:pPr lvl="1"/>
            <a:r>
              <a:rPr lang="en-US" sz="1200" dirty="0" err="1"/>
              <a:t>ConfigMaps</a:t>
            </a:r>
            <a:r>
              <a:rPr lang="en-US" sz="1200" dirty="0"/>
              <a:t> are an API object used to store non-confidential data in key-value pairs</a:t>
            </a:r>
          </a:p>
          <a:p>
            <a:r>
              <a:rPr lang="en-US" sz="1600" b="1" i="1" dirty="0" err="1"/>
              <a:t>management.endpoint.health.probes.enabled</a:t>
            </a:r>
            <a:r>
              <a:rPr lang="en-US" sz="1600" dirty="0"/>
              <a:t>: useful for Kubernetes liveness/readiness probes</a:t>
            </a:r>
          </a:p>
        </p:txBody>
      </p:sp>
    </p:spTree>
    <p:extLst>
      <p:ext uri="{BB962C8B-B14F-4D97-AF65-F5344CB8AC3E}">
        <p14:creationId xmlns:p14="http://schemas.microsoft.com/office/powerpoint/2010/main" val="429300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1F0C9-F22E-8491-59A4-8F3DEF0A92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1C8FD2-4B1D-9E23-2EAC-458D1A9F11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
        <p:nvSpPr>
          <p:cNvPr id="6" name="Content Placeholder 5">
            <a:extLst>
              <a:ext uri="{FF2B5EF4-FFF2-40B4-BE49-F238E27FC236}">
                <a16:creationId xmlns:a16="http://schemas.microsoft.com/office/drawing/2014/main" id="{C012A1AF-8A21-6438-5077-D00863CD7D31}"/>
              </a:ext>
            </a:extLst>
          </p:cNvPr>
          <p:cNvSpPr>
            <a:spLocks noGrp="1"/>
          </p:cNvSpPr>
          <p:nvPr>
            <p:ph idx="1"/>
          </p:nvPr>
        </p:nvSpPr>
        <p:spPr>
          <a:xfrm>
            <a:off x="380010" y="1481446"/>
            <a:ext cx="8301766" cy="4525963"/>
          </a:xfrm>
        </p:spPr>
        <p:txBody>
          <a:bodyPr>
            <a:normAutofit fontScale="92500" lnSpcReduction="20000"/>
          </a:bodyPr>
          <a:lstStyle/>
          <a:p>
            <a:r>
              <a:rPr lang="en-US" dirty="0" err="1"/>
              <a:t>HashiCorp</a:t>
            </a:r>
            <a:r>
              <a:rPr lang="en-US" dirty="0"/>
              <a:t> Consul is a dedicated service registry and configuration system.</a:t>
            </a:r>
          </a:p>
          <a:p>
            <a:r>
              <a:rPr lang="en-US" dirty="0"/>
              <a:t>Unlike Kubernetes, services must register themselves with Consul</a:t>
            </a:r>
          </a:p>
          <a:p>
            <a:pPr lvl="1"/>
            <a:r>
              <a:rPr lang="en-US" dirty="0"/>
              <a:t>It is also possible to use third-party registration with consul, though self-registration is preferred</a:t>
            </a:r>
          </a:p>
          <a:p>
            <a:r>
              <a:rPr lang="en-US" dirty="0"/>
              <a:t>Services are maintained using a </a:t>
            </a:r>
            <a:r>
              <a:rPr lang="en-US" b="1" i="1" dirty="0"/>
              <a:t>service catalog</a:t>
            </a:r>
            <a:endParaRPr lang="en-US" dirty="0"/>
          </a:p>
          <a:p>
            <a:r>
              <a:rPr lang="en-US" dirty="0"/>
              <a:t>Consul manages services in this way:</a:t>
            </a:r>
          </a:p>
          <a:p>
            <a:pPr lvl="1"/>
            <a:r>
              <a:rPr lang="en-US" dirty="0"/>
              <a:t>Service starts</a:t>
            </a:r>
          </a:p>
          <a:p>
            <a:pPr lvl="1"/>
            <a:r>
              <a:rPr lang="en-US" dirty="0"/>
              <a:t>Service registers with Consul agent</a:t>
            </a:r>
          </a:p>
          <a:p>
            <a:pPr lvl="1"/>
            <a:r>
              <a:rPr lang="en-US" dirty="0"/>
              <a:t>Consul stores service metadata</a:t>
            </a:r>
          </a:p>
          <a:p>
            <a:pPr lvl="1"/>
            <a:r>
              <a:rPr lang="en-US" dirty="0"/>
              <a:t>Other services query Consul</a:t>
            </a:r>
          </a:p>
          <a:p>
            <a:endParaRPr lang="en-US" dirty="0"/>
          </a:p>
          <a:p>
            <a:endParaRPr lang="en-US" dirty="0"/>
          </a:p>
        </p:txBody>
      </p:sp>
      <p:sp>
        <p:nvSpPr>
          <p:cNvPr id="5" name="Title 4">
            <a:extLst>
              <a:ext uri="{FF2B5EF4-FFF2-40B4-BE49-F238E27FC236}">
                <a16:creationId xmlns:a16="http://schemas.microsoft.com/office/drawing/2014/main" id="{7EA334C7-DDCC-FA11-FD8A-170A7B714DB9}"/>
              </a:ext>
            </a:extLst>
          </p:cNvPr>
          <p:cNvSpPr>
            <a:spLocks noGrp="1"/>
          </p:cNvSpPr>
          <p:nvPr>
            <p:ph type="title"/>
          </p:nvPr>
        </p:nvSpPr>
        <p:spPr/>
        <p:txBody>
          <a:bodyPr/>
          <a:lstStyle/>
          <a:p>
            <a:r>
              <a:rPr lang="en-US" dirty="0"/>
              <a:t>Service Discovery | </a:t>
            </a:r>
            <a:r>
              <a:rPr lang="en-US" dirty="0" err="1"/>
              <a:t>HashiCorp</a:t>
            </a:r>
            <a:r>
              <a:rPr lang="en-US" dirty="0"/>
              <a:t> Consul</a:t>
            </a:r>
          </a:p>
        </p:txBody>
      </p:sp>
    </p:spTree>
    <p:extLst>
      <p:ext uri="{BB962C8B-B14F-4D97-AF65-F5344CB8AC3E}">
        <p14:creationId xmlns:p14="http://schemas.microsoft.com/office/powerpoint/2010/main" val="189682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417F-FB4A-469F-4596-8941B382343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F08D89-F797-D9C6-1B4C-27F8BBDE7B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6" name="Content Placeholder 5">
            <a:extLst>
              <a:ext uri="{FF2B5EF4-FFF2-40B4-BE49-F238E27FC236}">
                <a16:creationId xmlns:a16="http://schemas.microsoft.com/office/drawing/2014/main" id="{EE1C91C4-D6FC-E34F-9F6F-EEDC8132277C}"/>
              </a:ext>
            </a:extLst>
          </p:cNvPr>
          <p:cNvSpPr>
            <a:spLocks noGrp="1"/>
          </p:cNvSpPr>
          <p:nvPr>
            <p:ph idx="1"/>
          </p:nvPr>
        </p:nvSpPr>
        <p:spPr>
          <a:xfrm>
            <a:off x="380010" y="1481446"/>
            <a:ext cx="4825036" cy="5247391"/>
          </a:xfrm>
        </p:spPr>
        <p:txBody>
          <a:bodyPr>
            <a:normAutofit fontScale="62500" lnSpcReduction="20000"/>
          </a:bodyPr>
          <a:lstStyle/>
          <a:p>
            <a:r>
              <a:rPr lang="en-US" b="1" dirty="0" err="1"/>
              <a:t>spring.config.import</a:t>
            </a:r>
            <a:r>
              <a:rPr lang="en-US" b="1" dirty="0"/>
              <a:t>: "optional:consul:localhost:8500“</a:t>
            </a:r>
            <a:r>
              <a:rPr lang="en-US" dirty="0"/>
              <a:t>: tells Spring Boot to import configuration from Consul</a:t>
            </a:r>
          </a:p>
          <a:p>
            <a:r>
              <a:rPr lang="en-US" b="1" dirty="0" err="1"/>
              <a:t>spring.cloud.consul.host</a:t>
            </a:r>
            <a:r>
              <a:rPr lang="en-US" b="1" dirty="0"/>
              <a:t> / port</a:t>
            </a:r>
            <a:r>
              <a:rPr lang="en-US" dirty="0"/>
              <a:t>: point to the Consul agent</a:t>
            </a:r>
          </a:p>
          <a:p>
            <a:r>
              <a:rPr lang="en-US" b="1" dirty="0" err="1"/>
              <a:t>spring.cloud.consul.discovery.enabled</a:t>
            </a:r>
            <a:r>
              <a:rPr lang="en-US" dirty="0"/>
              <a:t>: enables discovery</a:t>
            </a:r>
          </a:p>
          <a:p>
            <a:r>
              <a:rPr lang="en-US" b="1" dirty="0" err="1"/>
              <a:t>discovery.register</a:t>
            </a:r>
            <a:r>
              <a:rPr lang="en-US" dirty="0"/>
              <a:t>: registers this app in Consul</a:t>
            </a:r>
          </a:p>
          <a:p>
            <a:r>
              <a:rPr lang="en-US" b="1" dirty="0"/>
              <a:t>service-name</a:t>
            </a:r>
            <a:r>
              <a:rPr lang="en-US" dirty="0"/>
              <a:t>: sets the name other services will use</a:t>
            </a:r>
          </a:p>
          <a:p>
            <a:r>
              <a:rPr lang="en-US" b="1" dirty="0"/>
              <a:t>health-check-path</a:t>
            </a:r>
            <a:r>
              <a:rPr lang="en-US" dirty="0"/>
              <a:t> and </a:t>
            </a:r>
            <a:r>
              <a:rPr lang="en-US" b="1" dirty="0"/>
              <a:t>health-check-interval</a:t>
            </a:r>
            <a:r>
              <a:rPr lang="en-US" dirty="0"/>
              <a:t>: let Consul know how to verify the service is alive</a:t>
            </a:r>
          </a:p>
          <a:p>
            <a:r>
              <a:rPr lang="en-US" b="1" dirty="0" err="1"/>
              <a:t>spring.cloud.consul.config</a:t>
            </a:r>
            <a:r>
              <a:rPr lang="en-US" b="1" dirty="0"/>
              <a:t>.*</a:t>
            </a:r>
            <a:r>
              <a:rPr lang="en-US" dirty="0"/>
              <a:t>: configures how app settings are loaded from Consul KV</a:t>
            </a:r>
          </a:p>
          <a:p>
            <a:r>
              <a:rPr lang="en-US" b="1" dirty="0" err="1"/>
              <a:t>management.endpoints.web.exposure</a:t>
            </a:r>
            <a:r>
              <a:rPr lang="en-US" dirty="0"/>
              <a:t>: useful for health checks and meta-data (actuator)</a:t>
            </a:r>
          </a:p>
        </p:txBody>
      </p:sp>
      <p:sp>
        <p:nvSpPr>
          <p:cNvPr id="5" name="Title 4">
            <a:extLst>
              <a:ext uri="{FF2B5EF4-FFF2-40B4-BE49-F238E27FC236}">
                <a16:creationId xmlns:a16="http://schemas.microsoft.com/office/drawing/2014/main" id="{5FD04FE0-5D70-A17E-CDDC-D3896DE769DA}"/>
              </a:ext>
            </a:extLst>
          </p:cNvPr>
          <p:cNvSpPr>
            <a:spLocks noGrp="1"/>
          </p:cNvSpPr>
          <p:nvPr>
            <p:ph type="title"/>
          </p:nvPr>
        </p:nvSpPr>
        <p:spPr/>
        <p:txBody>
          <a:bodyPr/>
          <a:lstStyle/>
          <a:p>
            <a:r>
              <a:rPr lang="en-US" dirty="0"/>
              <a:t>Service Discovery | </a:t>
            </a:r>
            <a:r>
              <a:rPr lang="en-US" dirty="0" err="1"/>
              <a:t>HashiCorp</a:t>
            </a:r>
            <a:r>
              <a:rPr lang="en-US" dirty="0"/>
              <a:t> Consul</a:t>
            </a:r>
          </a:p>
        </p:txBody>
      </p:sp>
      <p:pic>
        <p:nvPicPr>
          <p:cNvPr id="3" name="Picture 2">
            <a:extLst>
              <a:ext uri="{FF2B5EF4-FFF2-40B4-BE49-F238E27FC236}">
                <a16:creationId xmlns:a16="http://schemas.microsoft.com/office/drawing/2014/main" id="{B6BA4AEA-6447-2EF5-75E1-3818F94E0785}"/>
              </a:ext>
            </a:extLst>
          </p:cNvPr>
          <p:cNvPicPr>
            <a:picLocks noChangeAspect="1"/>
          </p:cNvPicPr>
          <p:nvPr/>
        </p:nvPicPr>
        <p:blipFill>
          <a:blip r:embed="rId2"/>
          <a:stretch>
            <a:fillRect/>
          </a:stretch>
        </p:blipFill>
        <p:spPr>
          <a:xfrm>
            <a:off x="5446570" y="1301530"/>
            <a:ext cx="3537858" cy="5427307"/>
          </a:xfrm>
          <a:prstGeom prst="rect">
            <a:avLst/>
          </a:prstGeom>
        </p:spPr>
      </p:pic>
    </p:spTree>
    <p:extLst>
      <p:ext uri="{BB962C8B-B14F-4D97-AF65-F5344CB8AC3E}">
        <p14:creationId xmlns:p14="http://schemas.microsoft.com/office/powerpoint/2010/main" val="258598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6A04-CB72-C2CF-3455-4903F7CD41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5348AA-52A8-4AEC-83B5-B0C50233AC3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
        <p:nvSpPr>
          <p:cNvPr id="5" name="Title 4">
            <a:extLst>
              <a:ext uri="{FF2B5EF4-FFF2-40B4-BE49-F238E27FC236}">
                <a16:creationId xmlns:a16="http://schemas.microsoft.com/office/drawing/2014/main" id="{A5ED2363-849A-5FEF-4B3B-E9189092779B}"/>
              </a:ext>
            </a:extLst>
          </p:cNvPr>
          <p:cNvSpPr>
            <a:spLocks noGrp="1"/>
          </p:cNvSpPr>
          <p:nvPr>
            <p:ph type="title"/>
          </p:nvPr>
        </p:nvSpPr>
        <p:spPr/>
        <p:txBody>
          <a:bodyPr/>
          <a:lstStyle/>
          <a:p>
            <a:r>
              <a:rPr lang="en-US" dirty="0"/>
              <a:t>Service Discovery</a:t>
            </a:r>
          </a:p>
        </p:txBody>
      </p:sp>
      <p:sp>
        <p:nvSpPr>
          <p:cNvPr id="7" name="Content Placeholder 5">
            <a:extLst>
              <a:ext uri="{FF2B5EF4-FFF2-40B4-BE49-F238E27FC236}">
                <a16:creationId xmlns:a16="http://schemas.microsoft.com/office/drawing/2014/main" id="{3FF886F2-BE99-31FB-0DD4-937D6F74ECFE}"/>
              </a:ext>
            </a:extLst>
          </p:cNvPr>
          <p:cNvSpPr>
            <a:spLocks noGrp="1"/>
          </p:cNvSpPr>
          <p:nvPr>
            <p:ph idx="1"/>
          </p:nvPr>
        </p:nvSpPr>
        <p:spPr>
          <a:xfrm>
            <a:off x="380010" y="1481446"/>
            <a:ext cx="8301766" cy="1070835"/>
          </a:xfrm>
        </p:spPr>
        <p:txBody>
          <a:bodyPr>
            <a:normAutofit/>
          </a:bodyPr>
          <a:lstStyle/>
          <a:p>
            <a:r>
              <a:rPr lang="en-US" dirty="0"/>
              <a:t>For either Registry service, the spring controller might look like this:</a:t>
            </a:r>
          </a:p>
          <a:p>
            <a:endParaRPr lang="en-US" dirty="0"/>
          </a:p>
        </p:txBody>
      </p:sp>
      <p:pic>
        <p:nvPicPr>
          <p:cNvPr id="3" name="Picture 2">
            <a:extLst>
              <a:ext uri="{FF2B5EF4-FFF2-40B4-BE49-F238E27FC236}">
                <a16:creationId xmlns:a16="http://schemas.microsoft.com/office/drawing/2014/main" id="{2AC7A45E-72C1-0450-DB75-0A4C67133CB2}"/>
              </a:ext>
            </a:extLst>
          </p:cNvPr>
          <p:cNvPicPr>
            <a:picLocks noChangeAspect="1"/>
          </p:cNvPicPr>
          <p:nvPr/>
        </p:nvPicPr>
        <p:blipFill>
          <a:blip r:embed="rId2"/>
          <a:stretch>
            <a:fillRect/>
          </a:stretch>
        </p:blipFill>
        <p:spPr>
          <a:xfrm>
            <a:off x="2052286" y="2814527"/>
            <a:ext cx="5039428" cy="3324689"/>
          </a:xfrm>
          <a:prstGeom prst="rect">
            <a:avLst/>
          </a:prstGeom>
        </p:spPr>
      </p:pic>
    </p:spTree>
    <p:extLst>
      <p:ext uri="{BB962C8B-B14F-4D97-AF65-F5344CB8AC3E}">
        <p14:creationId xmlns:p14="http://schemas.microsoft.com/office/powerpoint/2010/main" val="235357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1ADC0-6628-AA5E-ABAD-5F6799FDBE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F53B51-F2AD-7FFA-D6AB-E298E68A63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
        <p:nvSpPr>
          <p:cNvPr id="6" name="Content Placeholder 5">
            <a:extLst>
              <a:ext uri="{FF2B5EF4-FFF2-40B4-BE49-F238E27FC236}">
                <a16:creationId xmlns:a16="http://schemas.microsoft.com/office/drawing/2014/main" id="{E1C2F529-C6BB-7786-44B2-1C44EB392CB7}"/>
              </a:ext>
            </a:extLst>
          </p:cNvPr>
          <p:cNvSpPr>
            <a:spLocks noGrp="1"/>
          </p:cNvSpPr>
          <p:nvPr>
            <p:ph idx="1"/>
          </p:nvPr>
        </p:nvSpPr>
        <p:spPr>
          <a:xfrm>
            <a:off x="380010" y="1481446"/>
            <a:ext cx="8301766" cy="4525963"/>
          </a:xfrm>
        </p:spPr>
        <p:txBody>
          <a:bodyPr>
            <a:normAutofit/>
          </a:bodyPr>
          <a:lstStyle/>
          <a:p>
            <a:r>
              <a:rPr lang="en-US" dirty="0"/>
              <a:t>There are two main service discovery design patterns (how services locate other services)</a:t>
            </a:r>
          </a:p>
          <a:p>
            <a:r>
              <a:rPr lang="en-US" dirty="0"/>
              <a:t>Client-Side discovery Pattern</a:t>
            </a:r>
          </a:p>
          <a:p>
            <a:r>
              <a:rPr lang="en-US" dirty="0"/>
              <a:t>Servier-Side discovery Pattern</a:t>
            </a:r>
          </a:p>
          <a:p>
            <a:endParaRPr lang="en-US" dirty="0"/>
          </a:p>
        </p:txBody>
      </p:sp>
      <p:sp>
        <p:nvSpPr>
          <p:cNvPr id="5" name="Title 4">
            <a:extLst>
              <a:ext uri="{FF2B5EF4-FFF2-40B4-BE49-F238E27FC236}">
                <a16:creationId xmlns:a16="http://schemas.microsoft.com/office/drawing/2014/main" id="{EE0715ED-FFCB-D81D-EE4E-B21234E12CD8}"/>
              </a:ext>
            </a:extLst>
          </p:cNvPr>
          <p:cNvSpPr>
            <a:spLocks noGrp="1"/>
          </p:cNvSpPr>
          <p:nvPr>
            <p:ph type="title"/>
          </p:nvPr>
        </p:nvSpPr>
        <p:spPr/>
        <p:txBody>
          <a:bodyPr/>
          <a:lstStyle/>
          <a:p>
            <a:r>
              <a:rPr lang="en-US" dirty="0"/>
              <a:t>Service Discovery | Patterns</a:t>
            </a:r>
          </a:p>
        </p:txBody>
      </p:sp>
    </p:spTree>
    <p:extLst>
      <p:ext uri="{BB962C8B-B14F-4D97-AF65-F5344CB8AC3E}">
        <p14:creationId xmlns:p14="http://schemas.microsoft.com/office/powerpoint/2010/main" val="257842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D9255-C283-580A-E197-E35E7ABB0F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48DAB3-9C71-D8BA-8995-2E84A9F550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
        <p:nvSpPr>
          <p:cNvPr id="6" name="Content Placeholder 5">
            <a:extLst>
              <a:ext uri="{FF2B5EF4-FFF2-40B4-BE49-F238E27FC236}">
                <a16:creationId xmlns:a16="http://schemas.microsoft.com/office/drawing/2014/main" id="{06888BFC-2C16-F32D-5E9F-74DCD2EF55F0}"/>
              </a:ext>
            </a:extLst>
          </p:cNvPr>
          <p:cNvSpPr>
            <a:spLocks noGrp="1"/>
          </p:cNvSpPr>
          <p:nvPr>
            <p:ph idx="1"/>
          </p:nvPr>
        </p:nvSpPr>
        <p:spPr>
          <a:xfrm>
            <a:off x="380010" y="1481446"/>
            <a:ext cx="3880491" cy="4525963"/>
          </a:xfrm>
        </p:spPr>
        <p:txBody>
          <a:bodyPr>
            <a:normAutofit/>
          </a:bodyPr>
          <a:lstStyle/>
          <a:p>
            <a:pPr marL="0" indent="0">
              <a:buNone/>
            </a:pPr>
            <a:r>
              <a:rPr lang="en-US" dirty="0"/>
              <a:t>Client-Side</a:t>
            </a:r>
          </a:p>
          <a:p>
            <a:r>
              <a:rPr lang="en-US" dirty="0"/>
              <a:t>The client contacts a service registry, receives details for available services, and contacts one of them using a load balancing algorithm</a:t>
            </a:r>
          </a:p>
        </p:txBody>
      </p:sp>
      <p:sp>
        <p:nvSpPr>
          <p:cNvPr id="5" name="Title 4">
            <a:extLst>
              <a:ext uri="{FF2B5EF4-FFF2-40B4-BE49-F238E27FC236}">
                <a16:creationId xmlns:a16="http://schemas.microsoft.com/office/drawing/2014/main" id="{01D01CCC-9B83-AA3D-A0EF-E3B4845914A3}"/>
              </a:ext>
            </a:extLst>
          </p:cNvPr>
          <p:cNvSpPr>
            <a:spLocks noGrp="1"/>
          </p:cNvSpPr>
          <p:nvPr>
            <p:ph type="title"/>
          </p:nvPr>
        </p:nvSpPr>
        <p:spPr/>
        <p:txBody>
          <a:bodyPr/>
          <a:lstStyle/>
          <a:p>
            <a:r>
              <a:rPr lang="en-US" dirty="0"/>
              <a:t>Service Discovery | Patterns</a:t>
            </a:r>
          </a:p>
        </p:txBody>
      </p:sp>
      <p:pic>
        <p:nvPicPr>
          <p:cNvPr id="2" name="Picture 1">
            <a:extLst>
              <a:ext uri="{FF2B5EF4-FFF2-40B4-BE49-F238E27FC236}">
                <a16:creationId xmlns:a16="http://schemas.microsoft.com/office/drawing/2014/main" id="{C779BB2D-7A00-EF1C-335C-2BCECDD53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8941" y="2202314"/>
            <a:ext cx="4725059" cy="3458206"/>
          </a:xfrm>
          <a:prstGeom prst="rect">
            <a:avLst/>
          </a:prstGeom>
        </p:spPr>
      </p:pic>
    </p:spTree>
    <p:extLst>
      <p:ext uri="{BB962C8B-B14F-4D97-AF65-F5344CB8AC3E}">
        <p14:creationId xmlns:p14="http://schemas.microsoft.com/office/powerpoint/2010/main" val="378934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DBD9A-9BC2-09FC-4EBB-B790EA6149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4EB77B-24D2-3DE8-E49D-E4527DBCAD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6" name="Content Placeholder 5">
            <a:extLst>
              <a:ext uri="{FF2B5EF4-FFF2-40B4-BE49-F238E27FC236}">
                <a16:creationId xmlns:a16="http://schemas.microsoft.com/office/drawing/2014/main" id="{FCF65CBC-8141-42B9-C236-080BA1A300E7}"/>
              </a:ext>
            </a:extLst>
          </p:cNvPr>
          <p:cNvSpPr>
            <a:spLocks noGrp="1"/>
          </p:cNvSpPr>
          <p:nvPr>
            <p:ph idx="1"/>
          </p:nvPr>
        </p:nvSpPr>
        <p:spPr>
          <a:xfrm>
            <a:off x="380009" y="1999622"/>
            <a:ext cx="3418267" cy="4007787"/>
          </a:xfrm>
        </p:spPr>
        <p:txBody>
          <a:bodyPr>
            <a:normAutofit fontScale="77500" lnSpcReduction="20000"/>
          </a:bodyPr>
          <a:lstStyle/>
          <a:p>
            <a:pPr marL="0" indent="0">
              <a:buNone/>
            </a:pPr>
            <a:r>
              <a:rPr lang="en-US" dirty="0"/>
              <a:t>Service-Side</a:t>
            </a:r>
          </a:p>
          <a:p>
            <a:r>
              <a:rPr lang="en-US" dirty="0"/>
              <a:t>The client contacts a load balancer, making a request that indicates which type of service it needs.</a:t>
            </a:r>
          </a:p>
          <a:p>
            <a:r>
              <a:rPr lang="en-US" dirty="0"/>
              <a:t>The load balancer consults the service registry, selects the optimal service (for example, the least loaded one) and routes the request to it.</a:t>
            </a:r>
          </a:p>
          <a:p>
            <a:endParaRPr lang="en-US" dirty="0"/>
          </a:p>
        </p:txBody>
      </p:sp>
      <p:sp>
        <p:nvSpPr>
          <p:cNvPr id="5" name="Title 4">
            <a:extLst>
              <a:ext uri="{FF2B5EF4-FFF2-40B4-BE49-F238E27FC236}">
                <a16:creationId xmlns:a16="http://schemas.microsoft.com/office/drawing/2014/main" id="{85F2E378-132D-1410-EA60-7428A8FE214E}"/>
              </a:ext>
            </a:extLst>
          </p:cNvPr>
          <p:cNvSpPr>
            <a:spLocks noGrp="1"/>
          </p:cNvSpPr>
          <p:nvPr>
            <p:ph type="title"/>
          </p:nvPr>
        </p:nvSpPr>
        <p:spPr/>
        <p:txBody>
          <a:bodyPr/>
          <a:lstStyle/>
          <a:p>
            <a:r>
              <a:rPr lang="en-US" dirty="0"/>
              <a:t>Service Discovery | Patterns</a:t>
            </a:r>
          </a:p>
        </p:txBody>
      </p:sp>
      <p:pic>
        <p:nvPicPr>
          <p:cNvPr id="2" name="Content Placeholder 4">
            <a:extLst>
              <a:ext uri="{FF2B5EF4-FFF2-40B4-BE49-F238E27FC236}">
                <a16:creationId xmlns:a16="http://schemas.microsoft.com/office/drawing/2014/main" id="{B27CEBE4-9715-D3DC-7CF0-3B22C7718AA4}"/>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4151535" y="2361362"/>
            <a:ext cx="4902292" cy="3044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3567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10973-719D-8BB5-1CE8-78D0FADADF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BED9E5-E28A-5E8D-F844-9FB0CD36102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46</a:t>
            </a:fld>
            <a:endParaRPr lang="en-US"/>
          </a:p>
        </p:txBody>
      </p:sp>
      <p:sp>
        <p:nvSpPr>
          <p:cNvPr id="4" name="Google Shape;212;p15">
            <a:extLst>
              <a:ext uri="{FF2B5EF4-FFF2-40B4-BE49-F238E27FC236}">
                <a16:creationId xmlns:a16="http://schemas.microsoft.com/office/drawing/2014/main" id="{55B22126-1585-C74C-6D4E-97F07054917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API Gateway</a:t>
            </a:r>
          </a:p>
        </p:txBody>
      </p:sp>
      <p:pic>
        <p:nvPicPr>
          <p:cNvPr id="6" name="Picture 5">
            <a:extLst>
              <a:ext uri="{FF2B5EF4-FFF2-40B4-BE49-F238E27FC236}">
                <a16:creationId xmlns:a16="http://schemas.microsoft.com/office/drawing/2014/main" id="{B47D2594-EE84-C75A-2F28-A07E5DC2130C}"/>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388643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60E9-EDFB-B120-B0D2-E7754967A3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5324F1-C343-317D-10EA-9A3C09E418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
        <p:nvSpPr>
          <p:cNvPr id="6" name="Content Placeholder 5">
            <a:extLst>
              <a:ext uri="{FF2B5EF4-FFF2-40B4-BE49-F238E27FC236}">
                <a16:creationId xmlns:a16="http://schemas.microsoft.com/office/drawing/2014/main" id="{D0D2B983-3F7F-0F87-F8AD-F580312DEACF}"/>
              </a:ext>
            </a:extLst>
          </p:cNvPr>
          <p:cNvSpPr>
            <a:spLocks noGrp="1"/>
          </p:cNvSpPr>
          <p:nvPr>
            <p:ph idx="1"/>
          </p:nvPr>
        </p:nvSpPr>
        <p:spPr>
          <a:xfrm>
            <a:off x="380010" y="1481447"/>
            <a:ext cx="8383980" cy="2025428"/>
          </a:xfrm>
        </p:spPr>
        <p:txBody>
          <a:bodyPr>
            <a:normAutofit fontScale="85000" lnSpcReduction="20000"/>
          </a:bodyPr>
          <a:lstStyle/>
          <a:p>
            <a:r>
              <a:rPr lang="en-US" dirty="0"/>
              <a:t>For microservices-based applications, an API Gateway acts as a single point of entry between a client and a collection of backend services.</a:t>
            </a:r>
          </a:p>
          <a:p>
            <a:r>
              <a:rPr lang="en-US" dirty="0"/>
              <a:t>Instead of calling services directly, clients send requests to the gateway which routes requests to the appropriate backend service</a:t>
            </a:r>
          </a:p>
          <a:p>
            <a:endParaRPr lang="en-US" dirty="0"/>
          </a:p>
        </p:txBody>
      </p:sp>
      <p:sp>
        <p:nvSpPr>
          <p:cNvPr id="5" name="Title 4">
            <a:extLst>
              <a:ext uri="{FF2B5EF4-FFF2-40B4-BE49-F238E27FC236}">
                <a16:creationId xmlns:a16="http://schemas.microsoft.com/office/drawing/2014/main" id="{C59ADD1D-5389-43BA-4F95-F7D9B8AF8ABB}"/>
              </a:ext>
            </a:extLst>
          </p:cNvPr>
          <p:cNvSpPr>
            <a:spLocks noGrp="1"/>
          </p:cNvSpPr>
          <p:nvPr>
            <p:ph type="title"/>
          </p:nvPr>
        </p:nvSpPr>
        <p:spPr/>
        <p:txBody>
          <a:bodyPr/>
          <a:lstStyle/>
          <a:p>
            <a:r>
              <a:rPr lang="en-US" dirty="0"/>
              <a:t>API Gateway</a:t>
            </a:r>
          </a:p>
        </p:txBody>
      </p:sp>
      <p:pic>
        <p:nvPicPr>
          <p:cNvPr id="2" name="Picture 1">
            <a:extLst>
              <a:ext uri="{FF2B5EF4-FFF2-40B4-BE49-F238E27FC236}">
                <a16:creationId xmlns:a16="http://schemas.microsoft.com/office/drawing/2014/main" id="{BD44886E-7E84-C574-DBB6-68B8FFE54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3506875"/>
            <a:ext cx="6781800" cy="3111174"/>
          </a:xfrm>
          <a:prstGeom prst="rect">
            <a:avLst/>
          </a:prstGeom>
        </p:spPr>
      </p:pic>
    </p:spTree>
    <p:extLst>
      <p:ext uri="{BB962C8B-B14F-4D97-AF65-F5344CB8AC3E}">
        <p14:creationId xmlns:p14="http://schemas.microsoft.com/office/powerpoint/2010/main" val="77186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1B38-8779-400B-A74C-67544C2DF31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DC12D6-03F4-37C3-D251-7BE0B0B90F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6" name="Content Placeholder 5">
            <a:extLst>
              <a:ext uri="{FF2B5EF4-FFF2-40B4-BE49-F238E27FC236}">
                <a16:creationId xmlns:a16="http://schemas.microsoft.com/office/drawing/2014/main" id="{30E46752-5FFB-7164-64C7-8E5E3DDF6CA5}"/>
              </a:ext>
            </a:extLst>
          </p:cNvPr>
          <p:cNvSpPr>
            <a:spLocks noGrp="1"/>
          </p:cNvSpPr>
          <p:nvPr>
            <p:ph idx="1"/>
          </p:nvPr>
        </p:nvSpPr>
        <p:spPr>
          <a:xfrm>
            <a:off x="380010" y="1481447"/>
            <a:ext cx="8383980" cy="4366694"/>
          </a:xfrm>
        </p:spPr>
        <p:txBody>
          <a:bodyPr>
            <a:normAutofit/>
          </a:bodyPr>
          <a:lstStyle/>
          <a:p>
            <a:pPr marL="0" indent="0">
              <a:buNone/>
            </a:pPr>
            <a:r>
              <a:rPr lang="en-US" dirty="0"/>
              <a:t>Without an API gateway…</a:t>
            </a:r>
          </a:p>
          <a:p>
            <a:r>
              <a:rPr lang="en-US" dirty="0"/>
              <a:t>The client must know many service addresses</a:t>
            </a:r>
          </a:p>
          <a:p>
            <a:r>
              <a:rPr lang="en-US" dirty="0"/>
              <a:t>Security becomes difficult to manage</a:t>
            </a:r>
          </a:p>
          <a:p>
            <a:r>
              <a:rPr lang="en-US" dirty="0"/>
              <a:t>It becomes difficult to enforce policies consistently</a:t>
            </a:r>
          </a:p>
          <a:p>
            <a:r>
              <a:rPr lang="en-US" dirty="0"/>
              <a:t>All potential microservices become exposed to the public internet, which may not be intentional or cause other security/data concerns.</a:t>
            </a:r>
          </a:p>
          <a:p>
            <a:endParaRPr lang="en-US" dirty="0"/>
          </a:p>
        </p:txBody>
      </p:sp>
      <p:sp>
        <p:nvSpPr>
          <p:cNvPr id="5" name="Title 4">
            <a:extLst>
              <a:ext uri="{FF2B5EF4-FFF2-40B4-BE49-F238E27FC236}">
                <a16:creationId xmlns:a16="http://schemas.microsoft.com/office/drawing/2014/main" id="{8933B096-470D-BD1F-8C46-022408E8478A}"/>
              </a:ext>
            </a:extLst>
          </p:cNvPr>
          <p:cNvSpPr>
            <a:spLocks noGrp="1"/>
          </p:cNvSpPr>
          <p:nvPr>
            <p:ph type="title"/>
          </p:nvPr>
        </p:nvSpPr>
        <p:spPr/>
        <p:txBody>
          <a:bodyPr/>
          <a:lstStyle/>
          <a:p>
            <a:r>
              <a:rPr lang="en-US" dirty="0"/>
              <a:t>API Gateway</a:t>
            </a:r>
          </a:p>
        </p:txBody>
      </p:sp>
    </p:spTree>
    <p:extLst>
      <p:ext uri="{BB962C8B-B14F-4D97-AF65-F5344CB8AC3E}">
        <p14:creationId xmlns:p14="http://schemas.microsoft.com/office/powerpoint/2010/main" val="142666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B9250-995C-29EB-B2E4-58AC6FEB60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175424-6DA2-48AA-725E-B3015982F6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
        <p:nvSpPr>
          <p:cNvPr id="6" name="Content Placeholder 5">
            <a:extLst>
              <a:ext uri="{FF2B5EF4-FFF2-40B4-BE49-F238E27FC236}">
                <a16:creationId xmlns:a16="http://schemas.microsoft.com/office/drawing/2014/main" id="{9C363833-4333-E217-CEA3-AE79B1484D03}"/>
              </a:ext>
            </a:extLst>
          </p:cNvPr>
          <p:cNvSpPr>
            <a:spLocks noGrp="1"/>
          </p:cNvSpPr>
          <p:nvPr>
            <p:ph idx="1"/>
          </p:nvPr>
        </p:nvSpPr>
        <p:spPr>
          <a:xfrm>
            <a:off x="380010" y="1481446"/>
            <a:ext cx="8383980" cy="4882265"/>
          </a:xfrm>
        </p:spPr>
        <p:txBody>
          <a:bodyPr>
            <a:normAutofit fontScale="85000" lnSpcReduction="20000"/>
          </a:bodyPr>
          <a:lstStyle/>
          <a:p>
            <a:pPr marL="0" indent="0">
              <a:buNone/>
            </a:pPr>
            <a:r>
              <a:rPr lang="en-US" b="1" i="1" dirty="0"/>
              <a:t>With</a:t>
            </a:r>
            <a:r>
              <a:rPr lang="en-US" dirty="0"/>
              <a:t> an API gateway…</a:t>
            </a:r>
          </a:p>
          <a:p>
            <a:r>
              <a:rPr lang="en-US" dirty="0"/>
              <a:t>Your application has a single entry point that clients use – simplifying client interactions</a:t>
            </a:r>
          </a:p>
          <a:p>
            <a:r>
              <a:rPr lang="en-US" dirty="0"/>
              <a:t>You can centralize security and routing policies</a:t>
            </a:r>
          </a:p>
          <a:p>
            <a:r>
              <a:rPr lang="en-US" dirty="0"/>
              <a:t>Authentication/authorization concerns can be centralized (once past they gateway, assume they should have access, or use auth tokens from the gateway)</a:t>
            </a:r>
          </a:p>
          <a:p>
            <a:r>
              <a:rPr lang="en-US" dirty="0"/>
              <a:t>Load Balancing becomes easier</a:t>
            </a:r>
          </a:p>
          <a:p>
            <a:r>
              <a:rPr lang="en-US" dirty="0"/>
              <a:t>Logging/Monitoring centralization</a:t>
            </a:r>
          </a:p>
          <a:p>
            <a:r>
              <a:rPr lang="en-US" dirty="0"/>
              <a:t>Request transformation can occur (modify headers/paths/payloads)</a:t>
            </a:r>
          </a:p>
          <a:p>
            <a:r>
              <a:rPr lang="en-US" dirty="0"/>
              <a:t>You can implement Rate limiting (reduces potential abuse)</a:t>
            </a:r>
          </a:p>
          <a:p>
            <a:endParaRPr lang="en-US" dirty="0"/>
          </a:p>
        </p:txBody>
      </p:sp>
      <p:sp>
        <p:nvSpPr>
          <p:cNvPr id="5" name="Title 4">
            <a:extLst>
              <a:ext uri="{FF2B5EF4-FFF2-40B4-BE49-F238E27FC236}">
                <a16:creationId xmlns:a16="http://schemas.microsoft.com/office/drawing/2014/main" id="{0403F3E9-ACF3-2E85-EC0C-9E575418AC2F}"/>
              </a:ext>
            </a:extLst>
          </p:cNvPr>
          <p:cNvSpPr>
            <a:spLocks noGrp="1"/>
          </p:cNvSpPr>
          <p:nvPr>
            <p:ph type="title"/>
          </p:nvPr>
        </p:nvSpPr>
        <p:spPr/>
        <p:txBody>
          <a:bodyPr/>
          <a:lstStyle/>
          <a:p>
            <a:r>
              <a:rPr lang="en-US" dirty="0"/>
              <a:t>API Gateway</a:t>
            </a:r>
          </a:p>
        </p:txBody>
      </p:sp>
    </p:spTree>
    <p:extLst>
      <p:ext uri="{BB962C8B-B14F-4D97-AF65-F5344CB8AC3E}">
        <p14:creationId xmlns:p14="http://schemas.microsoft.com/office/powerpoint/2010/main" val="160313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02B3-88D9-BF26-A2CB-9DA9FCF54B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2FE276-9CDD-98C8-9499-7790EC1B3D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
        <p:nvSpPr>
          <p:cNvPr id="6" name="Content Placeholder 5">
            <a:extLst>
              <a:ext uri="{FF2B5EF4-FFF2-40B4-BE49-F238E27FC236}">
                <a16:creationId xmlns:a16="http://schemas.microsoft.com/office/drawing/2014/main" id="{1E145229-7CBB-46F5-8659-0ADD40711005}"/>
              </a:ext>
            </a:extLst>
          </p:cNvPr>
          <p:cNvSpPr>
            <a:spLocks noGrp="1"/>
          </p:cNvSpPr>
          <p:nvPr>
            <p:ph idx="1"/>
          </p:nvPr>
        </p:nvSpPr>
        <p:spPr>
          <a:xfrm>
            <a:off x="380010" y="1481446"/>
            <a:ext cx="8383980" cy="4882265"/>
          </a:xfrm>
        </p:spPr>
        <p:txBody>
          <a:bodyPr>
            <a:normAutofit/>
          </a:bodyPr>
          <a:lstStyle/>
          <a:p>
            <a:r>
              <a:rPr lang="en-US" dirty="0"/>
              <a:t>Spring Cloud Gateway is a </a:t>
            </a:r>
            <a:r>
              <a:rPr lang="en-US" b="1" dirty="0"/>
              <a:t>reactive API gateway</a:t>
            </a:r>
            <a:r>
              <a:rPr lang="en-US" dirty="0"/>
              <a:t> built on </a:t>
            </a:r>
            <a:r>
              <a:rPr lang="en-US" dirty="0" err="1"/>
              <a:t>WebFlex</a:t>
            </a:r>
            <a:r>
              <a:rPr lang="en-US" dirty="0"/>
              <a:t> and Project Reactor.</a:t>
            </a:r>
          </a:p>
          <a:p>
            <a:r>
              <a:rPr lang="en-US" dirty="0"/>
              <a:t>It replaces the older Netflix </a:t>
            </a:r>
            <a:r>
              <a:rPr lang="en-US" dirty="0" err="1"/>
              <a:t>Zuul</a:t>
            </a:r>
            <a:r>
              <a:rPr lang="en-US" dirty="0"/>
              <a:t> Gateway within the Spring ecosystem</a:t>
            </a:r>
          </a:p>
          <a:p>
            <a:r>
              <a:rPr lang="en-US" dirty="0"/>
              <a:t>It provides:</a:t>
            </a:r>
          </a:p>
          <a:p>
            <a:pPr lvl="1"/>
            <a:r>
              <a:rPr lang="en-US" dirty="0"/>
              <a:t>Dynamic routing</a:t>
            </a:r>
          </a:p>
          <a:p>
            <a:pPr lvl="1"/>
            <a:r>
              <a:rPr lang="en-US" dirty="0"/>
              <a:t>Filters for request/response processing</a:t>
            </a:r>
          </a:p>
          <a:p>
            <a:pPr lvl="1"/>
            <a:r>
              <a:rPr lang="en-US" dirty="0"/>
              <a:t>Integration with service discovery</a:t>
            </a:r>
          </a:p>
          <a:p>
            <a:pPr lvl="1"/>
            <a:r>
              <a:rPr lang="en-US" dirty="0"/>
              <a:t>Support for load balancing</a:t>
            </a:r>
          </a:p>
          <a:p>
            <a:endParaRPr lang="en-US" dirty="0"/>
          </a:p>
        </p:txBody>
      </p:sp>
      <p:sp>
        <p:nvSpPr>
          <p:cNvPr id="5" name="Title 4">
            <a:extLst>
              <a:ext uri="{FF2B5EF4-FFF2-40B4-BE49-F238E27FC236}">
                <a16:creationId xmlns:a16="http://schemas.microsoft.com/office/drawing/2014/main" id="{CE96564A-53DF-B488-39AB-50DA3603840F}"/>
              </a:ext>
            </a:extLst>
          </p:cNvPr>
          <p:cNvSpPr>
            <a:spLocks noGrp="1"/>
          </p:cNvSpPr>
          <p:nvPr>
            <p:ph type="title"/>
          </p:nvPr>
        </p:nvSpPr>
        <p:spPr/>
        <p:txBody>
          <a:bodyPr/>
          <a:lstStyle/>
          <a:p>
            <a:r>
              <a:rPr lang="en-US" dirty="0"/>
              <a:t>Spring Cloud Gateway</a:t>
            </a:r>
          </a:p>
        </p:txBody>
      </p:sp>
    </p:spTree>
    <p:extLst>
      <p:ext uri="{BB962C8B-B14F-4D97-AF65-F5344CB8AC3E}">
        <p14:creationId xmlns:p14="http://schemas.microsoft.com/office/powerpoint/2010/main" val="10473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0D0B-7F14-FDED-69F9-26FC69B4D8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028D0B-55B8-112C-DE2E-10D4E06FD9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
        <p:nvSpPr>
          <p:cNvPr id="6" name="Content Placeholder 5">
            <a:extLst>
              <a:ext uri="{FF2B5EF4-FFF2-40B4-BE49-F238E27FC236}">
                <a16:creationId xmlns:a16="http://schemas.microsoft.com/office/drawing/2014/main" id="{D0168F86-14E4-4CB6-E127-A3275A1232BA}"/>
              </a:ext>
            </a:extLst>
          </p:cNvPr>
          <p:cNvSpPr>
            <a:spLocks noGrp="1"/>
          </p:cNvSpPr>
          <p:nvPr>
            <p:ph idx="1"/>
          </p:nvPr>
        </p:nvSpPr>
        <p:spPr>
          <a:xfrm>
            <a:off x="380010" y="1481446"/>
            <a:ext cx="8383980" cy="4882265"/>
          </a:xfrm>
        </p:spPr>
        <p:txBody>
          <a:bodyPr>
            <a:normAutofit lnSpcReduction="10000"/>
          </a:bodyPr>
          <a:lstStyle/>
          <a:p>
            <a:r>
              <a:rPr lang="en-US" dirty="0"/>
              <a:t>Spring Cloud Gateway works through these key concepts:</a:t>
            </a:r>
          </a:p>
          <a:p>
            <a:r>
              <a:rPr lang="en-US" b="1" dirty="0"/>
              <a:t>Routes</a:t>
            </a:r>
            <a:r>
              <a:rPr lang="en-US" dirty="0"/>
              <a:t>: defines which requests to match and where to send them</a:t>
            </a:r>
          </a:p>
          <a:p>
            <a:r>
              <a:rPr lang="en-US" b="1" dirty="0"/>
              <a:t>Predicates</a:t>
            </a:r>
            <a:r>
              <a:rPr lang="en-US" dirty="0"/>
              <a:t>: determines when a route should apply</a:t>
            </a:r>
          </a:p>
          <a:p>
            <a:pPr lvl="1"/>
            <a:r>
              <a:rPr lang="en-US" dirty="0"/>
              <a:t>i.e. based on path, methods, headers data, client host </a:t>
            </a:r>
          </a:p>
          <a:p>
            <a:r>
              <a:rPr lang="en-US" b="1" dirty="0"/>
              <a:t>Filters</a:t>
            </a:r>
            <a:r>
              <a:rPr lang="en-US" dirty="0"/>
              <a:t>: Allows for modification of requests and/or responses</a:t>
            </a:r>
          </a:p>
          <a:p>
            <a:pPr lvl="1"/>
            <a:r>
              <a:rPr lang="en-US" dirty="0"/>
              <a:t>i.e. add headers, rewrite paths, rate limit requests, authenticate users</a:t>
            </a:r>
          </a:p>
        </p:txBody>
      </p:sp>
      <p:sp>
        <p:nvSpPr>
          <p:cNvPr id="5" name="Title 4">
            <a:extLst>
              <a:ext uri="{FF2B5EF4-FFF2-40B4-BE49-F238E27FC236}">
                <a16:creationId xmlns:a16="http://schemas.microsoft.com/office/drawing/2014/main" id="{2DB304B0-DFBF-64EF-89D1-E49D948EB9AA}"/>
              </a:ext>
            </a:extLst>
          </p:cNvPr>
          <p:cNvSpPr>
            <a:spLocks noGrp="1"/>
          </p:cNvSpPr>
          <p:nvPr>
            <p:ph type="title"/>
          </p:nvPr>
        </p:nvSpPr>
        <p:spPr/>
        <p:txBody>
          <a:bodyPr/>
          <a:lstStyle/>
          <a:p>
            <a:r>
              <a:rPr lang="en-US" dirty="0"/>
              <a:t>Spring Cloud Gateway</a:t>
            </a:r>
          </a:p>
        </p:txBody>
      </p:sp>
    </p:spTree>
    <p:extLst>
      <p:ext uri="{BB962C8B-B14F-4D97-AF65-F5344CB8AC3E}">
        <p14:creationId xmlns:p14="http://schemas.microsoft.com/office/powerpoint/2010/main" val="429019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DF944-115C-5DFE-1C3A-0D8D2147CE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1D5DE7-E9F8-C6CA-1C8B-575EC4187B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
        <p:nvSpPr>
          <p:cNvPr id="5" name="Title 4">
            <a:extLst>
              <a:ext uri="{FF2B5EF4-FFF2-40B4-BE49-F238E27FC236}">
                <a16:creationId xmlns:a16="http://schemas.microsoft.com/office/drawing/2014/main" id="{3478925E-580D-2762-244B-1A8B6EEF3D48}"/>
              </a:ext>
            </a:extLst>
          </p:cNvPr>
          <p:cNvSpPr>
            <a:spLocks noGrp="1"/>
          </p:cNvSpPr>
          <p:nvPr>
            <p:ph type="title"/>
          </p:nvPr>
        </p:nvSpPr>
        <p:spPr/>
        <p:txBody>
          <a:bodyPr/>
          <a:lstStyle/>
          <a:p>
            <a:r>
              <a:rPr lang="en-US" dirty="0"/>
              <a:t>Spring Cloud Gateway | Configuration</a:t>
            </a:r>
          </a:p>
        </p:txBody>
      </p:sp>
      <p:pic>
        <p:nvPicPr>
          <p:cNvPr id="3" name="Picture 2">
            <a:extLst>
              <a:ext uri="{FF2B5EF4-FFF2-40B4-BE49-F238E27FC236}">
                <a16:creationId xmlns:a16="http://schemas.microsoft.com/office/drawing/2014/main" id="{FFBE1293-2AA1-8734-877D-0D5016AB329E}"/>
              </a:ext>
            </a:extLst>
          </p:cNvPr>
          <p:cNvPicPr>
            <a:picLocks noChangeAspect="1"/>
          </p:cNvPicPr>
          <p:nvPr/>
        </p:nvPicPr>
        <p:blipFill>
          <a:blip r:embed="rId2"/>
          <a:stretch>
            <a:fillRect/>
          </a:stretch>
        </p:blipFill>
        <p:spPr>
          <a:xfrm>
            <a:off x="5257250" y="1990523"/>
            <a:ext cx="3372321" cy="3734321"/>
          </a:xfrm>
          <a:prstGeom prst="rect">
            <a:avLst/>
          </a:prstGeom>
        </p:spPr>
      </p:pic>
      <p:pic>
        <p:nvPicPr>
          <p:cNvPr id="10" name="Picture 9">
            <a:extLst>
              <a:ext uri="{FF2B5EF4-FFF2-40B4-BE49-F238E27FC236}">
                <a16:creationId xmlns:a16="http://schemas.microsoft.com/office/drawing/2014/main" id="{BDF0D2BA-7001-8954-4B6A-A620C48003D4}"/>
              </a:ext>
            </a:extLst>
          </p:cNvPr>
          <p:cNvPicPr>
            <a:picLocks noChangeAspect="1"/>
          </p:cNvPicPr>
          <p:nvPr/>
        </p:nvPicPr>
        <p:blipFill>
          <a:blip r:embed="rId3"/>
          <a:stretch>
            <a:fillRect/>
          </a:stretch>
        </p:blipFill>
        <p:spPr>
          <a:xfrm>
            <a:off x="514429" y="3401366"/>
            <a:ext cx="4201111" cy="857370"/>
          </a:xfrm>
          <a:prstGeom prst="rect">
            <a:avLst/>
          </a:prstGeom>
        </p:spPr>
      </p:pic>
      <p:sp>
        <p:nvSpPr>
          <p:cNvPr id="11" name="TextBox 10">
            <a:extLst>
              <a:ext uri="{FF2B5EF4-FFF2-40B4-BE49-F238E27FC236}">
                <a16:creationId xmlns:a16="http://schemas.microsoft.com/office/drawing/2014/main" id="{0A263FD8-4E1F-2702-ABF4-8FD484A5B2F1}"/>
              </a:ext>
            </a:extLst>
          </p:cNvPr>
          <p:cNvSpPr txBox="1"/>
          <p:nvPr/>
        </p:nvSpPr>
        <p:spPr>
          <a:xfrm>
            <a:off x="1015828" y="2944167"/>
            <a:ext cx="3198311" cy="369332"/>
          </a:xfrm>
          <a:prstGeom prst="rect">
            <a:avLst/>
          </a:prstGeom>
          <a:noFill/>
        </p:spPr>
        <p:txBody>
          <a:bodyPr wrap="none" rtlCol="0">
            <a:spAutoFit/>
          </a:bodyPr>
          <a:lstStyle/>
          <a:p>
            <a:r>
              <a:rPr lang="en-US" dirty="0"/>
              <a:t>Maven Dependency Example</a:t>
            </a:r>
          </a:p>
        </p:txBody>
      </p:sp>
      <p:sp>
        <p:nvSpPr>
          <p:cNvPr id="12" name="TextBox 11">
            <a:extLst>
              <a:ext uri="{FF2B5EF4-FFF2-40B4-BE49-F238E27FC236}">
                <a16:creationId xmlns:a16="http://schemas.microsoft.com/office/drawing/2014/main" id="{C2CB4387-CF8D-91D0-194D-CAD40C6CC90E}"/>
              </a:ext>
            </a:extLst>
          </p:cNvPr>
          <p:cNvSpPr txBox="1"/>
          <p:nvPr/>
        </p:nvSpPr>
        <p:spPr>
          <a:xfrm>
            <a:off x="5113389" y="1527685"/>
            <a:ext cx="3660041" cy="369332"/>
          </a:xfrm>
          <a:prstGeom prst="rect">
            <a:avLst/>
          </a:prstGeom>
          <a:noFill/>
        </p:spPr>
        <p:txBody>
          <a:bodyPr wrap="none" rtlCol="0">
            <a:spAutoFit/>
          </a:bodyPr>
          <a:lstStyle/>
          <a:p>
            <a:r>
              <a:rPr lang="en-US" dirty="0"/>
              <a:t>Gateway </a:t>
            </a:r>
            <a:r>
              <a:rPr lang="en-US" dirty="0" err="1"/>
              <a:t>Application.yml</a:t>
            </a:r>
            <a:r>
              <a:rPr lang="en-US" dirty="0"/>
              <a:t> Example</a:t>
            </a:r>
          </a:p>
        </p:txBody>
      </p:sp>
    </p:spTree>
    <p:extLst>
      <p:ext uri="{BB962C8B-B14F-4D97-AF65-F5344CB8AC3E}">
        <p14:creationId xmlns:p14="http://schemas.microsoft.com/office/powerpoint/2010/main" val="2711289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F1458-89A2-4B5F-0D8E-6C2A05B233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15DDAD-632F-CCA0-066E-58941779D5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
        <p:nvSpPr>
          <p:cNvPr id="5" name="Title 4">
            <a:extLst>
              <a:ext uri="{FF2B5EF4-FFF2-40B4-BE49-F238E27FC236}">
                <a16:creationId xmlns:a16="http://schemas.microsoft.com/office/drawing/2014/main" id="{4780228C-C426-E702-D354-637FE085E3EF}"/>
              </a:ext>
            </a:extLst>
          </p:cNvPr>
          <p:cNvSpPr>
            <a:spLocks noGrp="1"/>
          </p:cNvSpPr>
          <p:nvPr>
            <p:ph type="title"/>
          </p:nvPr>
        </p:nvSpPr>
        <p:spPr/>
        <p:txBody>
          <a:bodyPr/>
          <a:lstStyle/>
          <a:p>
            <a:r>
              <a:rPr lang="en-US" dirty="0"/>
              <a:t>Spring Cloud Gateway | Configuration</a:t>
            </a:r>
          </a:p>
        </p:txBody>
      </p:sp>
      <p:pic>
        <p:nvPicPr>
          <p:cNvPr id="6" name="Picture 5">
            <a:extLst>
              <a:ext uri="{FF2B5EF4-FFF2-40B4-BE49-F238E27FC236}">
                <a16:creationId xmlns:a16="http://schemas.microsoft.com/office/drawing/2014/main" id="{602A2C41-40A1-657A-3C98-A57722C7E8F3}"/>
              </a:ext>
            </a:extLst>
          </p:cNvPr>
          <p:cNvPicPr>
            <a:picLocks noChangeAspect="1"/>
          </p:cNvPicPr>
          <p:nvPr/>
        </p:nvPicPr>
        <p:blipFill>
          <a:blip r:embed="rId2"/>
          <a:stretch>
            <a:fillRect/>
          </a:stretch>
        </p:blipFill>
        <p:spPr>
          <a:xfrm>
            <a:off x="553575" y="2975194"/>
            <a:ext cx="2695951" cy="1590897"/>
          </a:xfrm>
          <a:prstGeom prst="rect">
            <a:avLst/>
          </a:prstGeom>
        </p:spPr>
      </p:pic>
      <p:pic>
        <p:nvPicPr>
          <p:cNvPr id="8" name="Picture 7">
            <a:extLst>
              <a:ext uri="{FF2B5EF4-FFF2-40B4-BE49-F238E27FC236}">
                <a16:creationId xmlns:a16="http://schemas.microsoft.com/office/drawing/2014/main" id="{B9AA13E5-2084-C11B-5646-0ACF54BEA285}"/>
              </a:ext>
            </a:extLst>
          </p:cNvPr>
          <p:cNvPicPr>
            <a:picLocks noChangeAspect="1"/>
          </p:cNvPicPr>
          <p:nvPr/>
        </p:nvPicPr>
        <p:blipFill>
          <a:blip r:embed="rId3"/>
          <a:stretch>
            <a:fillRect/>
          </a:stretch>
        </p:blipFill>
        <p:spPr>
          <a:xfrm>
            <a:off x="4169878" y="2779903"/>
            <a:ext cx="4544059" cy="1981477"/>
          </a:xfrm>
          <a:prstGeom prst="rect">
            <a:avLst/>
          </a:prstGeom>
        </p:spPr>
      </p:pic>
      <p:sp>
        <p:nvSpPr>
          <p:cNvPr id="12" name="TextBox 11">
            <a:extLst>
              <a:ext uri="{FF2B5EF4-FFF2-40B4-BE49-F238E27FC236}">
                <a16:creationId xmlns:a16="http://schemas.microsoft.com/office/drawing/2014/main" id="{425D520A-77BB-A4F0-6D0A-6D6952897F11}"/>
              </a:ext>
            </a:extLst>
          </p:cNvPr>
          <p:cNvSpPr txBox="1"/>
          <p:nvPr/>
        </p:nvSpPr>
        <p:spPr>
          <a:xfrm>
            <a:off x="494754" y="2301073"/>
            <a:ext cx="2813591" cy="369332"/>
          </a:xfrm>
          <a:prstGeom prst="rect">
            <a:avLst/>
          </a:prstGeom>
          <a:noFill/>
        </p:spPr>
        <p:txBody>
          <a:bodyPr wrap="none" rtlCol="0">
            <a:spAutoFit/>
          </a:bodyPr>
          <a:lstStyle/>
          <a:p>
            <a:r>
              <a:rPr lang="en-US" dirty="0" err="1"/>
              <a:t>Application.yml</a:t>
            </a:r>
            <a:r>
              <a:rPr lang="en-US" dirty="0"/>
              <a:t> in Service</a:t>
            </a:r>
          </a:p>
        </p:txBody>
      </p:sp>
      <p:sp>
        <p:nvSpPr>
          <p:cNvPr id="13" name="TextBox 12">
            <a:extLst>
              <a:ext uri="{FF2B5EF4-FFF2-40B4-BE49-F238E27FC236}">
                <a16:creationId xmlns:a16="http://schemas.microsoft.com/office/drawing/2014/main" id="{44C040DE-8E02-E6A2-D767-CB2C413A56B8}"/>
              </a:ext>
            </a:extLst>
          </p:cNvPr>
          <p:cNvSpPr txBox="1"/>
          <p:nvPr/>
        </p:nvSpPr>
        <p:spPr>
          <a:xfrm>
            <a:off x="5695549" y="2301073"/>
            <a:ext cx="1492716" cy="369332"/>
          </a:xfrm>
          <a:prstGeom prst="rect">
            <a:avLst/>
          </a:prstGeom>
          <a:noFill/>
        </p:spPr>
        <p:txBody>
          <a:bodyPr wrap="none" rtlCol="0">
            <a:spAutoFit/>
          </a:bodyPr>
          <a:lstStyle/>
          <a:p>
            <a:r>
              <a:rPr lang="en-US" dirty="0"/>
              <a:t>With filters…</a:t>
            </a:r>
          </a:p>
        </p:txBody>
      </p:sp>
    </p:spTree>
    <p:extLst>
      <p:ext uri="{BB962C8B-B14F-4D97-AF65-F5344CB8AC3E}">
        <p14:creationId xmlns:p14="http://schemas.microsoft.com/office/powerpoint/2010/main" val="6607904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817E7-98DC-17CF-83AB-75188087E4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41A4C8-F47C-613D-096E-F559DF1750C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54</a:t>
            </a:fld>
            <a:endParaRPr lang="en-US"/>
          </a:p>
        </p:txBody>
      </p:sp>
      <p:sp>
        <p:nvSpPr>
          <p:cNvPr id="4" name="Google Shape;212;p15">
            <a:extLst>
              <a:ext uri="{FF2B5EF4-FFF2-40B4-BE49-F238E27FC236}">
                <a16:creationId xmlns:a16="http://schemas.microsoft.com/office/drawing/2014/main" id="{235538A6-21AE-7B97-E1DC-908E6EDFB75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Load Balancing</a:t>
            </a:r>
          </a:p>
        </p:txBody>
      </p:sp>
      <p:pic>
        <p:nvPicPr>
          <p:cNvPr id="6" name="Picture 5">
            <a:extLst>
              <a:ext uri="{FF2B5EF4-FFF2-40B4-BE49-F238E27FC236}">
                <a16:creationId xmlns:a16="http://schemas.microsoft.com/office/drawing/2014/main" id="{75B2F782-C2B9-2D8C-12B1-6F7F23175842}"/>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7361382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8EF3-8AA2-9C13-0357-9927BAE888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73D214-8CB1-DF41-DFEB-BD40F98364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
        <p:nvSpPr>
          <p:cNvPr id="6" name="Content Placeholder 5">
            <a:extLst>
              <a:ext uri="{FF2B5EF4-FFF2-40B4-BE49-F238E27FC236}">
                <a16:creationId xmlns:a16="http://schemas.microsoft.com/office/drawing/2014/main" id="{B275C057-36F3-E3D4-F88A-1EBBFE3B2989}"/>
              </a:ext>
            </a:extLst>
          </p:cNvPr>
          <p:cNvSpPr>
            <a:spLocks noGrp="1"/>
          </p:cNvSpPr>
          <p:nvPr>
            <p:ph idx="1"/>
          </p:nvPr>
        </p:nvSpPr>
        <p:spPr/>
        <p:txBody>
          <a:bodyPr>
            <a:normAutofit fontScale="92500"/>
          </a:bodyPr>
          <a:lstStyle/>
          <a:p>
            <a:r>
              <a:rPr lang="en-US" dirty="0"/>
              <a:t>In a microservice architecture, multiple instances of each microservice are deployed for availability and scalability.</a:t>
            </a:r>
          </a:p>
          <a:p>
            <a:r>
              <a:rPr lang="en-US" dirty="0"/>
              <a:t>This limits the impact of the failure of a single instance, and maintains overall system reliability.</a:t>
            </a:r>
          </a:p>
          <a:p>
            <a:r>
              <a:rPr lang="en-US" dirty="0"/>
              <a:t>Successfully adopting this architecture requires a </a:t>
            </a:r>
            <a:r>
              <a:rPr lang="en-US" b="1" dirty="0"/>
              <a:t>load balancing mechanism</a:t>
            </a:r>
            <a:endParaRPr lang="en-US" dirty="0"/>
          </a:p>
          <a:p>
            <a:r>
              <a:rPr lang="en-US" dirty="0"/>
              <a:t>Load Balancing ensures that incoming requests are spread across all available instances, rather than overloading some and leaving others  under-utilized</a:t>
            </a:r>
          </a:p>
        </p:txBody>
      </p:sp>
      <p:sp>
        <p:nvSpPr>
          <p:cNvPr id="5" name="Title 4">
            <a:extLst>
              <a:ext uri="{FF2B5EF4-FFF2-40B4-BE49-F238E27FC236}">
                <a16:creationId xmlns:a16="http://schemas.microsoft.com/office/drawing/2014/main" id="{F8D56CFA-E23E-6980-F570-F16B9915881C}"/>
              </a:ext>
            </a:extLst>
          </p:cNvPr>
          <p:cNvSpPr>
            <a:spLocks noGrp="1"/>
          </p:cNvSpPr>
          <p:nvPr>
            <p:ph type="title"/>
          </p:nvPr>
        </p:nvSpPr>
        <p:spPr/>
        <p:txBody>
          <a:bodyPr/>
          <a:lstStyle/>
          <a:p>
            <a:r>
              <a:rPr lang="en-US" dirty="0"/>
              <a:t>Load Balancing</a:t>
            </a:r>
          </a:p>
        </p:txBody>
      </p:sp>
    </p:spTree>
    <p:extLst>
      <p:ext uri="{BB962C8B-B14F-4D97-AF65-F5344CB8AC3E}">
        <p14:creationId xmlns:p14="http://schemas.microsoft.com/office/powerpoint/2010/main" val="177694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68D7B-CD5A-C405-821B-5D065ED111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77641C-6012-BCC6-63C7-FC1F85F88F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
        <p:nvSpPr>
          <p:cNvPr id="6" name="Content Placeholder 5">
            <a:extLst>
              <a:ext uri="{FF2B5EF4-FFF2-40B4-BE49-F238E27FC236}">
                <a16:creationId xmlns:a16="http://schemas.microsoft.com/office/drawing/2014/main" id="{01FCF365-EFF3-DB84-CBE8-5F26BBB2FDF4}"/>
              </a:ext>
            </a:extLst>
          </p:cNvPr>
          <p:cNvSpPr>
            <a:spLocks noGrp="1"/>
          </p:cNvSpPr>
          <p:nvPr>
            <p:ph idx="1"/>
          </p:nvPr>
        </p:nvSpPr>
        <p:spPr/>
        <p:txBody>
          <a:bodyPr>
            <a:normAutofit fontScale="85000" lnSpcReduction="10000"/>
          </a:bodyPr>
          <a:lstStyle/>
          <a:p>
            <a:r>
              <a:rPr lang="en-US" dirty="0"/>
              <a:t>A </a:t>
            </a:r>
            <a:r>
              <a:rPr lang="en-US" b="1" dirty="0"/>
              <a:t>load balancer</a:t>
            </a:r>
            <a:r>
              <a:rPr lang="en-US" dirty="0"/>
              <a:t> acts like a </a:t>
            </a:r>
            <a:r>
              <a:rPr lang="en-US" i="1" dirty="0"/>
              <a:t>traffic cop</a:t>
            </a:r>
            <a:r>
              <a:rPr lang="en-US" dirty="0"/>
              <a:t> sitting in front of our servers, and routes client requests across all servers capable of fulfilling those requests.</a:t>
            </a:r>
          </a:p>
          <a:p>
            <a:r>
              <a:rPr lang="en-US" dirty="0"/>
              <a:t>It does so in a manner that maximizes speed and capacity utilization and ensures that no one server is overworked.</a:t>
            </a:r>
          </a:p>
          <a:p>
            <a:pPr lvl="1"/>
            <a:r>
              <a:rPr lang="en-US" dirty="0"/>
              <a:t>Load balancing algorithms include: </a:t>
            </a:r>
            <a:r>
              <a:rPr lang="en-US" b="1" i="1" dirty="0"/>
              <a:t>Round Robin, Least Connections, Random, Weighted Round Robin, and more…</a:t>
            </a:r>
            <a:endParaRPr lang="en-US" dirty="0"/>
          </a:p>
          <a:p>
            <a:r>
              <a:rPr lang="en-US" dirty="0"/>
              <a:t>If a single server goes down, the load balancer redirects traffic to the remaining online servers.</a:t>
            </a:r>
          </a:p>
          <a:p>
            <a:r>
              <a:rPr lang="en-US" dirty="0"/>
              <a:t>When a new server is added to the server group, the load balancer automatically starts sending requests to it.</a:t>
            </a:r>
          </a:p>
        </p:txBody>
      </p:sp>
      <p:sp>
        <p:nvSpPr>
          <p:cNvPr id="5" name="Title 4">
            <a:extLst>
              <a:ext uri="{FF2B5EF4-FFF2-40B4-BE49-F238E27FC236}">
                <a16:creationId xmlns:a16="http://schemas.microsoft.com/office/drawing/2014/main" id="{F1C2FCDD-AE65-6A6B-A96D-B9076ED23667}"/>
              </a:ext>
            </a:extLst>
          </p:cNvPr>
          <p:cNvSpPr>
            <a:spLocks noGrp="1"/>
          </p:cNvSpPr>
          <p:nvPr>
            <p:ph type="title"/>
          </p:nvPr>
        </p:nvSpPr>
        <p:spPr/>
        <p:txBody>
          <a:bodyPr/>
          <a:lstStyle/>
          <a:p>
            <a:r>
              <a:rPr lang="en-US" dirty="0"/>
              <a:t>Load Balancing</a:t>
            </a:r>
          </a:p>
        </p:txBody>
      </p:sp>
    </p:spTree>
    <p:extLst>
      <p:ext uri="{BB962C8B-B14F-4D97-AF65-F5344CB8AC3E}">
        <p14:creationId xmlns:p14="http://schemas.microsoft.com/office/powerpoint/2010/main" val="344200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76324-E84E-3B90-21E4-DC338E47D3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3D6970-F43F-3533-52B2-818E23B0A3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
        <p:nvSpPr>
          <p:cNvPr id="6" name="Content Placeholder 5">
            <a:extLst>
              <a:ext uri="{FF2B5EF4-FFF2-40B4-BE49-F238E27FC236}">
                <a16:creationId xmlns:a16="http://schemas.microsoft.com/office/drawing/2014/main" id="{823DB5E3-C0E6-19C1-5B7A-34CEB74C84FB}"/>
              </a:ext>
            </a:extLst>
          </p:cNvPr>
          <p:cNvSpPr>
            <a:spLocks noGrp="1"/>
          </p:cNvSpPr>
          <p:nvPr>
            <p:ph idx="1"/>
          </p:nvPr>
        </p:nvSpPr>
        <p:spPr>
          <a:xfrm>
            <a:off x="380010" y="1481446"/>
            <a:ext cx="5337502" cy="4525963"/>
          </a:xfrm>
        </p:spPr>
        <p:txBody>
          <a:bodyPr>
            <a:normAutofit fontScale="85000" lnSpcReduction="10000"/>
          </a:bodyPr>
          <a:lstStyle/>
          <a:p>
            <a:r>
              <a:rPr lang="en-US" dirty="0"/>
              <a:t>Spring Cloud </a:t>
            </a:r>
            <a:r>
              <a:rPr lang="en-US" dirty="0" err="1"/>
              <a:t>LoadBalancer</a:t>
            </a:r>
            <a:r>
              <a:rPr lang="en-US" dirty="0"/>
              <a:t> (included as a dependency with Spring Cloud starters) is the modern in-built solution.</a:t>
            </a:r>
          </a:p>
          <a:p>
            <a:r>
              <a:rPr lang="en-US" dirty="0"/>
              <a:t>We have already seen an example of this in the previous examples.</a:t>
            </a:r>
          </a:p>
          <a:p>
            <a:r>
              <a:rPr lang="en-US" dirty="0"/>
              <a:t>There ‘</a:t>
            </a:r>
            <a:r>
              <a:rPr lang="en-US" dirty="0" err="1"/>
              <a:t>lb</a:t>
            </a:r>
            <a:r>
              <a:rPr lang="en-US" dirty="0"/>
              <a:t>://’ prefix of the service route allows the </a:t>
            </a:r>
            <a:r>
              <a:rPr lang="en-US" dirty="0" err="1"/>
              <a:t>LoadBalancer</a:t>
            </a:r>
            <a:r>
              <a:rPr lang="en-US" dirty="0"/>
              <a:t> to find and select an instance of order service using it’s load balancing algorithm (by default, Spring Cloud default to ‘Round Robin’)</a:t>
            </a:r>
          </a:p>
        </p:txBody>
      </p:sp>
      <p:sp>
        <p:nvSpPr>
          <p:cNvPr id="5" name="Title 4">
            <a:extLst>
              <a:ext uri="{FF2B5EF4-FFF2-40B4-BE49-F238E27FC236}">
                <a16:creationId xmlns:a16="http://schemas.microsoft.com/office/drawing/2014/main" id="{1FB0633C-4BBD-64DB-64C0-D3EBA0408AB4}"/>
              </a:ext>
            </a:extLst>
          </p:cNvPr>
          <p:cNvSpPr>
            <a:spLocks noGrp="1"/>
          </p:cNvSpPr>
          <p:nvPr>
            <p:ph type="title"/>
          </p:nvPr>
        </p:nvSpPr>
        <p:spPr/>
        <p:txBody>
          <a:bodyPr/>
          <a:lstStyle/>
          <a:p>
            <a:r>
              <a:rPr lang="en-US" dirty="0"/>
              <a:t>Load Balancing with Spring Cloud</a:t>
            </a:r>
          </a:p>
        </p:txBody>
      </p:sp>
      <p:pic>
        <p:nvPicPr>
          <p:cNvPr id="3" name="Picture 2">
            <a:extLst>
              <a:ext uri="{FF2B5EF4-FFF2-40B4-BE49-F238E27FC236}">
                <a16:creationId xmlns:a16="http://schemas.microsoft.com/office/drawing/2014/main" id="{45A16297-8A04-4D0B-F79A-E3B691CD7DD4}"/>
              </a:ext>
            </a:extLst>
          </p:cNvPr>
          <p:cNvPicPr>
            <a:picLocks noChangeAspect="1"/>
          </p:cNvPicPr>
          <p:nvPr/>
        </p:nvPicPr>
        <p:blipFill>
          <a:blip r:embed="rId2"/>
          <a:stretch>
            <a:fillRect/>
          </a:stretch>
        </p:blipFill>
        <p:spPr>
          <a:xfrm>
            <a:off x="5963249" y="2609735"/>
            <a:ext cx="2800741" cy="1638529"/>
          </a:xfrm>
          <a:prstGeom prst="rect">
            <a:avLst/>
          </a:prstGeom>
        </p:spPr>
      </p:pic>
    </p:spTree>
    <p:extLst>
      <p:ext uri="{BB962C8B-B14F-4D97-AF65-F5344CB8AC3E}">
        <p14:creationId xmlns:p14="http://schemas.microsoft.com/office/powerpoint/2010/main" val="1018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9BE9E-3BA5-8D45-3D8B-CCD6763DD8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DF1691-B0C3-860A-43B1-8E8BC1BD1075}"/>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58</a:t>
            </a:fld>
            <a:endParaRPr lang="en-US"/>
          </a:p>
        </p:txBody>
      </p:sp>
      <p:sp>
        <p:nvSpPr>
          <p:cNvPr id="4" name="Google Shape;212;p15">
            <a:extLst>
              <a:ext uri="{FF2B5EF4-FFF2-40B4-BE49-F238E27FC236}">
                <a16:creationId xmlns:a16="http://schemas.microsoft.com/office/drawing/2014/main" id="{C97582F3-949D-591C-166C-5C2ABD65A242}"/>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Circuit Breaker Design Pattern</a:t>
            </a:r>
          </a:p>
        </p:txBody>
      </p:sp>
      <p:pic>
        <p:nvPicPr>
          <p:cNvPr id="6" name="Picture 5">
            <a:extLst>
              <a:ext uri="{FF2B5EF4-FFF2-40B4-BE49-F238E27FC236}">
                <a16:creationId xmlns:a16="http://schemas.microsoft.com/office/drawing/2014/main" id="{6266EE9A-E63D-D1D5-61BF-58137BCCDF8F}"/>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6410661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D66C-E29C-4CFC-1268-9D70978538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FE2AB6-7ED6-9AD6-74B1-A4E2FE4DD6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
        <p:nvSpPr>
          <p:cNvPr id="6" name="Content Placeholder 5">
            <a:extLst>
              <a:ext uri="{FF2B5EF4-FFF2-40B4-BE49-F238E27FC236}">
                <a16:creationId xmlns:a16="http://schemas.microsoft.com/office/drawing/2014/main" id="{CD99AADE-B2A0-EA01-672D-65F65C896102}"/>
              </a:ext>
            </a:extLst>
          </p:cNvPr>
          <p:cNvSpPr>
            <a:spLocks noGrp="1"/>
          </p:cNvSpPr>
          <p:nvPr>
            <p:ph idx="1"/>
          </p:nvPr>
        </p:nvSpPr>
        <p:spPr/>
        <p:txBody>
          <a:bodyPr>
            <a:normAutofit fontScale="92500" lnSpcReduction="20000"/>
          </a:bodyPr>
          <a:lstStyle/>
          <a:p>
            <a:r>
              <a:rPr lang="en-US" dirty="0"/>
              <a:t>Services sometimes collaborate when handling requests</a:t>
            </a:r>
          </a:p>
          <a:p>
            <a:r>
              <a:rPr lang="en-US" dirty="0"/>
              <a:t>When one service synchronously invokes another, there is always the possibility tat the other service is unavailable, or it is exhibiting such high latency that it’s essentially unusable</a:t>
            </a:r>
          </a:p>
          <a:p>
            <a:r>
              <a:rPr lang="en-US" dirty="0"/>
              <a:t>Precious resources, such as threads, might be consumed in the caller, while waiting for the other service to respond.</a:t>
            </a:r>
          </a:p>
          <a:p>
            <a:r>
              <a:rPr lang="en-US" dirty="0"/>
              <a:t>This might lead to resource exhaustion, which would make the calling service unable to handle other requests</a:t>
            </a:r>
          </a:p>
          <a:p>
            <a:endParaRPr lang="en-US" dirty="0"/>
          </a:p>
        </p:txBody>
      </p:sp>
      <p:sp>
        <p:nvSpPr>
          <p:cNvPr id="5" name="Title 4">
            <a:extLst>
              <a:ext uri="{FF2B5EF4-FFF2-40B4-BE49-F238E27FC236}">
                <a16:creationId xmlns:a16="http://schemas.microsoft.com/office/drawing/2014/main" id="{8FB4FCA4-6A8F-4770-8AA5-60980A8ACF3F}"/>
              </a:ext>
            </a:extLst>
          </p:cNvPr>
          <p:cNvSpPr>
            <a:spLocks noGrp="1"/>
          </p:cNvSpPr>
          <p:nvPr>
            <p:ph type="title"/>
          </p:nvPr>
        </p:nvSpPr>
        <p:spPr/>
        <p:txBody>
          <a:bodyPr/>
          <a:lstStyle/>
          <a:p>
            <a:r>
              <a:rPr lang="en-US" dirty="0"/>
              <a:t>Circuit Breaker Pattern</a:t>
            </a:r>
          </a:p>
        </p:txBody>
      </p:sp>
    </p:spTree>
    <p:extLst>
      <p:ext uri="{BB962C8B-B14F-4D97-AF65-F5344CB8AC3E}">
        <p14:creationId xmlns:p14="http://schemas.microsoft.com/office/powerpoint/2010/main" val="63630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F777A-0D3F-42C6-B80F-C0D57E17DF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DB67B7-7DB4-D089-EBDF-5BB28C5D96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
        <p:nvSpPr>
          <p:cNvPr id="6" name="Content Placeholder 5">
            <a:extLst>
              <a:ext uri="{FF2B5EF4-FFF2-40B4-BE49-F238E27FC236}">
                <a16:creationId xmlns:a16="http://schemas.microsoft.com/office/drawing/2014/main" id="{C568083D-4C08-80C5-A466-AC2C2F226A12}"/>
              </a:ext>
            </a:extLst>
          </p:cNvPr>
          <p:cNvSpPr>
            <a:spLocks noGrp="1"/>
          </p:cNvSpPr>
          <p:nvPr>
            <p:ph idx="1"/>
          </p:nvPr>
        </p:nvSpPr>
        <p:spPr/>
        <p:txBody>
          <a:bodyPr>
            <a:normAutofit fontScale="92500" lnSpcReduction="20000"/>
          </a:bodyPr>
          <a:lstStyle/>
          <a:p>
            <a:r>
              <a:rPr lang="en-US" dirty="0"/>
              <a:t>The failure of one service can also potentially cascade to other services throughout the application</a:t>
            </a:r>
          </a:p>
          <a:p>
            <a:r>
              <a:rPr lang="en-US" dirty="0"/>
              <a:t>To prevent a network or service failure from cascading to other services, we us the </a:t>
            </a:r>
            <a:r>
              <a:rPr lang="en-US" b="1" i="1" dirty="0"/>
              <a:t>circuit breaker pattern</a:t>
            </a:r>
            <a:r>
              <a:rPr lang="en-US" dirty="0"/>
              <a:t> when building microservice applications</a:t>
            </a:r>
          </a:p>
          <a:p>
            <a:r>
              <a:rPr lang="en-US" dirty="0"/>
              <a:t>A circuit breaker wraps a function call with a monitor, where the monitor will be tracking potential failures.</a:t>
            </a:r>
          </a:p>
          <a:p>
            <a:r>
              <a:rPr lang="en-US" dirty="0"/>
              <a:t>If the service is in the failed stage, the circuit will send the error message without make a call.</a:t>
            </a:r>
          </a:p>
          <a:p>
            <a:r>
              <a:rPr lang="en-US" dirty="0"/>
              <a:t>If the service is up, then the breaker forwards the call to the needed service.</a:t>
            </a:r>
          </a:p>
          <a:p>
            <a:endParaRPr lang="en-US" dirty="0"/>
          </a:p>
        </p:txBody>
      </p:sp>
      <p:sp>
        <p:nvSpPr>
          <p:cNvPr id="5" name="Title 4">
            <a:extLst>
              <a:ext uri="{FF2B5EF4-FFF2-40B4-BE49-F238E27FC236}">
                <a16:creationId xmlns:a16="http://schemas.microsoft.com/office/drawing/2014/main" id="{38D7EE52-499F-1E1E-33A9-72B650C34BAD}"/>
              </a:ext>
            </a:extLst>
          </p:cNvPr>
          <p:cNvSpPr>
            <a:spLocks noGrp="1"/>
          </p:cNvSpPr>
          <p:nvPr>
            <p:ph type="title"/>
          </p:nvPr>
        </p:nvSpPr>
        <p:spPr/>
        <p:txBody>
          <a:bodyPr/>
          <a:lstStyle/>
          <a:p>
            <a:r>
              <a:rPr lang="en-US" dirty="0"/>
              <a:t>Circuit Breaker Pattern</a:t>
            </a:r>
          </a:p>
        </p:txBody>
      </p:sp>
    </p:spTree>
    <p:extLst>
      <p:ext uri="{BB962C8B-B14F-4D97-AF65-F5344CB8AC3E}">
        <p14:creationId xmlns:p14="http://schemas.microsoft.com/office/powerpoint/2010/main" val="45944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3F381-9220-65A6-7E79-982DCBF203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DB9BE1-1744-2D6E-0EB9-D711D1DE77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
        <p:nvSpPr>
          <p:cNvPr id="6" name="Content Placeholder 5">
            <a:extLst>
              <a:ext uri="{FF2B5EF4-FFF2-40B4-BE49-F238E27FC236}">
                <a16:creationId xmlns:a16="http://schemas.microsoft.com/office/drawing/2014/main" id="{6099C856-0892-AC6E-8814-51AC2773390C}"/>
              </a:ext>
            </a:extLst>
          </p:cNvPr>
          <p:cNvSpPr>
            <a:spLocks noGrp="1"/>
          </p:cNvSpPr>
          <p:nvPr>
            <p:ph idx="1"/>
          </p:nvPr>
        </p:nvSpPr>
        <p:spPr>
          <a:xfrm>
            <a:off x="380010" y="1481446"/>
            <a:ext cx="8383980" cy="4882266"/>
          </a:xfrm>
        </p:spPr>
        <p:txBody>
          <a:bodyPr>
            <a:normAutofit fontScale="85000" lnSpcReduction="20000"/>
          </a:bodyPr>
          <a:lstStyle/>
          <a:p>
            <a:r>
              <a:rPr lang="en-US" dirty="0"/>
              <a:t>The circuit breaker has 3 distinct states – </a:t>
            </a:r>
          </a:p>
          <a:p>
            <a:r>
              <a:rPr lang="en-US" b="1" dirty="0"/>
              <a:t>Closed State</a:t>
            </a:r>
            <a:r>
              <a:rPr lang="en-US" dirty="0"/>
              <a:t> - When service is up and running, the circuit breaker remains in the closed state and all calls pass through to the services.</a:t>
            </a:r>
          </a:p>
          <a:p>
            <a:r>
              <a:rPr lang="en-US" b="1" dirty="0"/>
              <a:t>Open State</a:t>
            </a:r>
            <a:r>
              <a:rPr lang="en-US" dirty="0"/>
              <a:t> - When the number of failures exceeds a predetermined threshold the breaker trips, and it goes into the Open state. In the OPEN state the circuit breaker returns an error for all calls to the service without making the calls to the Supplier Microservice.</a:t>
            </a:r>
          </a:p>
          <a:p>
            <a:r>
              <a:rPr lang="en-US" b="1" dirty="0"/>
              <a:t>Half-Open State</a:t>
            </a:r>
            <a:r>
              <a:rPr lang="en-US" dirty="0"/>
              <a:t> - The circuit breaker makes a trial call to the failed service periodically to check if it has recovered. If the call to the service times out, the circuit breaker remains in the Open state. If the call returns successfully, then the circuit switches to the closed state.</a:t>
            </a:r>
          </a:p>
        </p:txBody>
      </p:sp>
      <p:sp>
        <p:nvSpPr>
          <p:cNvPr id="5" name="Title 4">
            <a:extLst>
              <a:ext uri="{FF2B5EF4-FFF2-40B4-BE49-F238E27FC236}">
                <a16:creationId xmlns:a16="http://schemas.microsoft.com/office/drawing/2014/main" id="{4F9A59D4-C89D-CDD7-4E48-E95F0BE80782}"/>
              </a:ext>
            </a:extLst>
          </p:cNvPr>
          <p:cNvSpPr>
            <a:spLocks noGrp="1"/>
          </p:cNvSpPr>
          <p:nvPr>
            <p:ph type="title"/>
          </p:nvPr>
        </p:nvSpPr>
        <p:spPr/>
        <p:txBody>
          <a:bodyPr/>
          <a:lstStyle/>
          <a:p>
            <a:r>
              <a:rPr lang="en-US" dirty="0"/>
              <a:t>Circuit Breaker Pattern</a:t>
            </a:r>
          </a:p>
        </p:txBody>
      </p:sp>
    </p:spTree>
    <p:extLst>
      <p:ext uri="{BB962C8B-B14F-4D97-AF65-F5344CB8AC3E}">
        <p14:creationId xmlns:p14="http://schemas.microsoft.com/office/powerpoint/2010/main" val="124738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8D926-3DCD-A724-7091-33AB69788F5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BA5260-64EB-9543-DC66-766B6134D0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
        <p:nvSpPr>
          <p:cNvPr id="5" name="Title 4">
            <a:extLst>
              <a:ext uri="{FF2B5EF4-FFF2-40B4-BE49-F238E27FC236}">
                <a16:creationId xmlns:a16="http://schemas.microsoft.com/office/drawing/2014/main" id="{3FCD35E0-FE13-D298-374F-163CF92FED12}"/>
              </a:ext>
            </a:extLst>
          </p:cNvPr>
          <p:cNvSpPr>
            <a:spLocks noGrp="1"/>
          </p:cNvSpPr>
          <p:nvPr>
            <p:ph type="title"/>
          </p:nvPr>
        </p:nvSpPr>
        <p:spPr/>
        <p:txBody>
          <a:bodyPr/>
          <a:lstStyle/>
          <a:p>
            <a:r>
              <a:rPr lang="en-US" dirty="0"/>
              <a:t>Circuit Breaker Pattern</a:t>
            </a:r>
          </a:p>
        </p:txBody>
      </p:sp>
      <p:pic>
        <p:nvPicPr>
          <p:cNvPr id="7" name="Content Placeholder 4">
            <a:extLst>
              <a:ext uri="{FF2B5EF4-FFF2-40B4-BE49-F238E27FC236}">
                <a16:creationId xmlns:a16="http://schemas.microsoft.com/office/drawing/2014/main" id="{FA026C17-6B6B-1694-2421-FDE865C308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5049" y="1788608"/>
            <a:ext cx="4553902" cy="4367606"/>
          </a:xfrm>
        </p:spPr>
      </p:pic>
    </p:spTree>
    <p:extLst>
      <p:ext uri="{BB962C8B-B14F-4D97-AF65-F5344CB8AC3E}">
        <p14:creationId xmlns:p14="http://schemas.microsoft.com/office/powerpoint/2010/main" val="24928263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2E5F-16C4-1C34-7BA9-9EFD4B5515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6FCA6D-93BC-5BC1-90CA-E5A9173932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
        <p:nvSpPr>
          <p:cNvPr id="6" name="Content Placeholder 5">
            <a:extLst>
              <a:ext uri="{FF2B5EF4-FFF2-40B4-BE49-F238E27FC236}">
                <a16:creationId xmlns:a16="http://schemas.microsoft.com/office/drawing/2014/main" id="{EE8AFC67-D43E-92F3-240A-E57712848C6A}"/>
              </a:ext>
            </a:extLst>
          </p:cNvPr>
          <p:cNvSpPr>
            <a:spLocks noGrp="1"/>
          </p:cNvSpPr>
          <p:nvPr>
            <p:ph idx="1"/>
          </p:nvPr>
        </p:nvSpPr>
        <p:spPr>
          <a:xfrm>
            <a:off x="380010" y="1481446"/>
            <a:ext cx="8383980" cy="4882266"/>
          </a:xfrm>
        </p:spPr>
        <p:txBody>
          <a:bodyPr>
            <a:normAutofit/>
          </a:bodyPr>
          <a:lstStyle/>
          <a:p>
            <a:r>
              <a:rPr lang="en-US" dirty="0"/>
              <a:t>Spring Cloud leverages Resilience4J as the default Circuit Breaker implementation.</a:t>
            </a:r>
          </a:p>
        </p:txBody>
      </p:sp>
      <p:sp>
        <p:nvSpPr>
          <p:cNvPr id="5" name="Title 4">
            <a:extLst>
              <a:ext uri="{FF2B5EF4-FFF2-40B4-BE49-F238E27FC236}">
                <a16:creationId xmlns:a16="http://schemas.microsoft.com/office/drawing/2014/main" id="{46257AF9-8375-76E5-A574-D313017512EA}"/>
              </a:ext>
            </a:extLst>
          </p:cNvPr>
          <p:cNvSpPr>
            <a:spLocks noGrp="1"/>
          </p:cNvSpPr>
          <p:nvPr>
            <p:ph type="title"/>
          </p:nvPr>
        </p:nvSpPr>
        <p:spPr/>
        <p:txBody>
          <a:bodyPr/>
          <a:lstStyle/>
          <a:p>
            <a:r>
              <a:rPr lang="en-US" dirty="0"/>
              <a:t>Spring Circuit Breaker | Resilience4J</a:t>
            </a:r>
          </a:p>
        </p:txBody>
      </p:sp>
      <p:pic>
        <p:nvPicPr>
          <p:cNvPr id="3" name="Picture 2">
            <a:extLst>
              <a:ext uri="{FF2B5EF4-FFF2-40B4-BE49-F238E27FC236}">
                <a16:creationId xmlns:a16="http://schemas.microsoft.com/office/drawing/2014/main" id="{A3CFB6B3-B845-DFE8-D6C5-1CA51D9EC012}"/>
              </a:ext>
            </a:extLst>
          </p:cNvPr>
          <p:cNvPicPr>
            <a:picLocks noChangeAspect="1"/>
          </p:cNvPicPr>
          <p:nvPr/>
        </p:nvPicPr>
        <p:blipFill>
          <a:blip r:embed="rId2"/>
          <a:stretch>
            <a:fillRect/>
          </a:stretch>
        </p:blipFill>
        <p:spPr>
          <a:xfrm>
            <a:off x="1733154" y="3000315"/>
            <a:ext cx="5677692" cy="857370"/>
          </a:xfrm>
          <a:prstGeom prst="rect">
            <a:avLst/>
          </a:prstGeom>
        </p:spPr>
      </p:pic>
    </p:spTree>
    <p:extLst>
      <p:ext uri="{BB962C8B-B14F-4D97-AF65-F5344CB8AC3E}">
        <p14:creationId xmlns:p14="http://schemas.microsoft.com/office/powerpoint/2010/main" val="127604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3DD95-F9FB-E05C-DC49-5CAFB756700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2224A2-C083-9868-CACA-41611FBF90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
        <p:nvSpPr>
          <p:cNvPr id="6" name="Content Placeholder 5">
            <a:extLst>
              <a:ext uri="{FF2B5EF4-FFF2-40B4-BE49-F238E27FC236}">
                <a16:creationId xmlns:a16="http://schemas.microsoft.com/office/drawing/2014/main" id="{0C93E769-A457-D312-F851-09E37A5F1E73}"/>
              </a:ext>
            </a:extLst>
          </p:cNvPr>
          <p:cNvSpPr>
            <a:spLocks noGrp="1"/>
          </p:cNvSpPr>
          <p:nvPr>
            <p:ph idx="1"/>
          </p:nvPr>
        </p:nvSpPr>
        <p:spPr>
          <a:xfrm>
            <a:off x="380010" y="5173419"/>
            <a:ext cx="8383980" cy="1555417"/>
          </a:xfrm>
        </p:spPr>
        <p:txBody>
          <a:bodyPr>
            <a:normAutofit fontScale="70000" lnSpcReduction="20000"/>
          </a:bodyPr>
          <a:lstStyle/>
          <a:p>
            <a:r>
              <a:rPr lang="en-US" dirty="0"/>
              <a:t>In this example, if the inventory-service times out, throws an error or otherwise becomes unavailable, the circuit breaker opens, and calls the indicated fallback method “</a:t>
            </a:r>
            <a:r>
              <a:rPr lang="en-US" dirty="0" err="1"/>
              <a:t>fallbackInventory</a:t>
            </a:r>
            <a:r>
              <a:rPr lang="en-US" dirty="0"/>
              <a:t>”</a:t>
            </a:r>
          </a:p>
          <a:p>
            <a:r>
              <a:rPr lang="en-US" dirty="0"/>
              <a:t>This method, as seen, simply returns a message, stating that the inventory service is </a:t>
            </a:r>
            <a:r>
              <a:rPr lang="en-US" dirty="0" err="1"/>
              <a:t>unavailabl</a:t>
            </a:r>
            <a:endParaRPr lang="en-US" dirty="0"/>
          </a:p>
        </p:txBody>
      </p:sp>
      <p:sp>
        <p:nvSpPr>
          <p:cNvPr id="5" name="Title 4">
            <a:extLst>
              <a:ext uri="{FF2B5EF4-FFF2-40B4-BE49-F238E27FC236}">
                <a16:creationId xmlns:a16="http://schemas.microsoft.com/office/drawing/2014/main" id="{61084021-62A0-CE67-AE14-64CEBEE23344}"/>
              </a:ext>
            </a:extLst>
          </p:cNvPr>
          <p:cNvSpPr>
            <a:spLocks noGrp="1"/>
          </p:cNvSpPr>
          <p:nvPr>
            <p:ph type="title"/>
          </p:nvPr>
        </p:nvSpPr>
        <p:spPr/>
        <p:txBody>
          <a:bodyPr/>
          <a:lstStyle/>
          <a:p>
            <a:r>
              <a:rPr lang="en-US" dirty="0"/>
              <a:t>Spring Circuit Breaker | Resilience4J</a:t>
            </a:r>
          </a:p>
        </p:txBody>
      </p:sp>
      <p:pic>
        <p:nvPicPr>
          <p:cNvPr id="7" name="Picture 6">
            <a:extLst>
              <a:ext uri="{FF2B5EF4-FFF2-40B4-BE49-F238E27FC236}">
                <a16:creationId xmlns:a16="http://schemas.microsoft.com/office/drawing/2014/main" id="{75996F37-1F9C-238D-8A06-A42604DE5319}"/>
              </a:ext>
            </a:extLst>
          </p:cNvPr>
          <p:cNvPicPr>
            <a:picLocks noChangeAspect="1"/>
          </p:cNvPicPr>
          <p:nvPr/>
        </p:nvPicPr>
        <p:blipFill>
          <a:blip r:embed="rId2"/>
          <a:stretch>
            <a:fillRect/>
          </a:stretch>
        </p:blipFill>
        <p:spPr>
          <a:xfrm>
            <a:off x="1717392" y="1334609"/>
            <a:ext cx="5709216" cy="3723401"/>
          </a:xfrm>
          <a:prstGeom prst="rect">
            <a:avLst/>
          </a:prstGeom>
        </p:spPr>
      </p:pic>
    </p:spTree>
    <p:extLst>
      <p:ext uri="{BB962C8B-B14F-4D97-AF65-F5344CB8AC3E}">
        <p14:creationId xmlns:p14="http://schemas.microsoft.com/office/powerpoint/2010/main" val="257587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ECDE-AC33-628C-FA07-3D547D673A0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6D450E-EF3D-F035-D3E7-DD22500933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
        <p:nvSpPr>
          <p:cNvPr id="6" name="Content Placeholder 5">
            <a:extLst>
              <a:ext uri="{FF2B5EF4-FFF2-40B4-BE49-F238E27FC236}">
                <a16:creationId xmlns:a16="http://schemas.microsoft.com/office/drawing/2014/main" id="{03C89DF1-EEE6-BCAF-BCD1-24A8890657D8}"/>
              </a:ext>
            </a:extLst>
          </p:cNvPr>
          <p:cNvSpPr>
            <a:spLocks noGrp="1"/>
          </p:cNvSpPr>
          <p:nvPr>
            <p:ph idx="1"/>
          </p:nvPr>
        </p:nvSpPr>
        <p:spPr>
          <a:xfrm>
            <a:off x="380010" y="3429000"/>
            <a:ext cx="8383981" cy="763676"/>
          </a:xfrm>
        </p:spPr>
        <p:txBody>
          <a:bodyPr>
            <a:normAutofit/>
          </a:bodyPr>
          <a:lstStyle/>
          <a:p>
            <a:pPr marL="0" indent="0">
              <a:buNone/>
            </a:pPr>
            <a:r>
              <a:rPr lang="en-US" sz="2400" dirty="0"/>
              <a:t>You can configure your circuit breaker in the </a:t>
            </a:r>
            <a:r>
              <a:rPr lang="en-US" sz="2400" dirty="0" err="1"/>
              <a:t>application.yml</a:t>
            </a:r>
            <a:endParaRPr lang="en-US" sz="2400" dirty="0"/>
          </a:p>
        </p:txBody>
      </p:sp>
      <p:sp>
        <p:nvSpPr>
          <p:cNvPr id="5" name="Title 4">
            <a:extLst>
              <a:ext uri="{FF2B5EF4-FFF2-40B4-BE49-F238E27FC236}">
                <a16:creationId xmlns:a16="http://schemas.microsoft.com/office/drawing/2014/main" id="{93A3128F-0C07-96D1-5885-5CFA4E0E9B19}"/>
              </a:ext>
            </a:extLst>
          </p:cNvPr>
          <p:cNvSpPr>
            <a:spLocks noGrp="1"/>
          </p:cNvSpPr>
          <p:nvPr>
            <p:ph type="title"/>
          </p:nvPr>
        </p:nvSpPr>
        <p:spPr/>
        <p:txBody>
          <a:bodyPr/>
          <a:lstStyle/>
          <a:p>
            <a:r>
              <a:rPr lang="en-US" dirty="0"/>
              <a:t>Spring Circuit Breaker | Resilience4J</a:t>
            </a:r>
          </a:p>
        </p:txBody>
      </p:sp>
      <p:pic>
        <p:nvPicPr>
          <p:cNvPr id="7" name="Picture 6">
            <a:extLst>
              <a:ext uri="{FF2B5EF4-FFF2-40B4-BE49-F238E27FC236}">
                <a16:creationId xmlns:a16="http://schemas.microsoft.com/office/drawing/2014/main" id="{B3E3455A-4B82-C016-66EB-00DD002C5AB0}"/>
              </a:ext>
            </a:extLst>
          </p:cNvPr>
          <p:cNvPicPr>
            <a:picLocks noChangeAspect="1"/>
          </p:cNvPicPr>
          <p:nvPr/>
        </p:nvPicPr>
        <p:blipFill>
          <a:blip r:embed="rId2"/>
          <a:stretch>
            <a:fillRect/>
          </a:stretch>
        </p:blipFill>
        <p:spPr>
          <a:xfrm>
            <a:off x="2709602" y="1481446"/>
            <a:ext cx="3724795" cy="1590897"/>
          </a:xfrm>
          <a:prstGeom prst="rect">
            <a:avLst/>
          </a:prstGeom>
        </p:spPr>
      </p:pic>
      <p:graphicFrame>
        <p:nvGraphicFramePr>
          <p:cNvPr id="8" name="Table 7">
            <a:extLst>
              <a:ext uri="{FF2B5EF4-FFF2-40B4-BE49-F238E27FC236}">
                <a16:creationId xmlns:a16="http://schemas.microsoft.com/office/drawing/2014/main" id="{570EBCD8-2BB8-D78B-F884-E70EE9E550AB}"/>
              </a:ext>
            </a:extLst>
          </p:cNvPr>
          <p:cNvGraphicFramePr>
            <a:graphicFrameLocks noGrp="1"/>
          </p:cNvGraphicFramePr>
          <p:nvPr>
            <p:extLst>
              <p:ext uri="{D42A27DB-BD31-4B8C-83A1-F6EECF244321}">
                <p14:modId xmlns:p14="http://schemas.microsoft.com/office/powerpoint/2010/main" val="4250880689"/>
              </p:ext>
            </p:extLst>
          </p:nvPr>
        </p:nvGraphicFramePr>
        <p:xfrm>
          <a:off x="159572" y="4081854"/>
          <a:ext cx="8862646" cy="2392680"/>
        </p:xfrm>
        <a:graphic>
          <a:graphicData uri="http://schemas.openxmlformats.org/drawingml/2006/table">
            <a:tbl>
              <a:tblPr firstRow="1" bandRow="1">
                <a:tableStyleId>{5C22544A-7EE6-4342-B048-85BDC9FD1C3A}</a:tableStyleId>
              </a:tblPr>
              <a:tblGrid>
                <a:gridCol w="4431323">
                  <a:extLst>
                    <a:ext uri="{9D8B030D-6E8A-4147-A177-3AD203B41FA5}">
                      <a16:colId xmlns:a16="http://schemas.microsoft.com/office/drawing/2014/main" val="3571357621"/>
                    </a:ext>
                  </a:extLst>
                </a:gridCol>
                <a:gridCol w="4431323">
                  <a:extLst>
                    <a:ext uri="{9D8B030D-6E8A-4147-A177-3AD203B41FA5}">
                      <a16:colId xmlns:a16="http://schemas.microsoft.com/office/drawing/2014/main" val="1953913407"/>
                    </a:ext>
                  </a:extLst>
                </a:gridCol>
              </a:tblGrid>
              <a:tr h="370840">
                <a:tc>
                  <a:txBody>
                    <a:bodyPr/>
                    <a:lstStyle/>
                    <a:p>
                      <a:r>
                        <a:rPr lang="en-US" dirty="0"/>
                        <a:t>Property</a:t>
                      </a:r>
                    </a:p>
                  </a:txBody>
                  <a:tcPr/>
                </a:tc>
                <a:tc>
                  <a:txBody>
                    <a:bodyPr/>
                    <a:lstStyle/>
                    <a:p>
                      <a:r>
                        <a:rPr lang="en-US" dirty="0"/>
                        <a:t>Description</a:t>
                      </a:r>
                    </a:p>
                  </a:txBody>
                  <a:tcPr/>
                </a:tc>
                <a:extLst>
                  <a:ext uri="{0D108BD9-81ED-4DB2-BD59-A6C34878D82A}">
                    <a16:rowId xmlns:a16="http://schemas.microsoft.com/office/drawing/2014/main" val="2586632640"/>
                  </a:ext>
                </a:extLst>
              </a:tr>
              <a:tr h="370840">
                <a:tc>
                  <a:txBody>
                    <a:bodyPr/>
                    <a:lstStyle/>
                    <a:p>
                      <a:r>
                        <a:rPr lang="en-US" dirty="0" err="1"/>
                        <a:t>slidingWindowSize</a:t>
                      </a:r>
                      <a:endParaRPr lang="en-US" dirty="0"/>
                    </a:p>
                  </a:txBody>
                  <a:tcPr/>
                </a:tc>
                <a:tc>
                  <a:txBody>
                    <a:bodyPr/>
                    <a:lstStyle/>
                    <a:p>
                      <a:r>
                        <a:rPr lang="en-US" dirty="0"/>
                        <a:t>Number of requests used to evaluate failure rate</a:t>
                      </a:r>
                    </a:p>
                  </a:txBody>
                  <a:tcPr/>
                </a:tc>
                <a:extLst>
                  <a:ext uri="{0D108BD9-81ED-4DB2-BD59-A6C34878D82A}">
                    <a16:rowId xmlns:a16="http://schemas.microsoft.com/office/drawing/2014/main" val="1348662587"/>
                  </a:ext>
                </a:extLst>
              </a:tr>
              <a:tr h="370840">
                <a:tc>
                  <a:txBody>
                    <a:bodyPr/>
                    <a:lstStyle/>
                    <a:p>
                      <a:r>
                        <a:rPr lang="en-US" dirty="0" err="1"/>
                        <a:t>failureRateThreshold</a:t>
                      </a:r>
                      <a:endParaRPr lang="en-US" dirty="0"/>
                    </a:p>
                  </a:txBody>
                  <a:tcPr/>
                </a:tc>
                <a:tc>
                  <a:txBody>
                    <a:bodyPr/>
                    <a:lstStyle/>
                    <a:p>
                      <a:r>
                        <a:rPr lang="en-US" dirty="0"/>
                        <a:t>% of failures before circuit opens</a:t>
                      </a:r>
                    </a:p>
                  </a:txBody>
                  <a:tcPr/>
                </a:tc>
                <a:extLst>
                  <a:ext uri="{0D108BD9-81ED-4DB2-BD59-A6C34878D82A}">
                    <a16:rowId xmlns:a16="http://schemas.microsoft.com/office/drawing/2014/main" val="2208574462"/>
                  </a:ext>
                </a:extLst>
              </a:tr>
              <a:tr h="370840">
                <a:tc>
                  <a:txBody>
                    <a:bodyPr/>
                    <a:lstStyle/>
                    <a:p>
                      <a:r>
                        <a:rPr lang="en-US" dirty="0" err="1"/>
                        <a:t>waitDurationInOpenState</a:t>
                      </a:r>
                      <a:endParaRPr lang="en-US" dirty="0"/>
                    </a:p>
                  </a:txBody>
                  <a:tcPr/>
                </a:tc>
                <a:tc>
                  <a:txBody>
                    <a:bodyPr/>
                    <a:lstStyle/>
                    <a:p>
                      <a:r>
                        <a:rPr lang="en-US" dirty="0"/>
                        <a:t>Time before retry attempts</a:t>
                      </a:r>
                    </a:p>
                  </a:txBody>
                  <a:tcPr/>
                </a:tc>
                <a:extLst>
                  <a:ext uri="{0D108BD9-81ED-4DB2-BD59-A6C34878D82A}">
                    <a16:rowId xmlns:a16="http://schemas.microsoft.com/office/drawing/2014/main" val="367306384"/>
                  </a:ext>
                </a:extLst>
              </a:tr>
              <a:tr h="370840">
                <a:tc>
                  <a:txBody>
                    <a:bodyPr/>
                    <a:lstStyle/>
                    <a:p>
                      <a:r>
                        <a:rPr lang="en-US" dirty="0" err="1"/>
                        <a:t>permittedNumberOfCallsInHalfOpenState</a:t>
                      </a:r>
                      <a:endParaRPr lang="en-US" dirty="0"/>
                    </a:p>
                  </a:txBody>
                  <a:tcPr/>
                </a:tc>
                <a:tc>
                  <a:txBody>
                    <a:bodyPr/>
                    <a:lstStyle/>
                    <a:p>
                      <a:r>
                        <a:rPr lang="en-US" dirty="0"/>
                        <a:t>Number of requests allowed in half-open state</a:t>
                      </a:r>
                    </a:p>
                  </a:txBody>
                  <a:tcPr/>
                </a:tc>
                <a:extLst>
                  <a:ext uri="{0D108BD9-81ED-4DB2-BD59-A6C34878D82A}">
                    <a16:rowId xmlns:a16="http://schemas.microsoft.com/office/drawing/2014/main" val="1187456870"/>
                  </a:ext>
                </a:extLst>
              </a:tr>
            </a:tbl>
          </a:graphicData>
        </a:graphic>
      </p:graphicFrame>
    </p:spTree>
    <p:extLst>
      <p:ext uri="{BB962C8B-B14F-4D97-AF65-F5344CB8AC3E}">
        <p14:creationId xmlns:p14="http://schemas.microsoft.com/office/powerpoint/2010/main" val="107012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8172</TotalTime>
  <Words>3661</Words>
  <Application>Microsoft Office PowerPoint</Application>
  <PresentationFormat>On-screen Show (4:3)</PresentationFormat>
  <Paragraphs>376</Paragraphs>
  <Slides>66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2_Custom Design</vt:lpstr>
      <vt:lpstr>Microservices with Spring</vt:lpstr>
      <vt:lpstr>Outline</vt:lpstr>
      <vt:lpstr>PowerPoint Presentation</vt:lpstr>
      <vt:lpstr>What are Microservices?</vt:lpstr>
      <vt:lpstr>What are Microservices?</vt:lpstr>
      <vt:lpstr>What are Microservices?</vt:lpstr>
      <vt:lpstr>PowerPoint Presentation</vt:lpstr>
      <vt:lpstr>Monolithic Applications</vt:lpstr>
      <vt:lpstr>Microservices vs Monolithic</vt:lpstr>
      <vt:lpstr>Microservices vs Monolithic</vt:lpstr>
      <vt:lpstr>Microservices vs Monolithic</vt:lpstr>
      <vt:lpstr>Microservices vs Monolithic</vt:lpstr>
      <vt:lpstr>PowerPoint Presentation</vt:lpstr>
      <vt:lpstr>Characteristics of Microservices Architecture</vt:lpstr>
      <vt:lpstr>Characteristics of Microservices Architecture</vt:lpstr>
      <vt:lpstr>Microservices – 12 Factors</vt:lpstr>
      <vt:lpstr>Microservices – 12 Factors</vt:lpstr>
      <vt:lpstr>Microservices – 12 Factors</vt:lpstr>
      <vt:lpstr>Microservices – 12 Factors</vt:lpstr>
      <vt:lpstr>PowerPoint Presentation</vt:lpstr>
      <vt:lpstr>Challenges of Microservices Architecture</vt:lpstr>
      <vt:lpstr>Challenges of Microservices Architecture</vt:lpstr>
      <vt:lpstr>Challenges of Microservices Architecture</vt:lpstr>
      <vt:lpstr>Advantages of Microservices Architecture</vt:lpstr>
      <vt:lpstr>Disadvantages of Microservices Architecture</vt:lpstr>
      <vt:lpstr>PowerPoint Presentation</vt:lpstr>
      <vt:lpstr>Spring Cloud</vt:lpstr>
      <vt:lpstr>Spring Cloud</vt:lpstr>
      <vt:lpstr>PowerPoint Presentation</vt:lpstr>
      <vt:lpstr>Service Discovery &amp; Registries</vt:lpstr>
      <vt:lpstr>Service Registry</vt:lpstr>
      <vt:lpstr>Service Registry</vt:lpstr>
      <vt:lpstr>Service Registry</vt:lpstr>
      <vt:lpstr>Service Registry | Registration Models</vt:lpstr>
      <vt:lpstr>Service Registry | Self-Registration</vt:lpstr>
      <vt:lpstr>Service Registry | Third Party Registration</vt:lpstr>
      <vt:lpstr>PowerPoint Presentation</vt:lpstr>
      <vt:lpstr>Service Discovery</vt:lpstr>
      <vt:lpstr>Service Discovery | Kubernetes</vt:lpstr>
      <vt:lpstr>Service Discovery | Kubernetes</vt:lpstr>
      <vt:lpstr>Service Discovery | HashiCorp Consul</vt:lpstr>
      <vt:lpstr>Service Discovery | HashiCorp Consul</vt:lpstr>
      <vt:lpstr>Service Discovery</vt:lpstr>
      <vt:lpstr>Service Discovery | Patterns</vt:lpstr>
      <vt:lpstr>Service Discovery | Patterns</vt:lpstr>
      <vt:lpstr>Service Discovery | Patterns</vt:lpstr>
      <vt:lpstr>PowerPoint Presentation</vt:lpstr>
      <vt:lpstr>API Gateway</vt:lpstr>
      <vt:lpstr>API Gateway</vt:lpstr>
      <vt:lpstr>API Gateway</vt:lpstr>
      <vt:lpstr>Spring Cloud Gateway</vt:lpstr>
      <vt:lpstr>Spring Cloud Gateway</vt:lpstr>
      <vt:lpstr>Spring Cloud Gateway | Configuration</vt:lpstr>
      <vt:lpstr>Spring Cloud Gateway | Configuration</vt:lpstr>
      <vt:lpstr>PowerPoint Presentation</vt:lpstr>
      <vt:lpstr>Load Balancing</vt:lpstr>
      <vt:lpstr>Load Balancing</vt:lpstr>
      <vt:lpstr>Load Balancing with Spring Cloud</vt:lpstr>
      <vt:lpstr>PowerPoint Presentation</vt:lpstr>
      <vt:lpstr>Circuit Breaker Pattern</vt:lpstr>
      <vt:lpstr>Circuit Breaker Pattern</vt:lpstr>
      <vt:lpstr>Circuit Breaker Pattern</vt:lpstr>
      <vt:lpstr>Circuit Breaker Pattern</vt:lpstr>
      <vt:lpstr>Spring Circuit Breaker | Resilience4J</vt:lpstr>
      <vt:lpstr>Spring Circuit Breaker | Resilience4J</vt:lpstr>
      <vt:lpstr>Spring Circuit Breaker | Resilience4J</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14</cp:revision>
  <cp:lastPrinted>2016-06-20T20:58:50Z</cp:lastPrinted>
  <dcterms:created xsi:type="dcterms:W3CDTF">2016-11-09T18:19:08Z</dcterms:created>
  <dcterms:modified xsi:type="dcterms:W3CDTF">2026-03-11T14:05:52Z</dcterms:modified>
</cp:coreProperties>
</file>