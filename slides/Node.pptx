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6"/>
  </p:notesMasterIdLst>
  <p:handoutMasterIdLst>
    <p:handoutMasterId r:id="rId17"/>
  </p:handoutMasterIdLst>
  <p:sldIdLst>
    <p:sldId id="256" r:id="rId2"/>
    <p:sldId id="343" r:id="rId3"/>
    <p:sldId id="357" r:id="rId4"/>
    <p:sldId id="257" r:id="rId5"/>
    <p:sldId id="359" r:id="rId6"/>
    <p:sldId id="358" r:id="rId7"/>
    <p:sldId id="365" r:id="rId8"/>
    <p:sldId id="360" r:id="rId9"/>
    <p:sldId id="364" r:id="rId10"/>
    <p:sldId id="361" r:id="rId11"/>
    <p:sldId id="362" r:id="rId12"/>
    <p:sldId id="363" r:id="rId13"/>
    <p:sldId id="366" r:id="rId14"/>
    <p:sldId id="367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C55"/>
    <a:srgbClr val="669A91"/>
    <a:srgbClr val="9171A7"/>
    <a:srgbClr val="CCCC00"/>
    <a:srgbClr val="B07750"/>
    <a:srgbClr val="AC545C"/>
    <a:srgbClr val="33CCCC"/>
    <a:srgbClr val="9966FF"/>
    <a:srgbClr val="616875"/>
    <a:srgbClr val="CFD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Node.js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Node.js and NPM</a:t>
            </a:r>
          </a:p>
          <a:p>
            <a:r>
              <a:rPr lang="en-US" dirty="0"/>
              <a:t>Installation of Node</a:t>
            </a:r>
          </a:p>
          <a:p>
            <a:r>
              <a:rPr lang="en-US" dirty="0" err="1"/>
              <a:t>Package.json</a:t>
            </a:r>
            <a:r>
              <a:rPr lang="en-US" dirty="0"/>
              <a:t> and Webpack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Node.js and NPM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Node.js is an open-source, cross-platform run-time environment built on Chrome’s V8 JavaScript engine.</a:t>
            </a:r>
          </a:p>
          <a:p>
            <a:r>
              <a:rPr lang="en-US" dirty="0"/>
              <a:t>Node.js is used to execute JavaScript code outside of a web browser.</a:t>
            </a:r>
          </a:p>
          <a:p>
            <a:r>
              <a:rPr lang="en-US" dirty="0"/>
              <a:t>It provides a library of various JavaScript modules, which simplifies the development of web applications.</a:t>
            </a:r>
          </a:p>
          <a:p>
            <a:r>
              <a:rPr lang="en-US" dirty="0"/>
              <a:t>Global companies, like Netflix, Facebook, Walmart, </a:t>
            </a:r>
            <a:r>
              <a:rPr lang="en-US" dirty="0" err="1"/>
              <a:t>Linkedin</a:t>
            </a:r>
            <a:r>
              <a:rPr lang="en-US" dirty="0"/>
              <a:t>, Uber, etc… use node.js for building their applications.</a:t>
            </a:r>
          </a:p>
          <a:p>
            <a:r>
              <a:rPr lang="en-US" dirty="0"/>
              <a:t>It has helped companies create various applications like social media apps, video and text chat engines, real-time tracking apps, online games, and collaboration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23A2-136E-4E78-DAB8-F2B40F89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3ACC-EBE1-24F8-DFEE-50341169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Package Manager - NPM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9C95-31A9-5950-56CB-9087A7C13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Node Package Manager (NPM) is a package manager for JavaScript</a:t>
            </a:r>
          </a:p>
          <a:p>
            <a:r>
              <a:rPr lang="en-US" dirty="0"/>
              <a:t>It is the default package manager for the JavaScript runtime environment – Node.js</a:t>
            </a:r>
          </a:p>
          <a:p>
            <a:r>
              <a:rPr lang="en-US" dirty="0" err="1"/>
              <a:t>Npm</a:t>
            </a:r>
            <a:r>
              <a:rPr lang="en-US" dirty="0"/>
              <a:t> consists of three (3) components:</a:t>
            </a:r>
          </a:p>
          <a:p>
            <a:pPr lvl="1"/>
            <a:r>
              <a:rPr lang="en-US" b="1" dirty="0"/>
              <a:t>The website </a:t>
            </a:r>
            <a:r>
              <a:rPr lang="en-US" dirty="0"/>
              <a:t>– the website discovers packages, sets up  profiles, and manages access to public or private packages</a:t>
            </a:r>
          </a:p>
          <a:p>
            <a:pPr lvl="1"/>
            <a:r>
              <a:rPr lang="en-US" b="1" dirty="0"/>
              <a:t>The Command Line Interface</a:t>
            </a:r>
            <a:r>
              <a:rPr lang="en-US" dirty="0"/>
              <a:t> (CLI) – The CLI runs from a terminal and allows us to interact with </a:t>
            </a:r>
            <a:r>
              <a:rPr lang="en-US" dirty="0" err="1"/>
              <a:t>npm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The registry </a:t>
            </a:r>
            <a:r>
              <a:rPr lang="en-US" dirty="0"/>
              <a:t>– The registry is a public database of JavaScript packages comprised of software and metadata.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9F8EC-574A-BB61-E9A0-EA587AD3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96F3-1004-201D-704B-3759DBBD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BB65-BDD6-D9A7-759A-E336A288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Node and NPM?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42202-C052-D41F-E2A7-2CE792260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use Node.js and </a:t>
            </a:r>
            <a:r>
              <a:rPr lang="en-US" dirty="0" err="1"/>
              <a:t>npm</a:t>
            </a:r>
            <a:r>
              <a:rPr lang="en-US" dirty="0"/>
              <a:t> as tools for building Angular or React apps.</a:t>
            </a:r>
          </a:p>
          <a:p>
            <a:r>
              <a:rPr lang="en-US" dirty="0"/>
              <a:t>Angular is a front-end framework used to create a web application, and is written in Typescript.</a:t>
            </a:r>
          </a:p>
          <a:p>
            <a:r>
              <a:rPr lang="en-US" dirty="0"/>
              <a:t>React is a JavaScript library used to build user interfaces.</a:t>
            </a:r>
          </a:p>
          <a:p>
            <a:r>
              <a:rPr lang="en-US" dirty="0"/>
              <a:t>The browser only understands JavaScript code, so we need to compile Typescript (.</a:t>
            </a:r>
            <a:r>
              <a:rPr lang="en-US" dirty="0" err="1"/>
              <a:t>ts</a:t>
            </a:r>
            <a:r>
              <a:rPr lang="en-US" dirty="0"/>
              <a:t> files) into plain JavaScript (.</a:t>
            </a:r>
            <a:r>
              <a:rPr lang="en-US" dirty="0" err="1"/>
              <a:t>js</a:t>
            </a:r>
            <a:r>
              <a:rPr lang="en-US" dirty="0"/>
              <a:t> files)</a:t>
            </a:r>
          </a:p>
          <a:p>
            <a:pPr lvl="1"/>
            <a:r>
              <a:rPr lang="en-US" dirty="0"/>
              <a:t>Technically this is actually “</a:t>
            </a:r>
            <a:r>
              <a:rPr lang="en-US" dirty="0" err="1"/>
              <a:t>Transpilation</a:t>
            </a:r>
            <a:r>
              <a:rPr lang="en-US" dirty="0"/>
              <a:t>”, we are converting from Typescript to JavaScript, not a lower-level computer readable code.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159FD-2BD7-2237-9F19-8A01FE78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6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802-ABAB-6AE0-E394-DCF3640A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C8BC6-64E9-6B67-93AC-19B1B3A504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A20F967-B30B-9F7D-8700-EA3FBD4F69D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Installing Node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C296B-E0D9-542C-17F1-8ECE8612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18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B6C23-57D8-E67C-0BEC-BB525435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894E-D2E9-85AD-F731-F8EA7D97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40E9A-48A3-A6C6-D964-8D0279240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Download Node.js from </a:t>
            </a:r>
            <a:r>
              <a:rPr lang="en-US" dirty="0">
                <a:hlinkClick r:id="rId2"/>
              </a:rPr>
              <a:t>https://nodejs.org/en/download</a:t>
            </a:r>
            <a:r>
              <a:rPr lang="en-US" dirty="0"/>
              <a:t> and install it.</a:t>
            </a:r>
          </a:p>
          <a:p>
            <a:r>
              <a:rPr lang="en-US" dirty="0"/>
              <a:t>To check the version, run the following commands in your terminal (</a:t>
            </a:r>
            <a:r>
              <a:rPr lang="en-US" dirty="0" err="1"/>
              <a:t>gitbash</a:t>
            </a:r>
            <a:r>
              <a:rPr lang="en-US" dirty="0"/>
              <a:t> or </a:t>
            </a:r>
            <a:r>
              <a:rPr lang="en-US" dirty="0" err="1"/>
              <a:t>powershell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node -v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-v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3D7F7-8C5F-1394-BE94-3D381CCD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6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D91B-F1E9-068E-4765-BF173E8C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3E883-F00B-E2C8-DB3B-F1DD471B8B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62B8C71-DC75-421D-A7AA-35D9EF79034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Package.json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Webpack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80A88-3F91-17B4-6023-CB499A4A3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8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71CF9-4D58-EF6B-20B5-7F8F68EA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FB85-D267-977C-61FC-1BF19762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7F181-0013-D491-D3A0-C38395E0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All </a:t>
            </a:r>
            <a:r>
              <a:rPr lang="en-US" dirty="0" err="1"/>
              <a:t>npm</a:t>
            </a:r>
            <a:r>
              <a:rPr lang="en-US" dirty="0"/>
              <a:t> packages contain a file, usually in the project root, called </a:t>
            </a:r>
            <a:r>
              <a:rPr lang="en-US" b="1" dirty="0" err="1"/>
              <a:t>package.json</a:t>
            </a:r>
            <a:endParaRPr lang="en-US" b="1" dirty="0"/>
          </a:p>
          <a:p>
            <a:r>
              <a:rPr lang="en-US" dirty="0"/>
              <a:t>This file is used to give information to </a:t>
            </a:r>
            <a:r>
              <a:rPr lang="en-US" dirty="0" err="1"/>
              <a:t>npm</a:t>
            </a:r>
            <a:r>
              <a:rPr lang="en-US" dirty="0"/>
              <a:t> that allows it to identify the project as well as handle the project’s dependencies.</a:t>
            </a:r>
          </a:p>
          <a:p>
            <a:r>
              <a:rPr lang="en-US" dirty="0"/>
              <a:t>This file contains metadata relevant to the project, such as the project description, the version of the project, license information, etc…</a:t>
            </a:r>
          </a:p>
          <a:p>
            <a:r>
              <a:rPr lang="en-US" dirty="0"/>
              <a:t>Node.js generates a </a:t>
            </a:r>
            <a:r>
              <a:rPr lang="en-US" dirty="0" err="1"/>
              <a:t>package.json</a:t>
            </a:r>
            <a:r>
              <a:rPr lang="en-US" dirty="0"/>
              <a:t> file by running the ‘</a:t>
            </a:r>
            <a:r>
              <a:rPr lang="en-US" dirty="0" err="1"/>
              <a:t>npm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’ command in the terminal</a:t>
            </a:r>
          </a:p>
          <a:p>
            <a:r>
              <a:rPr lang="en-US" dirty="0"/>
              <a:t>The generated </a:t>
            </a:r>
            <a:r>
              <a:rPr lang="en-US" dirty="0" err="1"/>
              <a:t>package.json</a:t>
            </a:r>
            <a:r>
              <a:rPr lang="en-US" dirty="0"/>
              <a:t> file contains a name, version, description, main (entry point), any scripts, the author, and license type of our project.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F0C5-E018-EA31-DBDC-8E819913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1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6E7E-DB1F-1C69-A6F4-CB4C0736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9886-7FCC-090C-9BF1-DB52FD65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 -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03BB4-656B-AEEE-9617-65B027A3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FD1A8-82FB-D3FD-4C75-9AA0052FF4CA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8000" y="1951859"/>
            <a:ext cx="6967999" cy="3798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1893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2D7EF-95B0-B59C-96EF-F5AA80B9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6D9D-99D3-E522-843F-6BFC30BF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Package.json</a:t>
            </a:r>
            <a:r>
              <a:rPr lang="en-US" dirty="0"/>
              <a:t> file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BFF4-3956-BD01-9304-1DBEF7D6A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dependencies</a:t>
            </a:r>
            <a:r>
              <a:rPr lang="en-US" dirty="0"/>
              <a:t> section in the </a:t>
            </a:r>
            <a:r>
              <a:rPr lang="en-US" dirty="0" err="1"/>
              <a:t>package.json</a:t>
            </a:r>
            <a:r>
              <a:rPr lang="en-US" dirty="0"/>
              <a:t> file is essential for running applications</a:t>
            </a:r>
          </a:p>
          <a:p>
            <a:r>
              <a:rPr lang="en-US" dirty="0"/>
              <a:t>It contains a list of packages or modules installed using </a:t>
            </a:r>
            <a:r>
              <a:rPr lang="en-US" dirty="0" err="1"/>
              <a:t>npm</a:t>
            </a:r>
            <a:r>
              <a:rPr lang="en-US" dirty="0"/>
              <a:t> that are required to run the project</a:t>
            </a:r>
          </a:p>
          <a:p>
            <a:r>
              <a:rPr lang="en-US" dirty="0"/>
              <a:t>The </a:t>
            </a:r>
            <a:r>
              <a:rPr lang="en-US" b="1" dirty="0" err="1"/>
              <a:t>devDependencies</a:t>
            </a:r>
            <a:r>
              <a:rPr lang="en-US" dirty="0"/>
              <a:t> section in the </a:t>
            </a:r>
            <a:r>
              <a:rPr lang="en-US" dirty="0" err="1"/>
              <a:t>package.json</a:t>
            </a:r>
            <a:r>
              <a:rPr lang="en-US" dirty="0"/>
              <a:t> file is used only for developing applications</a:t>
            </a:r>
          </a:p>
          <a:p>
            <a:r>
              <a:rPr lang="en-US" dirty="0"/>
              <a:t>It contains a list of packages or modules that are required only for development.</a:t>
            </a:r>
          </a:p>
          <a:p>
            <a:r>
              <a:rPr lang="en-US" dirty="0"/>
              <a:t>These packages are installed only on the developer’s machine and will not be run for a production build.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3CDE4-15EB-0B3F-0AAC-4A60A2236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1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CBE71-BCDF-90DF-8675-D23F4957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0531-B0FF-D375-120F-B19E16C3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A20B0-4E20-9EB5-30AB-46EA6708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a simple web application, you may use JavaScript files that are added into HTML pages via &lt;script&gt; tags.</a:t>
            </a:r>
          </a:p>
          <a:p>
            <a:r>
              <a:rPr lang="en-US" dirty="0"/>
              <a:t>For each user request, the browser loads these bunch of script files inside the HTML page.</a:t>
            </a:r>
          </a:p>
          <a:p>
            <a:r>
              <a:rPr lang="en-US" dirty="0"/>
              <a:t>This is inefficient as it reduces the page speed since the browser requests each script file separately.</a:t>
            </a:r>
          </a:p>
          <a:p>
            <a:r>
              <a:rPr lang="en-US" dirty="0"/>
              <a:t>This can be solved by </a:t>
            </a:r>
            <a:r>
              <a:rPr lang="en-US" b="1" dirty="0"/>
              <a:t>bundling</a:t>
            </a:r>
            <a:r>
              <a:rPr lang="en-US" dirty="0"/>
              <a:t> several files together into one file to be downloaded by the browser in one single request.</a:t>
            </a:r>
          </a:p>
          <a:p>
            <a:r>
              <a:rPr lang="en-US" b="1" dirty="0"/>
              <a:t>Module bundlers</a:t>
            </a:r>
            <a:r>
              <a:rPr lang="en-US" dirty="0"/>
              <a:t> are used to bundle a group of JavaScript modules with their dependencies and merge them into a single file in the correct order, which can be executed by the browser.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F2930-DBE5-087D-A5BF-104A6249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85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E09CB-4429-ED78-EA9D-67CC17486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02E1-247C-51A6-B231-930C83B3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63B16-15AE-655D-A245-C20063C0C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Webpack is a powerful static module bundler for JavaScript application that packages all modules in our application into a bundle and serves it to the browser.</a:t>
            </a:r>
          </a:p>
          <a:p>
            <a:r>
              <a:rPr lang="en-US" dirty="0"/>
              <a:t>Webpack builds a dependency graph when it processes the application.</a:t>
            </a:r>
          </a:p>
          <a:p>
            <a:r>
              <a:rPr lang="en-US" dirty="0"/>
              <a:t>It starts from a list of modules defined in its config file (webpack.config.js) and recursively build a dependency graph that includes every module our application needs, then packages all of those modules into a small bundle that can be loaded by the browser.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7A25-2179-B59F-3EBF-C11579D4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27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5466</TotalTime>
  <Words>810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2_Custom Design</vt:lpstr>
      <vt:lpstr>Node.js</vt:lpstr>
      <vt:lpstr>Outline</vt:lpstr>
      <vt:lpstr>PowerPoint Presentation</vt:lpstr>
      <vt:lpstr>Node.js</vt:lpstr>
      <vt:lpstr>Node Package Manager - NPM</vt:lpstr>
      <vt:lpstr>Why Node and NPM?</vt:lpstr>
      <vt:lpstr>PowerPoint Presentation</vt:lpstr>
      <vt:lpstr>Node Installation</vt:lpstr>
      <vt:lpstr>PowerPoint Presentation</vt:lpstr>
      <vt:lpstr>Package.json file</vt:lpstr>
      <vt:lpstr>Package.json file - example</vt:lpstr>
      <vt:lpstr>Package.json file dependencies</vt:lpstr>
      <vt:lpstr>Webpack</vt:lpstr>
      <vt:lpstr>Webpack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5</cp:revision>
  <cp:lastPrinted>2016-06-20T20:58:50Z</cp:lastPrinted>
  <dcterms:created xsi:type="dcterms:W3CDTF">2016-11-09T18:19:08Z</dcterms:created>
  <dcterms:modified xsi:type="dcterms:W3CDTF">2026-03-02T16:23:19Z</dcterms:modified>
</cp:coreProperties>
</file>